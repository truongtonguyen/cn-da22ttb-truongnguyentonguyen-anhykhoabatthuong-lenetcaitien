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5"/>
  </p:notesMasterIdLst>
  <p:sldIdLst>
    <p:sldId id="256" r:id="rId2"/>
    <p:sldId id="258" r:id="rId3"/>
    <p:sldId id="260" r:id="rId4"/>
    <p:sldId id="261" r:id="rId5"/>
    <p:sldId id="296" r:id="rId6"/>
    <p:sldId id="263" r:id="rId7"/>
    <p:sldId id="300" r:id="rId8"/>
    <p:sldId id="301" r:id="rId9"/>
    <p:sldId id="302" r:id="rId10"/>
    <p:sldId id="274" r:id="rId11"/>
    <p:sldId id="298" r:id="rId12"/>
    <p:sldId id="299" r:id="rId13"/>
    <p:sldId id="303" r:id="rId14"/>
  </p:sldIdLst>
  <p:sldSz cx="9144000" cy="5143500" type="screen16x9"/>
  <p:notesSz cx="6858000" cy="9144000"/>
  <p:embeddedFontLst>
    <p:embeddedFont>
      <p:font typeface="Catamaran" panose="020B0604020202020204" charset="0"/>
      <p:regular r:id="rId16"/>
      <p:bold r:id="rId17"/>
    </p:embeddedFont>
    <p:embeddedFont>
      <p:font typeface="Lexend" panose="020B0604020202020204" charset="0"/>
      <p:regular r:id="rId18"/>
      <p:bold r:id="rId19"/>
    </p:embeddedFont>
    <p:embeddedFont>
      <p:font typeface="Lexend Light" panose="020B0604020202020204" charset="0"/>
      <p:regular r:id="rId20"/>
      <p:bold r:id="rId21"/>
    </p:embeddedFont>
    <p:embeddedFont>
      <p:font typeface="Raleway"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406B"/>
    <a:srgbClr val="878A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A3F523D-0088-4848-9F05-61AEF54C6F76}">
  <a:tblStyle styleId="{5A3F523D-0088-4848-9F05-61AEF54C6F7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0708D96-DC06-4A12-9862-65D7CB3C0657}"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2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0f9e629ec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0f9e629ec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4459266da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77AF19E2-B8AF-8E37-9DE5-53BBCAF54CB4}"/>
            </a:ext>
          </a:extLst>
        </p:cNvPr>
        <p:cNvGrpSpPr/>
        <p:nvPr/>
      </p:nvGrpSpPr>
      <p:grpSpPr>
        <a:xfrm>
          <a:off x="0" y="0"/>
          <a:ext cx="0" cy="0"/>
          <a:chOff x="0" y="0"/>
          <a:chExt cx="0" cy="0"/>
        </a:xfrm>
      </p:grpSpPr>
      <p:sp>
        <p:nvSpPr>
          <p:cNvPr id="268" name="Google Shape;268;g21258269c9b_0_103:notes">
            <a:extLst>
              <a:ext uri="{FF2B5EF4-FFF2-40B4-BE49-F238E27FC236}">
                <a16:creationId xmlns:a16="http://schemas.microsoft.com/office/drawing/2014/main" id="{E3EF0479-BE3C-013C-7A8E-DE94A5974F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1258269c9b_0_103:notes">
            <a:extLst>
              <a:ext uri="{FF2B5EF4-FFF2-40B4-BE49-F238E27FC236}">
                <a16:creationId xmlns:a16="http://schemas.microsoft.com/office/drawing/2014/main" id="{0903A39C-E84A-62D2-B9C8-51C13CBBDB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4327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7A935216-182A-B8DB-43AC-DD43F44E935C}"/>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CF825817-1976-016B-E469-D7FDA2E5D3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1DC89D57-A081-84AE-29C0-92D84CBF07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2785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FC0EDAC7-E85E-C0EA-8ACC-C25CC1818CBF}"/>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DC78DCB3-B9B7-B934-32B4-9B7E887633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9177F1A2-1D99-BE9F-2CC1-D83F9D8986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6343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784E1462-2BD5-EB1E-182D-EC1481A254C4}"/>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18C03EE7-7C52-BB48-B0FC-3D1614C635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15EB496E-0965-EF9E-5D2A-34B14DC631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0452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1cacde62ee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21cacde62ee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E67FF60C-9629-C3D4-537C-F30F296EC47E}"/>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CB2D8FC5-B407-5216-1FBC-731FCC606D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ED1D6153-8193-D124-0DDE-5109738638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0860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02A67FB7-37E8-29F6-1EA3-5DB889F6CDD7}"/>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13DA2C34-BFB4-42D6-A258-94A9125B83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581E4A71-313C-AF7B-964C-EFA396D892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3579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3745C1AA-812C-69C3-2D15-8F5BBC715A49}"/>
            </a:ext>
          </a:extLst>
        </p:cNvPr>
        <p:cNvGrpSpPr/>
        <p:nvPr/>
      </p:nvGrpSpPr>
      <p:grpSpPr>
        <a:xfrm>
          <a:off x="0" y="0"/>
          <a:ext cx="0" cy="0"/>
          <a:chOff x="0" y="0"/>
          <a:chExt cx="0" cy="0"/>
        </a:xfrm>
      </p:grpSpPr>
      <p:sp>
        <p:nvSpPr>
          <p:cNvPr id="142" name="Google Shape;142;p:notes">
            <a:extLst>
              <a:ext uri="{FF2B5EF4-FFF2-40B4-BE49-F238E27FC236}">
                <a16:creationId xmlns:a16="http://schemas.microsoft.com/office/drawing/2014/main" id="{38EC0E27-3642-6203-AB8F-62F7B6E4B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p:notes">
            <a:extLst>
              <a:ext uri="{FF2B5EF4-FFF2-40B4-BE49-F238E27FC236}">
                <a16:creationId xmlns:a16="http://schemas.microsoft.com/office/drawing/2014/main" id="{B777A7AF-394D-1EC9-756F-C74C4690BD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8743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5100" y="535000"/>
            <a:ext cx="7286400" cy="1543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000">
                <a:latin typeface="Lexend"/>
                <a:ea typeface="Lexend"/>
                <a:cs typeface="Lexend"/>
                <a:sym typeface="Lexen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5100" y="2469088"/>
            <a:ext cx="2505600" cy="640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600">
                <a:latin typeface="Catamaran"/>
                <a:ea typeface="Catamaran"/>
                <a:cs typeface="Catamaran"/>
                <a:sym typeface="Catamaran"/>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 name="Google Shape;23;p5"/>
          <p:cNvSpPr txBox="1">
            <a:spLocks noGrp="1"/>
          </p:cNvSpPr>
          <p:nvPr>
            <p:ph type="subTitle" idx="1"/>
          </p:nvPr>
        </p:nvSpPr>
        <p:spPr>
          <a:xfrm>
            <a:off x="4923249" y="2574150"/>
            <a:ext cx="2505600" cy="151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 name="Google Shape;24;p5"/>
          <p:cNvSpPr txBox="1">
            <a:spLocks noGrp="1"/>
          </p:cNvSpPr>
          <p:nvPr>
            <p:ph type="subTitle" idx="2"/>
          </p:nvPr>
        </p:nvSpPr>
        <p:spPr>
          <a:xfrm>
            <a:off x="1715375" y="2574150"/>
            <a:ext cx="2505600" cy="151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 name="Google Shape;25;p5"/>
          <p:cNvSpPr txBox="1">
            <a:spLocks noGrp="1"/>
          </p:cNvSpPr>
          <p:nvPr>
            <p:ph type="subTitle" idx="3"/>
          </p:nvPr>
        </p:nvSpPr>
        <p:spPr>
          <a:xfrm>
            <a:off x="1715375" y="2305300"/>
            <a:ext cx="2505600" cy="36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 name="Google Shape;26;p5"/>
          <p:cNvSpPr txBox="1">
            <a:spLocks noGrp="1"/>
          </p:cNvSpPr>
          <p:nvPr>
            <p:ph type="subTitle" idx="4"/>
          </p:nvPr>
        </p:nvSpPr>
        <p:spPr>
          <a:xfrm>
            <a:off x="4923250" y="2305300"/>
            <a:ext cx="2505600" cy="36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7"/>
          <p:cNvSpPr txBox="1">
            <a:spLocks noGrp="1"/>
          </p:cNvSpPr>
          <p:nvPr>
            <p:ph type="title"/>
          </p:nvPr>
        </p:nvSpPr>
        <p:spPr>
          <a:xfrm>
            <a:off x="925450" y="805413"/>
            <a:ext cx="3513300" cy="108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7"/>
          <p:cNvSpPr txBox="1">
            <a:spLocks noGrp="1"/>
          </p:cNvSpPr>
          <p:nvPr>
            <p:ph type="body" idx="1"/>
          </p:nvPr>
        </p:nvSpPr>
        <p:spPr>
          <a:xfrm>
            <a:off x="925450" y="1939288"/>
            <a:ext cx="3513300" cy="2398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a:p>
        </p:txBody>
      </p:sp>
      <p:sp>
        <p:nvSpPr>
          <p:cNvPr id="34" name="Google Shape;34;p7"/>
          <p:cNvSpPr>
            <a:spLocks noGrp="1"/>
          </p:cNvSpPr>
          <p:nvPr>
            <p:ph type="pic" idx="2"/>
          </p:nvPr>
        </p:nvSpPr>
        <p:spPr>
          <a:xfrm>
            <a:off x="5356275" y="910325"/>
            <a:ext cx="2862000" cy="3182100"/>
          </a:xfrm>
          <a:prstGeom prst="roundRect">
            <a:avLst>
              <a:gd name="adj" fmla="val 7829"/>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4200400" y="1307100"/>
            <a:ext cx="4228500" cy="2529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9"/>
          <p:cNvSpPr txBox="1">
            <a:spLocks noGrp="1"/>
          </p:cNvSpPr>
          <p:nvPr>
            <p:ph type="title"/>
          </p:nvPr>
        </p:nvSpPr>
        <p:spPr>
          <a:xfrm>
            <a:off x="715100" y="1584874"/>
            <a:ext cx="47403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1" name="Google Shape;41;p9"/>
          <p:cNvSpPr txBox="1">
            <a:spLocks noGrp="1"/>
          </p:cNvSpPr>
          <p:nvPr>
            <p:ph type="subTitle" idx="1"/>
          </p:nvPr>
        </p:nvSpPr>
        <p:spPr>
          <a:xfrm>
            <a:off x="715175" y="2427926"/>
            <a:ext cx="4740300" cy="113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154200" y="140925"/>
            <a:ext cx="8835600" cy="4861800"/>
          </a:xfrm>
          <a:prstGeom prst="roundRect">
            <a:avLst>
              <a:gd name="adj" fmla="val 2336"/>
            </a:avLst>
          </a:prstGeom>
          <a:noFill/>
          <a:ln>
            <a:noFill/>
          </a:ln>
        </p:spPr>
      </p:sp>
      <p:sp>
        <p:nvSpPr>
          <p:cNvPr id="44" name="Google Shape;44;p10"/>
          <p:cNvSpPr txBox="1">
            <a:spLocks noGrp="1"/>
          </p:cNvSpPr>
          <p:nvPr>
            <p:ph type="title"/>
          </p:nvPr>
        </p:nvSpPr>
        <p:spPr>
          <a:xfrm>
            <a:off x="720000" y="3635675"/>
            <a:ext cx="3289200" cy="975300"/>
          </a:xfrm>
          <a:prstGeom prst="rect">
            <a:avLst/>
          </a:prstGeom>
          <a:solidFill>
            <a:schemeClr val="accent4"/>
          </a:solidFill>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0"/>
        <p:cNvGrpSpPr/>
        <p:nvPr/>
      </p:nvGrpSpPr>
      <p:grpSpPr>
        <a:xfrm>
          <a:off x="0" y="0"/>
          <a:ext cx="0" cy="0"/>
          <a:chOff x="0" y="0"/>
          <a:chExt cx="0" cy="0"/>
        </a:xfrm>
      </p:grpSpPr>
      <p:sp>
        <p:nvSpPr>
          <p:cNvPr id="51" name="Google Shape;51;p13"/>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13"/>
          <p:cNvSpPr txBox="1">
            <a:spLocks noGrp="1"/>
          </p:cNvSpPr>
          <p:nvPr>
            <p:ph type="title" idx="2" hasCustomPrompt="1"/>
          </p:nvPr>
        </p:nvSpPr>
        <p:spPr>
          <a:xfrm>
            <a:off x="720000" y="17094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3" hasCustomPrompt="1"/>
          </p:nvPr>
        </p:nvSpPr>
        <p:spPr>
          <a:xfrm>
            <a:off x="720000" y="31428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3419275" y="17094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5" hasCustomPrompt="1"/>
          </p:nvPr>
        </p:nvSpPr>
        <p:spPr>
          <a:xfrm>
            <a:off x="3419275" y="31428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6118550" y="17094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6118550" y="31428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1"/>
          </p:nvPr>
        </p:nvSpPr>
        <p:spPr>
          <a:xfrm>
            <a:off x="720000" y="213277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0" name="Google Shape;60;p13"/>
          <p:cNvSpPr txBox="1">
            <a:spLocks noGrp="1"/>
          </p:cNvSpPr>
          <p:nvPr>
            <p:ph type="subTitle" idx="8"/>
          </p:nvPr>
        </p:nvSpPr>
        <p:spPr>
          <a:xfrm>
            <a:off x="3419275" y="213277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1" name="Google Shape;61;p13"/>
          <p:cNvSpPr txBox="1">
            <a:spLocks noGrp="1"/>
          </p:cNvSpPr>
          <p:nvPr>
            <p:ph type="subTitle" idx="9"/>
          </p:nvPr>
        </p:nvSpPr>
        <p:spPr>
          <a:xfrm>
            <a:off x="6118550" y="213277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2" name="Google Shape;62;p13"/>
          <p:cNvSpPr txBox="1">
            <a:spLocks noGrp="1"/>
          </p:cNvSpPr>
          <p:nvPr>
            <p:ph type="subTitle" idx="13"/>
          </p:nvPr>
        </p:nvSpPr>
        <p:spPr>
          <a:xfrm>
            <a:off x="720000" y="356625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3" name="Google Shape;63;p13"/>
          <p:cNvSpPr txBox="1">
            <a:spLocks noGrp="1"/>
          </p:cNvSpPr>
          <p:nvPr>
            <p:ph type="subTitle" idx="14"/>
          </p:nvPr>
        </p:nvSpPr>
        <p:spPr>
          <a:xfrm>
            <a:off x="3419275" y="356625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4" name="Google Shape;64;p13"/>
          <p:cNvSpPr txBox="1">
            <a:spLocks noGrp="1"/>
          </p:cNvSpPr>
          <p:nvPr>
            <p:ph type="subTitle" idx="15"/>
          </p:nvPr>
        </p:nvSpPr>
        <p:spPr>
          <a:xfrm>
            <a:off x="6118550" y="356625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00"/>
        <p:cNvGrpSpPr/>
        <p:nvPr/>
      </p:nvGrpSpPr>
      <p:grpSpPr>
        <a:xfrm>
          <a:off x="0" y="0"/>
          <a:ext cx="0" cy="0"/>
          <a:chOff x="0" y="0"/>
          <a:chExt cx="0" cy="0"/>
        </a:xfrm>
      </p:grpSpPr>
      <p:sp>
        <p:nvSpPr>
          <p:cNvPr id="101" name="Google Shape;101;p19"/>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 name="Google Shape;103;p19"/>
          <p:cNvSpPr txBox="1">
            <a:spLocks noGrp="1"/>
          </p:cNvSpPr>
          <p:nvPr>
            <p:ph type="subTitle" idx="1"/>
          </p:nvPr>
        </p:nvSpPr>
        <p:spPr>
          <a:xfrm>
            <a:off x="1337763" y="1478700"/>
            <a:ext cx="28647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04" name="Google Shape;104;p19"/>
          <p:cNvSpPr txBox="1">
            <a:spLocks noGrp="1"/>
          </p:cNvSpPr>
          <p:nvPr>
            <p:ph type="subTitle" idx="2"/>
          </p:nvPr>
        </p:nvSpPr>
        <p:spPr>
          <a:xfrm>
            <a:off x="1337763" y="1747817"/>
            <a:ext cx="28647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 name="Google Shape;105;p19"/>
          <p:cNvSpPr txBox="1">
            <a:spLocks noGrp="1"/>
          </p:cNvSpPr>
          <p:nvPr>
            <p:ph type="subTitle" idx="3"/>
          </p:nvPr>
        </p:nvSpPr>
        <p:spPr>
          <a:xfrm>
            <a:off x="5402450" y="1747825"/>
            <a:ext cx="2862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6" name="Google Shape;106;p19"/>
          <p:cNvSpPr txBox="1">
            <a:spLocks noGrp="1"/>
          </p:cNvSpPr>
          <p:nvPr>
            <p:ph type="subTitle" idx="4"/>
          </p:nvPr>
        </p:nvSpPr>
        <p:spPr>
          <a:xfrm>
            <a:off x="1337763" y="3496149"/>
            <a:ext cx="28647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19"/>
          <p:cNvSpPr txBox="1">
            <a:spLocks noGrp="1"/>
          </p:cNvSpPr>
          <p:nvPr>
            <p:ph type="subTitle" idx="5"/>
          </p:nvPr>
        </p:nvSpPr>
        <p:spPr>
          <a:xfrm>
            <a:off x="5402450" y="3496150"/>
            <a:ext cx="2862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8" name="Google Shape;108;p19"/>
          <p:cNvSpPr txBox="1">
            <a:spLocks noGrp="1"/>
          </p:cNvSpPr>
          <p:nvPr>
            <p:ph type="subTitle" idx="6"/>
          </p:nvPr>
        </p:nvSpPr>
        <p:spPr>
          <a:xfrm>
            <a:off x="1337763" y="3227032"/>
            <a:ext cx="28647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09" name="Google Shape;109;p19"/>
          <p:cNvSpPr txBox="1">
            <a:spLocks noGrp="1"/>
          </p:cNvSpPr>
          <p:nvPr>
            <p:ph type="subTitle" idx="7"/>
          </p:nvPr>
        </p:nvSpPr>
        <p:spPr>
          <a:xfrm>
            <a:off x="5402450" y="1478709"/>
            <a:ext cx="28620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10" name="Google Shape;110;p19"/>
          <p:cNvSpPr txBox="1">
            <a:spLocks noGrp="1"/>
          </p:cNvSpPr>
          <p:nvPr>
            <p:ph type="subTitle" idx="8"/>
          </p:nvPr>
        </p:nvSpPr>
        <p:spPr>
          <a:xfrm>
            <a:off x="5402450" y="3227034"/>
            <a:ext cx="28620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31"/>
        <p:cNvGrpSpPr/>
        <p:nvPr/>
      </p:nvGrpSpPr>
      <p:grpSpPr>
        <a:xfrm>
          <a:off x="0" y="0"/>
          <a:ext cx="0" cy="0"/>
          <a:chOff x="0" y="0"/>
          <a:chExt cx="0" cy="0"/>
        </a:xfrm>
      </p:grpSpPr>
      <p:sp>
        <p:nvSpPr>
          <p:cNvPr id="132" name="Google Shape;132;p22"/>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33"/>
        <p:cNvGrpSpPr/>
        <p:nvPr/>
      </p:nvGrpSpPr>
      <p:grpSpPr>
        <a:xfrm>
          <a:off x="0" y="0"/>
          <a:ext cx="0" cy="0"/>
          <a:chOff x="0" y="0"/>
          <a:chExt cx="0" cy="0"/>
        </a:xfrm>
      </p:grpSpPr>
      <p:sp>
        <p:nvSpPr>
          <p:cNvPr id="134" name="Google Shape;134;p23"/>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1pPr>
            <a:lvl2pPr lvl="1"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2pPr>
            <a:lvl3pPr lvl="2"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3pPr>
            <a:lvl4pPr lvl="3"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4pPr>
            <a:lvl5pPr lvl="4"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5pPr>
            <a:lvl6pPr lvl="5"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6pPr>
            <a:lvl7pPr lvl="6"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7pPr>
            <a:lvl8pPr lvl="7"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8pPr>
            <a:lvl9pPr lvl="8"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1pPr>
            <a:lvl2pPr marL="914400" lvl="1"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2pPr>
            <a:lvl3pPr marL="1371600" lvl="2"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3pPr>
            <a:lvl4pPr marL="1828800" lvl="3"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4pPr>
            <a:lvl5pPr marL="2286000" lvl="4"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5pPr>
            <a:lvl6pPr marL="2743200" lvl="5"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6pPr>
            <a:lvl7pPr marL="3200400" lvl="6"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7pPr>
            <a:lvl8pPr marL="3657600" lvl="7"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8pPr>
            <a:lvl9pPr marL="4114800" lvl="8"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8" r:id="rId8"/>
    <p:sldLayoutId id="2147483659" r:id="rId9"/>
    <p:sldLayoutId id="2147483665" r:id="rId10"/>
    <p:sldLayoutId id="2147483668" r:id="rId11"/>
    <p:sldLayoutId id="214748366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ctrTitle"/>
          </p:nvPr>
        </p:nvSpPr>
        <p:spPr>
          <a:xfrm>
            <a:off x="715100" y="535000"/>
            <a:ext cx="7695038" cy="1543500"/>
          </a:xfrm>
          <a:prstGeom prst="rect">
            <a:avLst/>
          </a:prstGeom>
        </p:spPr>
        <p:txBody>
          <a:bodyPr spcFirstLastPara="1" wrap="square" lIns="91425" tIns="91425" rIns="91425" bIns="91425" anchor="b" anchorCtr="0">
            <a:noAutofit/>
          </a:bodyPr>
          <a:lstStyle/>
          <a:p>
            <a:pPr lvl="0"/>
            <a:r>
              <a:rPr lang="vi-VN" sz="3000"/>
              <a:t>PHÁT HIỆN ẢNH Y KHOA BẤT THƯỜNG DỰA TRÊN ỨNG DỤNG MÔ HÌNH LENET CẢI TIẾN</a:t>
            </a:r>
            <a:endParaRPr sz="3000" b="1"/>
          </a:p>
        </p:txBody>
      </p:sp>
      <p:grpSp>
        <p:nvGrpSpPr>
          <p:cNvPr id="146" name="Google Shape;146;p27"/>
          <p:cNvGrpSpPr/>
          <p:nvPr/>
        </p:nvGrpSpPr>
        <p:grpSpPr>
          <a:xfrm>
            <a:off x="4617710" y="1912522"/>
            <a:ext cx="3792428" cy="2698979"/>
            <a:chOff x="5386676" y="1489213"/>
            <a:chExt cx="3042217" cy="2165072"/>
          </a:xfrm>
        </p:grpSpPr>
        <p:sp>
          <p:nvSpPr>
            <p:cNvPr id="147" name="Google Shape;147;p27"/>
            <p:cNvSpPr/>
            <p:nvPr/>
          </p:nvSpPr>
          <p:spPr>
            <a:xfrm>
              <a:off x="5713819" y="2081564"/>
              <a:ext cx="2604163" cy="1472429"/>
            </a:xfrm>
            <a:custGeom>
              <a:avLst/>
              <a:gdLst/>
              <a:ahLst/>
              <a:cxnLst/>
              <a:rect l="l" t="t" r="r" b="b"/>
              <a:pathLst>
                <a:path w="59162" h="33451" extrusionOk="0">
                  <a:moveTo>
                    <a:pt x="25145" y="1"/>
                  </a:moveTo>
                  <a:cubicBezTo>
                    <a:pt x="16286" y="1"/>
                    <a:pt x="7329" y="4010"/>
                    <a:pt x="8096" y="13257"/>
                  </a:cubicBezTo>
                  <a:cubicBezTo>
                    <a:pt x="8665" y="20116"/>
                    <a:pt x="0" y="23262"/>
                    <a:pt x="2905" y="33395"/>
                  </a:cubicBezTo>
                  <a:lnTo>
                    <a:pt x="31183" y="33257"/>
                  </a:lnTo>
                  <a:lnTo>
                    <a:pt x="49824" y="33450"/>
                  </a:lnTo>
                  <a:cubicBezTo>
                    <a:pt x="53337" y="30762"/>
                    <a:pt x="59162" y="23577"/>
                    <a:pt x="49668" y="17576"/>
                  </a:cubicBezTo>
                  <a:cubicBezTo>
                    <a:pt x="42791" y="13232"/>
                    <a:pt x="44898" y="13800"/>
                    <a:pt x="40916" y="6499"/>
                  </a:cubicBezTo>
                  <a:cubicBezTo>
                    <a:pt x="38653" y="2351"/>
                    <a:pt x="31928" y="1"/>
                    <a:pt x="25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7"/>
            <p:cNvSpPr/>
            <p:nvPr/>
          </p:nvSpPr>
          <p:spPr>
            <a:xfrm>
              <a:off x="7635165" y="1625008"/>
              <a:ext cx="419619" cy="1091898"/>
            </a:xfrm>
            <a:custGeom>
              <a:avLst/>
              <a:gdLst/>
              <a:ahLst/>
              <a:cxnLst/>
              <a:rect l="l" t="t" r="r" b="b"/>
              <a:pathLst>
                <a:path w="9533" h="24806" extrusionOk="0">
                  <a:moveTo>
                    <a:pt x="2773" y="0"/>
                  </a:moveTo>
                  <a:cubicBezTo>
                    <a:pt x="2648" y="0"/>
                    <a:pt x="2524" y="31"/>
                    <a:pt x="2409" y="92"/>
                  </a:cubicBezTo>
                  <a:cubicBezTo>
                    <a:pt x="796" y="953"/>
                    <a:pt x="2014" y="3107"/>
                    <a:pt x="2669" y="4063"/>
                  </a:cubicBezTo>
                  <a:lnTo>
                    <a:pt x="2553" y="4135"/>
                  </a:lnTo>
                  <a:cubicBezTo>
                    <a:pt x="2224" y="3859"/>
                    <a:pt x="1867" y="3668"/>
                    <a:pt x="1509" y="3668"/>
                  </a:cubicBezTo>
                  <a:cubicBezTo>
                    <a:pt x="1180" y="3668"/>
                    <a:pt x="851" y="3828"/>
                    <a:pt x="540" y="4230"/>
                  </a:cubicBezTo>
                  <a:cubicBezTo>
                    <a:pt x="1" y="4924"/>
                    <a:pt x="395" y="6390"/>
                    <a:pt x="2481" y="6390"/>
                  </a:cubicBezTo>
                  <a:cubicBezTo>
                    <a:pt x="2790" y="6390"/>
                    <a:pt x="3136" y="6358"/>
                    <a:pt x="3522" y="6286"/>
                  </a:cubicBezTo>
                  <a:cubicBezTo>
                    <a:pt x="3767" y="6873"/>
                    <a:pt x="4029" y="7569"/>
                    <a:pt x="4281" y="8366"/>
                  </a:cubicBezTo>
                  <a:cubicBezTo>
                    <a:pt x="3822" y="7733"/>
                    <a:pt x="3216" y="7123"/>
                    <a:pt x="2583" y="7123"/>
                  </a:cubicBezTo>
                  <a:cubicBezTo>
                    <a:pt x="2272" y="7123"/>
                    <a:pt x="1954" y="7270"/>
                    <a:pt x="1644" y="7633"/>
                  </a:cubicBezTo>
                  <a:cubicBezTo>
                    <a:pt x="1054" y="8324"/>
                    <a:pt x="1439" y="9905"/>
                    <a:pt x="3758" y="9905"/>
                  </a:cubicBezTo>
                  <a:cubicBezTo>
                    <a:pt x="4041" y="9905"/>
                    <a:pt x="4353" y="9882"/>
                    <a:pt x="4695" y="9830"/>
                  </a:cubicBezTo>
                  <a:cubicBezTo>
                    <a:pt x="4836" y="10393"/>
                    <a:pt x="4966" y="10991"/>
                    <a:pt x="5077" y="11619"/>
                  </a:cubicBezTo>
                  <a:cubicBezTo>
                    <a:pt x="4602" y="10912"/>
                    <a:pt x="3920" y="10139"/>
                    <a:pt x="3207" y="10139"/>
                  </a:cubicBezTo>
                  <a:cubicBezTo>
                    <a:pt x="2895" y="10139"/>
                    <a:pt x="2577" y="10287"/>
                    <a:pt x="2268" y="10652"/>
                  </a:cubicBezTo>
                  <a:cubicBezTo>
                    <a:pt x="1679" y="11344"/>
                    <a:pt x="2062" y="12915"/>
                    <a:pt x="4361" y="12915"/>
                  </a:cubicBezTo>
                  <a:cubicBezTo>
                    <a:pt x="4633" y="12915"/>
                    <a:pt x="4933" y="12893"/>
                    <a:pt x="5261" y="12845"/>
                  </a:cubicBezTo>
                  <a:cubicBezTo>
                    <a:pt x="5362" y="13641"/>
                    <a:pt x="5428" y="14480"/>
                    <a:pt x="5449" y="15356"/>
                  </a:cubicBezTo>
                  <a:cubicBezTo>
                    <a:pt x="5063" y="14475"/>
                    <a:pt x="4434" y="13427"/>
                    <a:pt x="3618" y="13427"/>
                  </a:cubicBezTo>
                  <a:cubicBezTo>
                    <a:pt x="3366" y="13427"/>
                    <a:pt x="3097" y="13527"/>
                    <a:pt x="2811" y="13762"/>
                  </a:cubicBezTo>
                  <a:cubicBezTo>
                    <a:pt x="2042" y="14393"/>
                    <a:pt x="2303" y="16365"/>
                    <a:pt x="5449" y="16534"/>
                  </a:cubicBezTo>
                  <a:cubicBezTo>
                    <a:pt x="5432" y="17253"/>
                    <a:pt x="5382" y="17995"/>
                    <a:pt x="5294" y="18755"/>
                  </a:cubicBezTo>
                  <a:cubicBezTo>
                    <a:pt x="4913" y="17854"/>
                    <a:pt x="4206" y="16551"/>
                    <a:pt x="3296" y="16551"/>
                  </a:cubicBezTo>
                  <a:cubicBezTo>
                    <a:pt x="3034" y="16551"/>
                    <a:pt x="2756" y="16658"/>
                    <a:pt x="2465" y="16913"/>
                  </a:cubicBezTo>
                  <a:cubicBezTo>
                    <a:pt x="1713" y="17569"/>
                    <a:pt x="2024" y="19535"/>
                    <a:pt x="5183" y="19597"/>
                  </a:cubicBezTo>
                  <a:cubicBezTo>
                    <a:pt x="5041" y="20535"/>
                    <a:pt x="4841" y="21496"/>
                    <a:pt x="4567" y="22482"/>
                  </a:cubicBezTo>
                  <a:cubicBezTo>
                    <a:pt x="4397" y="21382"/>
                    <a:pt x="3963" y="19733"/>
                    <a:pt x="2879" y="19733"/>
                  </a:cubicBezTo>
                  <a:cubicBezTo>
                    <a:pt x="2707" y="19733"/>
                    <a:pt x="2517" y="19775"/>
                    <a:pt x="2310" y="19868"/>
                  </a:cubicBezTo>
                  <a:cubicBezTo>
                    <a:pt x="1424" y="20268"/>
                    <a:pt x="1248" y="22281"/>
                    <a:pt x="4314" y="23333"/>
                  </a:cubicBezTo>
                  <a:cubicBezTo>
                    <a:pt x="4188" y="23733"/>
                    <a:pt x="4053" y="24137"/>
                    <a:pt x="3902" y="24544"/>
                  </a:cubicBezTo>
                  <a:lnTo>
                    <a:pt x="4609" y="24805"/>
                  </a:lnTo>
                  <a:cubicBezTo>
                    <a:pt x="4973" y="23826"/>
                    <a:pt x="5264" y="22862"/>
                    <a:pt x="5493" y="21919"/>
                  </a:cubicBezTo>
                  <a:cubicBezTo>
                    <a:pt x="5766" y="21952"/>
                    <a:pt x="6019" y="21967"/>
                    <a:pt x="6253" y="21967"/>
                  </a:cubicBezTo>
                  <a:cubicBezTo>
                    <a:pt x="8680" y="21967"/>
                    <a:pt x="9082" y="20333"/>
                    <a:pt x="8480" y="19642"/>
                  </a:cubicBezTo>
                  <a:cubicBezTo>
                    <a:pt x="8176" y="19295"/>
                    <a:pt x="7865" y="19154"/>
                    <a:pt x="7561" y="19154"/>
                  </a:cubicBezTo>
                  <a:cubicBezTo>
                    <a:pt x="6894" y="19154"/>
                    <a:pt x="6259" y="19835"/>
                    <a:pt x="5792" y="20512"/>
                  </a:cubicBezTo>
                  <a:cubicBezTo>
                    <a:pt x="5921" y="19816"/>
                    <a:pt x="6016" y="19132"/>
                    <a:pt x="6083" y="18464"/>
                  </a:cubicBezTo>
                  <a:cubicBezTo>
                    <a:pt x="9228" y="18328"/>
                    <a:pt x="9533" y="16358"/>
                    <a:pt x="8780" y="15717"/>
                  </a:cubicBezTo>
                  <a:cubicBezTo>
                    <a:pt x="8496" y="15476"/>
                    <a:pt x="8225" y="15374"/>
                    <a:pt x="7971" y="15374"/>
                  </a:cubicBezTo>
                  <a:cubicBezTo>
                    <a:pt x="7208" y="15374"/>
                    <a:pt x="6589" y="16289"/>
                    <a:pt x="6181" y="17126"/>
                  </a:cubicBezTo>
                  <a:cubicBezTo>
                    <a:pt x="6217" y="16380"/>
                    <a:pt x="6216" y="15658"/>
                    <a:pt x="6189" y="14958"/>
                  </a:cubicBezTo>
                  <a:cubicBezTo>
                    <a:pt x="9302" y="14443"/>
                    <a:pt x="9426" y="12450"/>
                    <a:pt x="8615" y="11906"/>
                  </a:cubicBezTo>
                  <a:cubicBezTo>
                    <a:pt x="8356" y="11731"/>
                    <a:pt x="8116" y="11655"/>
                    <a:pt x="7894" y="11655"/>
                  </a:cubicBezTo>
                  <a:cubicBezTo>
                    <a:pt x="7035" y="11655"/>
                    <a:pt x="6451" y="12795"/>
                    <a:pt x="6112" y="13748"/>
                  </a:cubicBezTo>
                  <a:cubicBezTo>
                    <a:pt x="6054" y="13064"/>
                    <a:pt x="5969" y="12408"/>
                    <a:pt x="5867" y="11779"/>
                  </a:cubicBezTo>
                  <a:cubicBezTo>
                    <a:pt x="8888" y="10469"/>
                    <a:pt x="8612" y="8467"/>
                    <a:pt x="7708" y="8145"/>
                  </a:cubicBezTo>
                  <a:cubicBezTo>
                    <a:pt x="7533" y="8083"/>
                    <a:pt x="7373" y="8055"/>
                    <a:pt x="7226" y="8055"/>
                  </a:cubicBezTo>
                  <a:cubicBezTo>
                    <a:pt x="6198" y="8055"/>
                    <a:pt x="5792" y="9438"/>
                    <a:pt x="5633" y="10549"/>
                  </a:cubicBezTo>
                  <a:cubicBezTo>
                    <a:pt x="5492" y="9889"/>
                    <a:pt x="5334" y="9268"/>
                    <a:pt x="5165" y="8690"/>
                  </a:cubicBezTo>
                  <a:cubicBezTo>
                    <a:pt x="8205" y="7379"/>
                    <a:pt x="7928" y="5373"/>
                    <a:pt x="7022" y="5050"/>
                  </a:cubicBezTo>
                  <a:cubicBezTo>
                    <a:pt x="6847" y="4988"/>
                    <a:pt x="6687" y="4960"/>
                    <a:pt x="6539" y="4960"/>
                  </a:cubicBezTo>
                  <a:cubicBezTo>
                    <a:pt x="5387" y="4960"/>
                    <a:pt x="5019" y="6698"/>
                    <a:pt x="4901" y="7843"/>
                  </a:cubicBezTo>
                  <a:cubicBezTo>
                    <a:pt x="4642" y="7052"/>
                    <a:pt x="4374" y="6361"/>
                    <a:pt x="4126" y="5783"/>
                  </a:cubicBezTo>
                  <a:cubicBezTo>
                    <a:pt x="7057" y="4475"/>
                    <a:pt x="6778" y="2508"/>
                    <a:pt x="5880" y="2187"/>
                  </a:cubicBezTo>
                  <a:cubicBezTo>
                    <a:pt x="5706" y="2126"/>
                    <a:pt x="5546" y="2097"/>
                    <a:pt x="5399" y="2097"/>
                  </a:cubicBezTo>
                  <a:cubicBezTo>
                    <a:pt x="4247" y="2097"/>
                    <a:pt x="3880" y="3834"/>
                    <a:pt x="3763" y="4978"/>
                  </a:cubicBezTo>
                  <a:cubicBezTo>
                    <a:pt x="3549" y="4528"/>
                    <a:pt x="3370" y="4197"/>
                    <a:pt x="3258" y="3996"/>
                  </a:cubicBezTo>
                  <a:cubicBezTo>
                    <a:pt x="4425" y="1267"/>
                    <a:pt x="3574" y="0"/>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7"/>
            <p:cNvSpPr/>
            <p:nvPr/>
          </p:nvSpPr>
          <p:spPr>
            <a:xfrm>
              <a:off x="5558611" y="3440051"/>
              <a:ext cx="2734807" cy="214233"/>
            </a:xfrm>
            <a:custGeom>
              <a:avLst/>
              <a:gdLst/>
              <a:ahLst/>
              <a:cxnLst/>
              <a:rect l="l" t="t" r="r" b="b"/>
              <a:pathLst>
                <a:path w="62130" h="4867" extrusionOk="0">
                  <a:moveTo>
                    <a:pt x="34852" y="0"/>
                  </a:moveTo>
                  <a:cubicBezTo>
                    <a:pt x="10119" y="0"/>
                    <a:pt x="1" y="1123"/>
                    <a:pt x="1" y="2469"/>
                  </a:cubicBezTo>
                  <a:cubicBezTo>
                    <a:pt x="1" y="3811"/>
                    <a:pt x="10121" y="4866"/>
                    <a:pt x="34852" y="4866"/>
                  </a:cubicBezTo>
                  <a:cubicBezTo>
                    <a:pt x="59582" y="4866"/>
                    <a:pt x="62129" y="3137"/>
                    <a:pt x="62129" y="1794"/>
                  </a:cubicBezTo>
                  <a:cubicBezTo>
                    <a:pt x="62129" y="448"/>
                    <a:pt x="59582" y="0"/>
                    <a:pt x="34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7"/>
            <p:cNvSpPr/>
            <p:nvPr/>
          </p:nvSpPr>
          <p:spPr>
            <a:xfrm>
              <a:off x="7946505" y="2071572"/>
              <a:ext cx="482388" cy="1220517"/>
            </a:xfrm>
            <a:custGeom>
              <a:avLst/>
              <a:gdLst/>
              <a:ahLst/>
              <a:cxnLst/>
              <a:rect l="l" t="t" r="r" b="b"/>
              <a:pathLst>
                <a:path w="10959" h="27728" extrusionOk="0">
                  <a:moveTo>
                    <a:pt x="5175" y="0"/>
                  </a:moveTo>
                  <a:cubicBezTo>
                    <a:pt x="4523" y="0"/>
                    <a:pt x="3964" y="496"/>
                    <a:pt x="3900" y="1159"/>
                  </a:cubicBezTo>
                  <a:cubicBezTo>
                    <a:pt x="3832" y="1864"/>
                    <a:pt x="4351" y="2493"/>
                    <a:pt x="5054" y="2560"/>
                  </a:cubicBezTo>
                  <a:cubicBezTo>
                    <a:pt x="5067" y="2562"/>
                    <a:pt x="5082" y="2562"/>
                    <a:pt x="5095" y="2562"/>
                  </a:cubicBezTo>
                  <a:cubicBezTo>
                    <a:pt x="5357" y="3448"/>
                    <a:pt x="5792" y="5176"/>
                    <a:pt x="6052" y="7541"/>
                  </a:cubicBezTo>
                  <a:lnTo>
                    <a:pt x="4768" y="5723"/>
                  </a:lnTo>
                  <a:cubicBezTo>
                    <a:pt x="4876" y="5541"/>
                    <a:pt x="4941" y="5330"/>
                    <a:pt x="4948" y="5104"/>
                  </a:cubicBezTo>
                  <a:cubicBezTo>
                    <a:pt x="4968" y="4395"/>
                    <a:pt x="4411" y="3802"/>
                    <a:pt x="3705" y="3781"/>
                  </a:cubicBezTo>
                  <a:cubicBezTo>
                    <a:pt x="3693" y="3780"/>
                    <a:pt x="3680" y="3780"/>
                    <a:pt x="3667" y="3780"/>
                  </a:cubicBezTo>
                  <a:cubicBezTo>
                    <a:pt x="2975" y="3780"/>
                    <a:pt x="2403" y="4330"/>
                    <a:pt x="2382" y="5025"/>
                  </a:cubicBezTo>
                  <a:cubicBezTo>
                    <a:pt x="2364" y="5733"/>
                    <a:pt x="2920" y="6324"/>
                    <a:pt x="3628" y="6345"/>
                  </a:cubicBezTo>
                  <a:cubicBezTo>
                    <a:pt x="3642" y="6345"/>
                    <a:pt x="3657" y="6346"/>
                    <a:pt x="3671" y="6346"/>
                  </a:cubicBezTo>
                  <a:cubicBezTo>
                    <a:pt x="3941" y="6346"/>
                    <a:pt x="4191" y="6261"/>
                    <a:pt x="4398" y="6117"/>
                  </a:cubicBezTo>
                  <a:lnTo>
                    <a:pt x="6154" y="8604"/>
                  </a:lnTo>
                  <a:cubicBezTo>
                    <a:pt x="6224" y="9482"/>
                    <a:pt x="6267" y="10434"/>
                    <a:pt x="6271" y="11447"/>
                  </a:cubicBezTo>
                  <a:lnTo>
                    <a:pt x="4429" y="9745"/>
                  </a:lnTo>
                  <a:cubicBezTo>
                    <a:pt x="4447" y="9707"/>
                    <a:pt x="4464" y="9668"/>
                    <a:pt x="4479" y="9626"/>
                  </a:cubicBezTo>
                  <a:cubicBezTo>
                    <a:pt x="4727" y="8962"/>
                    <a:pt x="4394" y="8226"/>
                    <a:pt x="3731" y="7975"/>
                  </a:cubicBezTo>
                  <a:cubicBezTo>
                    <a:pt x="3581" y="7918"/>
                    <a:pt x="3428" y="7891"/>
                    <a:pt x="3277" y="7891"/>
                  </a:cubicBezTo>
                  <a:cubicBezTo>
                    <a:pt x="2760" y="7891"/>
                    <a:pt x="2274" y="8208"/>
                    <a:pt x="2083" y="8720"/>
                  </a:cubicBezTo>
                  <a:cubicBezTo>
                    <a:pt x="1827" y="9383"/>
                    <a:pt x="2161" y="10125"/>
                    <a:pt x="2830" y="10372"/>
                  </a:cubicBezTo>
                  <a:cubicBezTo>
                    <a:pt x="2979" y="10429"/>
                    <a:pt x="3131" y="10456"/>
                    <a:pt x="3281" y="10456"/>
                  </a:cubicBezTo>
                  <a:cubicBezTo>
                    <a:pt x="3580" y="10456"/>
                    <a:pt x="3868" y="10350"/>
                    <a:pt x="4097" y="10160"/>
                  </a:cubicBezTo>
                  <a:lnTo>
                    <a:pt x="6262" y="12166"/>
                  </a:lnTo>
                  <a:cubicBezTo>
                    <a:pt x="6245" y="13237"/>
                    <a:pt x="6179" y="14373"/>
                    <a:pt x="6051" y="15565"/>
                  </a:cubicBezTo>
                  <a:lnTo>
                    <a:pt x="4189" y="13844"/>
                  </a:lnTo>
                  <a:cubicBezTo>
                    <a:pt x="4207" y="13805"/>
                    <a:pt x="4225" y="13766"/>
                    <a:pt x="4241" y="13724"/>
                  </a:cubicBezTo>
                  <a:cubicBezTo>
                    <a:pt x="4492" y="13062"/>
                    <a:pt x="4157" y="12321"/>
                    <a:pt x="3495" y="12070"/>
                  </a:cubicBezTo>
                  <a:cubicBezTo>
                    <a:pt x="3346" y="12014"/>
                    <a:pt x="3193" y="11988"/>
                    <a:pt x="3043" y="11988"/>
                  </a:cubicBezTo>
                  <a:cubicBezTo>
                    <a:pt x="2523" y="11988"/>
                    <a:pt x="2032" y="12304"/>
                    <a:pt x="1841" y="12816"/>
                  </a:cubicBezTo>
                  <a:cubicBezTo>
                    <a:pt x="1590" y="13479"/>
                    <a:pt x="1926" y="14219"/>
                    <a:pt x="2588" y="14470"/>
                  </a:cubicBezTo>
                  <a:cubicBezTo>
                    <a:pt x="2736" y="14526"/>
                    <a:pt x="2888" y="14552"/>
                    <a:pt x="3038" y="14552"/>
                  </a:cubicBezTo>
                  <a:cubicBezTo>
                    <a:pt x="3339" y="14552"/>
                    <a:pt x="3630" y="14445"/>
                    <a:pt x="3859" y="14256"/>
                  </a:cubicBezTo>
                  <a:lnTo>
                    <a:pt x="5976" y="16216"/>
                  </a:lnTo>
                  <a:cubicBezTo>
                    <a:pt x="5850" y="17238"/>
                    <a:pt x="5677" y="18297"/>
                    <a:pt x="5448" y="19390"/>
                  </a:cubicBezTo>
                  <a:lnTo>
                    <a:pt x="3488" y="17575"/>
                  </a:lnTo>
                  <a:cubicBezTo>
                    <a:pt x="3506" y="17537"/>
                    <a:pt x="3524" y="17497"/>
                    <a:pt x="3538" y="17457"/>
                  </a:cubicBezTo>
                  <a:cubicBezTo>
                    <a:pt x="3786" y="16791"/>
                    <a:pt x="3456" y="16054"/>
                    <a:pt x="2793" y="15801"/>
                  </a:cubicBezTo>
                  <a:cubicBezTo>
                    <a:pt x="2644" y="15745"/>
                    <a:pt x="2491" y="15719"/>
                    <a:pt x="2341" y="15719"/>
                  </a:cubicBezTo>
                  <a:cubicBezTo>
                    <a:pt x="1820" y="15719"/>
                    <a:pt x="1332" y="16035"/>
                    <a:pt x="1136" y="16547"/>
                  </a:cubicBezTo>
                  <a:cubicBezTo>
                    <a:pt x="890" y="17214"/>
                    <a:pt x="1220" y="17953"/>
                    <a:pt x="1884" y="18200"/>
                  </a:cubicBezTo>
                  <a:cubicBezTo>
                    <a:pt x="2033" y="18257"/>
                    <a:pt x="2186" y="18284"/>
                    <a:pt x="2337" y="18284"/>
                  </a:cubicBezTo>
                  <a:cubicBezTo>
                    <a:pt x="2637" y="18284"/>
                    <a:pt x="2927" y="18178"/>
                    <a:pt x="3156" y="17989"/>
                  </a:cubicBezTo>
                  <a:lnTo>
                    <a:pt x="5318" y="19987"/>
                  </a:lnTo>
                  <a:cubicBezTo>
                    <a:pt x="5089" y="20999"/>
                    <a:pt x="4813" y="22039"/>
                    <a:pt x="4482" y="23101"/>
                  </a:cubicBezTo>
                  <a:lnTo>
                    <a:pt x="2598" y="21359"/>
                  </a:lnTo>
                  <a:cubicBezTo>
                    <a:pt x="2617" y="21321"/>
                    <a:pt x="2634" y="21281"/>
                    <a:pt x="2649" y="21241"/>
                  </a:cubicBezTo>
                  <a:cubicBezTo>
                    <a:pt x="2900" y="20576"/>
                    <a:pt x="2567" y="19841"/>
                    <a:pt x="1906" y="19588"/>
                  </a:cubicBezTo>
                  <a:cubicBezTo>
                    <a:pt x="1757" y="19532"/>
                    <a:pt x="1604" y="19505"/>
                    <a:pt x="1453" y="19505"/>
                  </a:cubicBezTo>
                  <a:cubicBezTo>
                    <a:pt x="934" y="19505"/>
                    <a:pt x="445" y="19823"/>
                    <a:pt x="251" y="20336"/>
                  </a:cubicBezTo>
                  <a:cubicBezTo>
                    <a:pt x="1" y="20999"/>
                    <a:pt x="335" y="21737"/>
                    <a:pt x="998" y="21989"/>
                  </a:cubicBezTo>
                  <a:cubicBezTo>
                    <a:pt x="1146" y="22045"/>
                    <a:pt x="1298" y="22071"/>
                    <a:pt x="1448" y="22071"/>
                  </a:cubicBezTo>
                  <a:cubicBezTo>
                    <a:pt x="1749" y="22071"/>
                    <a:pt x="2041" y="21964"/>
                    <a:pt x="2270" y="21773"/>
                  </a:cubicBezTo>
                  <a:lnTo>
                    <a:pt x="4305" y="23655"/>
                  </a:lnTo>
                  <a:cubicBezTo>
                    <a:pt x="4157" y="24102"/>
                    <a:pt x="4000" y="24554"/>
                    <a:pt x="3833" y="25010"/>
                  </a:cubicBezTo>
                  <a:lnTo>
                    <a:pt x="3795" y="25039"/>
                  </a:lnTo>
                  <a:lnTo>
                    <a:pt x="3813" y="25064"/>
                  </a:lnTo>
                  <a:cubicBezTo>
                    <a:pt x="3516" y="25870"/>
                    <a:pt x="3187" y="26686"/>
                    <a:pt x="2821" y="27513"/>
                  </a:cubicBezTo>
                  <a:lnTo>
                    <a:pt x="3307" y="27727"/>
                  </a:lnTo>
                  <a:cubicBezTo>
                    <a:pt x="3664" y="26920"/>
                    <a:pt x="3985" y="26120"/>
                    <a:pt x="4279" y="25332"/>
                  </a:cubicBezTo>
                  <a:lnTo>
                    <a:pt x="6607" y="23575"/>
                  </a:lnTo>
                  <a:cubicBezTo>
                    <a:pt x="6768" y="23786"/>
                    <a:pt x="6994" y="23949"/>
                    <a:pt x="7269" y="24027"/>
                  </a:cubicBezTo>
                  <a:cubicBezTo>
                    <a:pt x="7386" y="24060"/>
                    <a:pt x="7505" y="24076"/>
                    <a:pt x="7622" y="24076"/>
                  </a:cubicBezTo>
                  <a:cubicBezTo>
                    <a:pt x="8181" y="24076"/>
                    <a:pt x="8695" y="23710"/>
                    <a:pt x="8859" y="23146"/>
                  </a:cubicBezTo>
                  <a:cubicBezTo>
                    <a:pt x="9050" y="22466"/>
                    <a:pt x="8657" y="21757"/>
                    <a:pt x="7978" y="21561"/>
                  </a:cubicBezTo>
                  <a:cubicBezTo>
                    <a:pt x="7860" y="21528"/>
                    <a:pt x="7740" y="21511"/>
                    <a:pt x="7623" y="21511"/>
                  </a:cubicBezTo>
                  <a:cubicBezTo>
                    <a:pt x="7065" y="21511"/>
                    <a:pt x="6553" y="21877"/>
                    <a:pt x="6391" y="22441"/>
                  </a:cubicBezTo>
                  <a:cubicBezTo>
                    <a:pt x="6329" y="22657"/>
                    <a:pt x="6327" y="22878"/>
                    <a:pt x="6375" y="23085"/>
                  </a:cubicBezTo>
                  <a:lnTo>
                    <a:pt x="4607" y="24424"/>
                  </a:lnTo>
                  <a:cubicBezTo>
                    <a:pt x="5048" y="23148"/>
                    <a:pt x="5406" y="21903"/>
                    <a:pt x="5699" y="20693"/>
                  </a:cubicBezTo>
                  <a:lnTo>
                    <a:pt x="5707" y="20702"/>
                  </a:lnTo>
                  <a:lnTo>
                    <a:pt x="8021" y="18595"/>
                  </a:lnTo>
                  <a:cubicBezTo>
                    <a:pt x="8202" y="18791"/>
                    <a:pt x="8442" y="18933"/>
                    <a:pt x="8724" y="18987"/>
                  </a:cubicBezTo>
                  <a:cubicBezTo>
                    <a:pt x="8805" y="19003"/>
                    <a:pt x="8886" y="19010"/>
                    <a:pt x="8966" y="19010"/>
                  </a:cubicBezTo>
                  <a:cubicBezTo>
                    <a:pt x="9569" y="19010"/>
                    <a:pt x="10105" y="18579"/>
                    <a:pt x="10223" y="17965"/>
                  </a:cubicBezTo>
                  <a:cubicBezTo>
                    <a:pt x="10356" y="17270"/>
                    <a:pt x="9899" y="16599"/>
                    <a:pt x="9204" y="16468"/>
                  </a:cubicBezTo>
                  <a:cubicBezTo>
                    <a:pt x="9124" y="16453"/>
                    <a:pt x="9043" y="16446"/>
                    <a:pt x="8964" y="16446"/>
                  </a:cubicBezTo>
                  <a:cubicBezTo>
                    <a:pt x="8357" y="16446"/>
                    <a:pt x="7817" y="16874"/>
                    <a:pt x="7704" y="17489"/>
                  </a:cubicBezTo>
                  <a:cubicBezTo>
                    <a:pt x="7661" y="17712"/>
                    <a:pt x="7680" y="17932"/>
                    <a:pt x="7747" y="18132"/>
                  </a:cubicBezTo>
                  <a:lnTo>
                    <a:pt x="5901" y="19811"/>
                  </a:lnTo>
                  <a:cubicBezTo>
                    <a:pt x="6189" y="18493"/>
                    <a:pt x="6396" y="17222"/>
                    <a:pt x="6537" y="16005"/>
                  </a:cubicBezTo>
                  <a:lnTo>
                    <a:pt x="8700" y="13823"/>
                  </a:lnTo>
                  <a:cubicBezTo>
                    <a:pt x="8891" y="14008"/>
                    <a:pt x="9139" y="14138"/>
                    <a:pt x="9422" y="14178"/>
                  </a:cubicBezTo>
                  <a:cubicBezTo>
                    <a:pt x="9481" y="14186"/>
                    <a:pt x="9541" y="14190"/>
                    <a:pt x="9599" y="14190"/>
                  </a:cubicBezTo>
                  <a:cubicBezTo>
                    <a:pt x="10229" y="14190"/>
                    <a:pt x="10778" y="13726"/>
                    <a:pt x="10864" y="13083"/>
                  </a:cubicBezTo>
                  <a:cubicBezTo>
                    <a:pt x="10958" y="12386"/>
                    <a:pt x="10470" y="11738"/>
                    <a:pt x="9770" y="11644"/>
                  </a:cubicBezTo>
                  <a:cubicBezTo>
                    <a:pt x="9709" y="11636"/>
                    <a:pt x="9650" y="11631"/>
                    <a:pt x="9591" y="11631"/>
                  </a:cubicBezTo>
                  <a:cubicBezTo>
                    <a:pt x="8959" y="11631"/>
                    <a:pt x="8410" y="12098"/>
                    <a:pt x="8323" y="12741"/>
                  </a:cubicBezTo>
                  <a:cubicBezTo>
                    <a:pt x="8291" y="12964"/>
                    <a:pt x="8323" y="13182"/>
                    <a:pt x="8399" y="13378"/>
                  </a:cubicBezTo>
                  <a:lnTo>
                    <a:pt x="6623" y="15165"/>
                  </a:lnTo>
                  <a:cubicBezTo>
                    <a:pt x="6745" y="13875"/>
                    <a:pt x="6797" y="12651"/>
                    <a:pt x="6795" y="11506"/>
                  </a:cubicBezTo>
                  <a:lnTo>
                    <a:pt x="6795" y="11506"/>
                  </a:lnTo>
                  <a:lnTo>
                    <a:pt x="6832" y="11528"/>
                  </a:lnTo>
                  <a:lnTo>
                    <a:pt x="8392" y="8814"/>
                  </a:lnTo>
                  <a:cubicBezTo>
                    <a:pt x="8579" y="8919"/>
                    <a:pt x="8792" y="8980"/>
                    <a:pt x="9017" y="8980"/>
                  </a:cubicBezTo>
                  <a:cubicBezTo>
                    <a:pt x="9070" y="8980"/>
                    <a:pt x="9123" y="8977"/>
                    <a:pt x="9177" y="8970"/>
                  </a:cubicBezTo>
                  <a:cubicBezTo>
                    <a:pt x="9882" y="8884"/>
                    <a:pt x="10379" y="8244"/>
                    <a:pt x="10294" y="7541"/>
                  </a:cubicBezTo>
                  <a:cubicBezTo>
                    <a:pt x="10213" y="6892"/>
                    <a:pt x="9661" y="6417"/>
                    <a:pt x="9024" y="6417"/>
                  </a:cubicBezTo>
                  <a:cubicBezTo>
                    <a:pt x="8971" y="6417"/>
                    <a:pt x="8917" y="6420"/>
                    <a:pt x="8863" y="6427"/>
                  </a:cubicBezTo>
                  <a:cubicBezTo>
                    <a:pt x="8160" y="6513"/>
                    <a:pt x="7664" y="7153"/>
                    <a:pt x="7748" y="7855"/>
                  </a:cubicBezTo>
                  <a:cubicBezTo>
                    <a:pt x="7777" y="8080"/>
                    <a:pt x="7861" y="8285"/>
                    <a:pt x="7987" y="8456"/>
                  </a:cubicBezTo>
                  <a:lnTo>
                    <a:pt x="6783" y="10547"/>
                  </a:lnTo>
                  <a:cubicBezTo>
                    <a:pt x="6756" y="9504"/>
                    <a:pt x="6687" y="8535"/>
                    <a:pt x="6594" y="7651"/>
                  </a:cubicBezTo>
                  <a:lnTo>
                    <a:pt x="7592" y="4737"/>
                  </a:lnTo>
                  <a:cubicBezTo>
                    <a:pt x="7724" y="4780"/>
                    <a:pt x="7863" y="4804"/>
                    <a:pt x="8005" y="4804"/>
                  </a:cubicBezTo>
                  <a:cubicBezTo>
                    <a:pt x="8135" y="4804"/>
                    <a:pt x="8267" y="4784"/>
                    <a:pt x="8398" y="4742"/>
                  </a:cubicBezTo>
                  <a:cubicBezTo>
                    <a:pt x="9068" y="4522"/>
                    <a:pt x="9437" y="3798"/>
                    <a:pt x="9220" y="3128"/>
                  </a:cubicBezTo>
                  <a:cubicBezTo>
                    <a:pt x="9040" y="2586"/>
                    <a:pt x="8539" y="2241"/>
                    <a:pt x="7999" y="2241"/>
                  </a:cubicBezTo>
                  <a:cubicBezTo>
                    <a:pt x="7868" y="2241"/>
                    <a:pt x="7734" y="2262"/>
                    <a:pt x="7602" y="2305"/>
                  </a:cubicBezTo>
                  <a:cubicBezTo>
                    <a:pt x="6932" y="2522"/>
                    <a:pt x="6562" y="3248"/>
                    <a:pt x="6780" y="3919"/>
                  </a:cubicBezTo>
                  <a:cubicBezTo>
                    <a:pt x="6850" y="4135"/>
                    <a:pt x="6973" y="4319"/>
                    <a:pt x="7129" y="4463"/>
                  </a:cubicBezTo>
                  <a:lnTo>
                    <a:pt x="6446" y="6450"/>
                  </a:lnTo>
                  <a:cubicBezTo>
                    <a:pt x="6191" y="4634"/>
                    <a:pt x="5851" y="3273"/>
                    <a:pt x="5623" y="2483"/>
                  </a:cubicBezTo>
                  <a:cubicBezTo>
                    <a:pt x="6068" y="2316"/>
                    <a:pt x="6405" y="1910"/>
                    <a:pt x="6453" y="1406"/>
                  </a:cubicBezTo>
                  <a:cubicBezTo>
                    <a:pt x="6520" y="701"/>
                    <a:pt x="6003" y="75"/>
                    <a:pt x="5300" y="6"/>
                  </a:cubicBezTo>
                  <a:cubicBezTo>
                    <a:pt x="5258" y="2"/>
                    <a:pt x="5216" y="0"/>
                    <a:pt x="51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7"/>
            <p:cNvSpPr/>
            <p:nvPr/>
          </p:nvSpPr>
          <p:spPr>
            <a:xfrm>
              <a:off x="5386676" y="2151729"/>
              <a:ext cx="612592" cy="1178348"/>
            </a:xfrm>
            <a:custGeom>
              <a:avLst/>
              <a:gdLst/>
              <a:ahLst/>
              <a:cxnLst/>
              <a:rect l="l" t="t" r="r" b="b"/>
              <a:pathLst>
                <a:path w="13917" h="26770" extrusionOk="0">
                  <a:moveTo>
                    <a:pt x="3508" y="0"/>
                  </a:moveTo>
                  <a:cubicBezTo>
                    <a:pt x="2482" y="0"/>
                    <a:pt x="1705" y="1781"/>
                    <a:pt x="4323" y="4442"/>
                  </a:cubicBezTo>
                  <a:cubicBezTo>
                    <a:pt x="4288" y="4698"/>
                    <a:pt x="4237" y="5116"/>
                    <a:pt x="4197" y="5674"/>
                  </a:cubicBezTo>
                  <a:cubicBezTo>
                    <a:pt x="3676" y="4661"/>
                    <a:pt x="2764" y="3248"/>
                    <a:pt x="1731" y="3248"/>
                  </a:cubicBezTo>
                  <a:cubicBezTo>
                    <a:pt x="1441" y="3248"/>
                    <a:pt x="1141" y="3359"/>
                    <a:pt x="838" y="3622"/>
                  </a:cubicBezTo>
                  <a:cubicBezTo>
                    <a:pt x="31" y="4324"/>
                    <a:pt x="546" y="6496"/>
                    <a:pt x="4147" y="6665"/>
                  </a:cubicBezTo>
                  <a:cubicBezTo>
                    <a:pt x="4124" y="7370"/>
                    <a:pt x="4126" y="8204"/>
                    <a:pt x="4179" y="9137"/>
                  </a:cubicBezTo>
                  <a:cubicBezTo>
                    <a:pt x="3658" y="8126"/>
                    <a:pt x="2744" y="6710"/>
                    <a:pt x="1709" y="6710"/>
                  </a:cubicBezTo>
                  <a:cubicBezTo>
                    <a:pt x="1419" y="6710"/>
                    <a:pt x="1119" y="6822"/>
                    <a:pt x="816" y="7085"/>
                  </a:cubicBezTo>
                  <a:cubicBezTo>
                    <a:pt x="1" y="7796"/>
                    <a:pt x="534" y="10007"/>
                    <a:pt x="4251" y="10133"/>
                  </a:cubicBezTo>
                  <a:cubicBezTo>
                    <a:pt x="4313" y="10806"/>
                    <a:pt x="4401" y="11522"/>
                    <a:pt x="4524" y="12270"/>
                  </a:cubicBezTo>
                  <a:cubicBezTo>
                    <a:pt x="3984" y="11320"/>
                    <a:pt x="3169" y="10231"/>
                    <a:pt x="2262" y="10231"/>
                  </a:cubicBezTo>
                  <a:cubicBezTo>
                    <a:pt x="1972" y="10231"/>
                    <a:pt x="1672" y="10342"/>
                    <a:pt x="1369" y="10606"/>
                  </a:cubicBezTo>
                  <a:cubicBezTo>
                    <a:pt x="553" y="11314"/>
                    <a:pt x="1086" y="13519"/>
                    <a:pt x="4784" y="13653"/>
                  </a:cubicBezTo>
                  <a:cubicBezTo>
                    <a:pt x="4934" y="14353"/>
                    <a:pt x="5115" y="15077"/>
                    <a:pt x="5332" y="15815"/>
                  </a:cubicBezTo>
                  <a:cubicBezTo>
                    <a:pt x="4697" y="15082"/>
                    <a:pt x="3818" y="14280"/>
                    <a:pt x="3014" y="14280"/>
                  </a:cubicBezTo>
                  <a:cubicBezTo>
                    <a:pt x="2634" y="14280"/>
                    <a:pt x="2270" y="14460"/>
                    <a:pt x="1957" y="14913"/>
                  </a:cubicBezTo>
                  <a:cubicBezTo>
                    <a:pt x="1424" y="15680"/>
                    <a:pt x="2030" y="17272"/>
                    <a:pt x="4365" y="17272"/>
                  </a:cubicBezTo>
                  <a:cubicBezTo>
                    <a:pt x="4772" y="17272"/>
                    <a:pt x="5232" y="17223"/>
                    <a:pt x="5748" y="17114"/>
                  </a:cubicBezTo>
                  <a:cubicBezTo>
                    <a:pt x="6006" y="17857"/>
                    <a:pt x="6302" y="18614"/>
                    <a:pt x="6643" y="19380"/>
                  </a:cubicBezTo>
                  <a:cubicBezTo>
                    <a:pt x="6003" y="18790"/>
                    <a:pt x="5186" y="18203"/>
                    <a:pt x="4470" y="18203"/>
                  </a:cubicBezTo>
                  <a:cubicBezTo>
                    <a:pt x="4038" y="18203"/>
                    <a:pt x="3644" y="18416"/>
                    <a:pt x="3346" y="18970"/>
                  </a:cubicBezTo>
                  <a:cubicBezTo>
                    <a:pt x="2935" y="19737"/>
                    <a:pt x="3537" y="21093"/>
                    <a:pt x="5428" y="21093"/>
                  </a:cubicBezTo>
                  <a:cubicBezTo>
                    <a:pt x="5950" y="21093"/>
                    <a:pt x="6571" y="20990"/>
                    <a:pt x="7296" y="20742"/>
                  </a:cubicBezTo>
                  <a:cubicBezTo>
                    <a:pt x="7639" y="21413"/>
                    <a:pt x="8018" y="22088"/>
                    <a:pt x="8438" y="22765"/>
                  </a:cubicBezTo>
                  <a:cubicBezTo>
                    <a:pt x="7831" y="22354"/>
                    <a:pt x="7113" y="21985"/>
                    <a:pt x="6494" y="21985"/>
                  </a:cubicBezTo>
                  <a:cubicBezTo>
                    <a:pt x="5976" y="21985"/>
                    <a:pt x="5527" y="22243"/>
                    <a:pt x="5271" y="22952"/>
                  </a:cubicBezTo>
                  <a:cubicBezTo>
                    <a:pt x="5002" y="23701"/>
                    <a:pt x="5591" y="24795"/>
                    <a:pt x="7045" y="24795"/>
                  </a:cubicBezTo>
                  <a:cubicBezTo>
                    <a:pt x="7654" y="24795"/>
                    <a:pt x="8415" y="24603"/>
                    <a:pt x="9329" y="24112"/>
                  </a:cubicBezTo>
                  <a:cubicBezTo>
                    <a:pt x="9956" y="25005"/>
                    <a:pt x="10654" y="25893"/>
                    <a:pt x="11435" y="26769"/>
                  </a:cubicBezTo>
                  <a:lnTo>
                    <a:pt x="12069" y="26205"/>
                  </a:lnTo>
                  <a:cubicBezTo>
                    <a:pt x="11742" y="25840"/>
                    <a:pt x="11434" y="25475"/>
                    <a:pt x="11138" y="25107"/>
                  </a:cubicBezTo>
                  <a:cubicBezTo>
                    <a:pt x="13917" y="22751"/>
                    <a:pt x="12907" y="20716"/>
                    <a:pt x="11817" y="20661"/>
                  </a:cubicBezTo>
                  <a:cubicBezTo>
                    <a:pt x="11783" y="20659"/>
                    <a:pt x="11749" y="20658"/>
                    <a:pt x="11716" y="20658"/>
                  </a:cubicBezTo>
                  <a:cubicBezTo>
                    <a:pt x="9974" y="20658"/>
                    <a:pt x="10215" y="22931"/>
                    <a:pt x="10526" y="24320"/>
                  </a:cubicBezTo>
                  <a:cubicBezTo>
                    <a:pt x="9837" y="23401"/>
                    <a:pt x="9233" y="22475"/>
                    <a:pt x="8701" y="21553"/>
                  </a:cubicBezTo>
                  <a:cubicBezTo>
                    <a:pt x="11981" y="20196"/>
                    <a:pt x="11500" y="18008"/>
                    <a:pt x="10446" y="17630"/>
                  </a:cubicBezTo>
                  <a:cubicBezTo>
                    <a:pt x="10226" y="17551"/>
                    <a:pt x="10027" y="17515"/>
                    <a:pt x="9848" y="17515"/>
                  </a:cubicBezTo>
                  <a:cubicBezTo>
                    <a:pt x="8533" y="17515"/>
                    <a:pt x="8271" y="19473"/>
                    <a:pt x="8239" y="20718"/>
                  </a:cubicBezTo>
                  <a:cubicBezTo>
                    <a:pt x="7835" y="19959"/>
                    <a:pt x="7480" y="19203"/>
                    <a:pt x="7168" y="18458"/>
                  </a:cubicBezTo>
                  <a:cubicBezTo>
                    <a:pt x="10393" y="16993"/>
                    <a:pt x="9855" y="14819"/>
                    <a:pt x="8792" y="14475"/>
                  </a:cubicBezTo>
                  <a:cubicBezTo>
                    <a:pt x="8588" y="14408"/>
                    <a:pt x="8404" y="14378"/>
                    <a:pt x="8237" y="14378"/>
                  </a:cubicBezTo>
                  <a:cubicBezTo>
                    <a:pt x="7029" y="14378"/>
                    <a:pt x="6733" y="15983"/>
                    <a:pt x="6684" y="17226"/>
                  </a:cubicBezTo>
                  <a:cubicBezTo>
                    <a:pt x="6348" y="16301"/>
                    <a:pt x="6075" y="15396"/>
                    <a:pt x="5853" y="14522"/>
                  </a:cubicBezTo>
                  <a:cubicBezTo>
                    <a:pt x="9279" y="13729"/>
                    <a:pt x="9093" y="11537"/>
                    <a:pt x="8087" y="10997"/>
                  </a:cubicBezTo>
                  <a:cubicBezTo>
                    <a:pt x="7795" y="10840"/>
                    <a:pt x="7533" y="10770"/>
                    <a:pt x="7298" y="10770"/>
                  </a:cubicBezTo>
                  <a:cubicBezTo>
                    <a:pt x="6285" y="10770"/>
                    <a:pt x="5785" y="12069"/>
                    <a:pt x="5543" y="13160"/>
                  </a:cubicBezTo>
                  <a:cubicBezTo>
                    <a:pt x="5402" y="12456"/>
                    <a:pt x="5293" y="11779"/>
                    <a:pt x="5209" y="11133"/>
                  </a:cubicBezTo>
                  <a:cubicBezTo>
                    <a:pt x="8701" y="10341"/>
                    <a:pt x="8511" y="8123"/>
                    <a:pt x="7501" y="7581"/>
                  </a:cubicBezTo>
                  <a:cubicBezTo>
                    <a:pt x="7210" y="7426"/>
                    <a:pt x="6950" y="7357"/>
                    <a:pt x="6716" y="7357"/>
                  </a:cubicBezTo>
                  <a:cubicBezTo>
                    <a:pt x="5799" y="7357"/>
                    <a:pt x="5306" y="8419"/>
                    <a:pt x="5042" y="9430"/>
                  </a:cubicBezTo>
                  <a:cubicBezTo>
                    <a:pt x="4980" y="8494"/>
                    <a:pt x="4969" y="7657"/>
                    <a:pt x="4985" y="6944"/>
                  </a:cubicBezTo>
                  <a:cubicBezTo>
                    <a:pt x="8342" y="6300"/>
                    <a:pt x="8238" y="4149"/>
                    <a:pt x="7263" y="3570"/>
                  </a:cubicBezTo>
                  <a:cubicBezTo>
                    <a:pt x="6953" y="3384"/>
                    <a:pt x="6674" y="3303"/>
                    <a:pt x="6425" y="3303"/>
                  </a:cubicBezTo>
                  <a:cubicBezTo>
                    <a:pt x="5850" y="3303"/>
                    <a:pt x="5427" y="3731"/>
                    <a:pt x="5118" y="4297"/>
                  </a:cubicBezTo>
                  <a:lnTo>
                    <a:pt x="4967" y="4269"/>
                  </a:lnTo>
                  <a:cubicBezTo>
                    <a:pt x="5261" y="3001"/>
                    <a:pt x="5654" y="247"/>
                    <a:pt x="3613" y="7"/>
                  </a:cubicBezTo>
                  <a:cubicBezTo>
                    <a:pt x="3578" y="2"/>
                    <a:pt x="3542"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p:cNvSpPr/>
            <p:nvPr/>
          </p:nvSpPr>
          <p:spPr>
            <a:xfrm>
              <a:off x="5743883" y="1604540"/>
              <a:ext cx="537850" cy="1202558"/>
            </a:xfrm>
            <a:custGeom>
              <a:avLst/>
              <a:gdLst/>
              <a:ahLst/>
              <a:cxnLst/>
              <a:rect l="l" t="t" r="r" b="b"/>
              <a:pathLst>
                <a:path w="12219" h="27320" extrusionOk="0">
                  <a:moveTo>
                    <a:pt x="9582" y="1"/>
                  </a:moveTo>
                  <a:lnTo>
                    <a:pt x="9582" y="1"/>
                  </a:lnTo>
                  <a:cubicBezTo>
                    <a:pt x="6449" y="1763"/>
                    <a:pt x="6644" y="4471"/>
                    <a:pt x="6868" y="5535"/>
                  </a:cubicBezTo>
                  <a:cubicBezTo>
                    <a:pt x="6302" y="6429"/>
                    <a:pt x="5834" y="7367"/>
                    <a:pt x="5459" y="8341"/>
                  </a:cubicBezTo>
                  <a:cubicBezTo>
                    <a:pt x="5252" y="2901"/>
                    <a:pt x="2991" y="1998"/>
                    <a:pt x="2991" y="1998"/>
                  </a:cubicBezTo>
                  <a:lnTo>
                    <a:pt x="2991" y="1998"/>
                  </a:lnTo>
                  <a:cubicBezTo>
                    <a:pt x="1168" y="6483"/>
                    <a:pt x="4145" y="8626"/>
                    <a:pt x="5157" y="9205"/>
                  </a:cubicBezTo>
                  <a:cubicBezTo>
                    <a:pt x="4806" y="10301"/>
                    <a:pt x="4569" y="11440"/>
                    <a:pt x="4451" y="12614"/>
                  </a:cubicBezTo>
                  <a:cubicBezTo>
                    <a:pt x="3617" y="7638"/>
                    <a:pt x="1389" y="7016"/>
                    <a:pt x="1389" y="7016"/>
                  </a:cubicBezTo>
                  <a:lnTo>
                    <a:pt x="1389" y="7016"/>
                  </a:lnTo>
                  <a:cubicBezTo>
                    <a:pt x="0" y="11737"/>
                    <a:pt x="3369" y="13529"/>
                    <a:pt x="4369" y="13948"/>
                  </a:cubicBezTo>
                  <a:cubicBezTo>
                    <a:pt x="4340" y="15034"/>
                    <a:pt x="4409" y="16146"/>
                    <a:pt x="4571" y="17282"/>
                  </a:cubicBezTo>
                  <a:cubicBezTo>
                    <a:pt x="2922" y="13229"/>
                    <a:pt x="824" y="13029"/>
                    <a:pt x="824" y="13029"/>
                  </a:cubicBezTo>
                  <a:lnTo>
                    <a:pt x="824" y="13029"/>
                  </a:lnTo>
                  <a:cubicBezTo>
                    <a:pt x="258" y="17831"/>
                    <a:pt x="3855" y="19025"/>
                    <a:pt x="4952" y="19276"/>
                  </a:cubicBezTo>
                  <a:cubicBezTo>
                    <a:pt x="5018" y="19556"/>
                    <a:pt x="5090" y="19836"/>
                    <a:pt x="5167" y="20118"/>
                  </a:cubicBezTo>
                  <a:cubicBezTo>
                    <a:pt x="5372" y="20866"/>
                    <a:pt x="5605" y="21572"/>
                    <a:pt x="5847" y="22229"/>
                  </a:cubicBezTo>
                  <a:cubicBezTo>
                    <a:pt x="3533" y="19127"/>
                    <a:pt x="1605" y="18869"/>
                    <a:pt x="1027" y="18869"/>
                  </a:cubicBezTo>
                  <a:cubicBezTo>
                    <a:pt x="912" y="18869"/>
                    <a:pt x="851" y="18879"/>
                    <a:pt x="851" y="18879"/>
                  </a:cubicBezTo>
                  <a:cubicBezTo>
                    <a:pt x="1508" y="23296"/>
                    <a:pt x="4911" y="23750"/>
                    <a:pt x="6278" y="23750"/>
                  </a:cubicBezTo>
                  <a:cubicBezTo>
                    <a:pt x="6343" y="23750"/>
                    <a:pt x="6403" y="23749"/>
                    <a:pt x="6457" y="23747"/>
                  </a:cubicBezTo>
                  <a:cubicBezTo>
                    <a:pt x="7393" y="25894"/>
                    <a:pt x="8296" y="27237"/>
                    <a:pt x="8352" y="27319"/>
                  </a:cubicBezTo>
                  <a:lnTo>
                    <a:pt x="8903" y="26931"/>
                  </a:lnTo>
                  <a:cubicBezTo>
                    <a:pt x="8878" y="26890"/>
                    <a:pt x="8016" y="25598"/>
                    <a:pt x="7114" y="23534"/>
                  </a:cubicBezTo>
                  <a:cubicBezTo>
                    <a:pt x="8306" y="22987"/>
                    <a:pt x="11483" y="21086"/>
                    <a:pt x="10566" y="16604"/>
                  </a:cubicBezTo>
                  <a:lnTo>
                    <a:pt x="10566" y="16604"/>
                  </a:lnTo>
                  <a:cubicBezTo>
                    <a:pt x="10565" y="16604"/>
                    <a:pt x="8085" y="17330"/>
                    <a:pt x="6845" y="22898"/>
                  </a:cubicBezTo>
                  <a:cubicBezTo>
                    <a:pt x="6405" y="21820"/>
                    <a:pt x="5973" y="20570"/>
                    <a:pt x="5640" y="19204"/>
                  </a:cubicBezTo>
                  <a:cubicBezTo>
                    <a:pt x="6977" y="18951"/>
                    <a:pt x="10362" y="17864"/>
                    <a:pt x="10657" y="13325"/>
                  </a:cubicBezTo>
                  <a:lnTo>
                    <a:pt x="10657" y="13325"/>
                  </a:lnTo>
                  <a:cubicBezTo>
                    <a:pt x="10657" y="13325"/>
                    <a:pt x="8115" y="13392"/>
                    <a:pt x="5481" y="18505"/>
                  </a:cubicBezTo>
                  <a:cubicBezTo>
                    <a:pt x="5183" y="17090"/>
                    <a:pt x="5002" y="15565"/>
                    <a:pt x="5033" y="13988"/>
                  </a:cubicBezTo>
                  <a:cubicBezTo>
                    <a:pt x="6383" y="13965"/>
                    <a:pt x="9866" y="13459"/>
                    <a:pt x="10928" y="8996"/>
                  </a:cubicBezTo>
                  <a:cubicBezTo>
                    <a:pt x="10928" y="8996"/>
                    <a:pt x="10882" y="8989"/>
                    <a:pt x="10792" y="8989"/>
                  </a:cubicBezTo>
                  <a:cubicBezTo>
                    <a:pt x="10234" y="8989"/>
                    <a:pt x="8006" y="9258"/>
                    <a:pt x="5069" y="13168"/>
                  </a:cubicBezTo>
                  <a:cubicBezTo>
                    <a:pt x="5151" y="11909"/>
                    <a:pt x="5377" y="10624"/>
                    <a:pt x="5790" y="9341"/>
                  </a:cubicBezTo>
                  <a:cubicBezTo>
                    <a:pt x="5962" y="9359"/>
                    <a:pt x="6178" y="9373"/>
                    <a:pt x="6425" y="9373"/>
                  </a:cubicBezTo>
                  <a:cubicBezTo>
                    <a:pt x="8002" y="9373"/>
                    <a:pt x="10882" y="8807"/>
                    <a:pt x="12218" y="4964"/>
                  </a:cubicBezTo>
                  <a:cubicBezTo>
                    <a:pt x="12218" y="4964"/>
                    <a:pt x="12094" y="4932"/>
                    <a:pt x="11858" y="4932"/>
                  </a:cubicBezTo>
                  <a:cubicBezTo>
                    <a:pt x="11069" y="4932"/>
                    <a:pt x="9025" y="5288"/>
                    <a:pt x="6137" y="8375"/>
                  </a:cubicBezTo>
                  <a:cubicBezTo>
                    <a:pt x="6519" y="7416"/>
                    <a:pt x="7011" y="6464"/>
                    <a:pt x="7634" y="5527"/>
                  </a:cubicBezTo>
                  <a:lnTo>
                    <a:pt x="7629" y="5524"/>
                  </a:lnTo>
                  <a:cubicBezTo>
                    <a:pt x="10124" y="3432"/>
                    <a:pt x="9582" y="1"/>
                    <a:pt x="95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7"/>
            <p:cNvSpPr/>
            <p:nvPr/>
          </p:nvSpPr>
          <p:spPr>
            <a:xfrm>
              <a:off x="7040128" y="1869881"/>
              <a:ext cx="1271093" cy="1719236"/>
            </a:xfrm>
            <a:custGeom>
              <a:avLst/>
              <a:gdLst/>
              <a:ahLst/>
              <a:cxnLst/>
              <a:rect l="l" t="t" r="r" b="b"/>
              <a:pathLst>
                <a:path w="28877" h="39058" extrusionOk="0">
                  <a:moveTo>
                    <a:pt x="6053" y="1"/>
                  </a:moveTo>
                  <a:cubicBezTo>
                    <a:pt x="3878" y="1"/>
                    <a:pt x="2764" y="1613"/>
                    <a:pt x="2764" y="1613"/>
                  </a:cubicBezTo>
                  <a:cubicBezTo>
                    <a:pt x="1" y="4724"/>
                    <a:pt x="362" y="16367"/>
                    <a:pt x="546" y="25814"/>
                  </a:cubicBezTo>
                  <a:cubicBezTo>
                    <a:pt x="730" y="35260"/>
                    <a:pt x="9184" y="35833"/>
                    <a:pt x="13885" y="36523"/>
                  </a:cubicBezTo>
                  <a:cubicBezTo>
                    <a:pt x="18585" y="37215"/>
                    <a:pt x="18513" y="39057"/>
                    <a:pt x="21967" y="39057"/>
                  </a:cubicBezTo>
                  <a:cubicBezTo>
                    <a:pt x="25421" y="39057"/>
                    <a:pt x="25653" y="37329"/>
                    <a:pt x="25653" y="37329"/>
                  </a:cubicBezTo>
                  <a:cubicBezTo>
                    <a:pt x="28877" y="19248"/>
                    <a:pt x="14160" y="4654"/>
                    <a:pt x="10106" y="1613"/>
                  </a:cubicBezTo>
                  <a:cubicBezTo>
                    <a:pt x="8494" y="404"/>
                    <a:pt x="7141" y="1"/>
                    <a:pt x="6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7"/>
            <p:cNvSpPr/>
            <p:nvPr/>
          </p:nvSpPr>
          <p:spPr>
            <a:xfrm>
              <a:off x="7062270" y="2936132"/>
              <a:ext cx="1018389" cy="653000"/>
            </a:xfrm>
            <a:custGeom>
              <a:avLst/>
              <a:gdLst/>
              <a:ahLst/>
              <a:cxnLst/>
              <a:rect l="l" t="t" r="r" b="b"/>
              <a:pathLst>
                <a:path w="23136" h="14835" extrusionOk="0">
                  <a:moveTo>
                    <a:pt x="814" y="1"/>
                  </a:moveTo>
                  <a:cubicBezTo>
                    <a:pt x="534" y="1"/>
                    <a:pt x="262" y="10"/>
                    <a:pt x="1" y="25"/>
                  </a:cubicBezTo>
                  <a:cubicBezTo>
                    <a:pt x="17" y="552"/>
                    <a:pt x="32" y="1075"/>
                    <a:pt x="42" y="1591"/>
                  </a:cubicBezTo>
                  <a:cubicBezTo>
                    <a:pt x="227" y="11037"/>
                    <a:pt x="8679" y="11610"/>
                    <a:pt x="13382" y="12300"/>
                  </a:cubicBezTo>
                  <a:cubicBezTo>
                    <a:pt x="18082" y="12992"/>
                    <a:pt x="18010" y="14834"/>
                    <a:pt x="21464" y="14834"/>
                  </a:cubicBezTo>
                  <a:cubicBezTo>
                    <a:pt x="22137" y="14834"/>
                    <a:pt x="22684" y="14767"/>
                    <a:pt x="23135" y="14662"/>
                  </a:cubicBezTo>
                  <a:cubicBezTo>
                    <a:pt x="10340" y="11851"/>
                    <a:pt x="10343" y="6351"/>
                    <a:pt x="7185" y="2528"/>
                  </a:cubicBezTo>
                  <a:cubicBezTo>
                    <a:pt x="5510" y="498"/>
                    <a:pt x="2934" y="1"/>
                    <a:pt x="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7"/>
            <p:cNvSpPr/>
            <p:nvPr/>
          </p:nvSpPr>
          <p:spPr>
            <a:xfrm>
              <a:off x="5550908" y="1863675"/>
              <a:ext cx="1271137" cy="1719236"/>
            </a:xfrm>
            <a:custGeom>
              <a:avLst/>
              <a:gdLst/>
              <a:ahLst/>
              <a:cxnLst/>
              <a:rect l="l" t="t" r="r" b="b"/>
              <a:pathLst>
                <a:path w="28878" h="39058" extrusionOk="0">
                  <a:moveTo>
                    <a:pt x="22824" y="1"/>
                  </a:moveTo>
                  <a:cubicBezTo>
                    <a:pt x="21737" y="1"/>
                    <a:pt x="20384" y="404"/>
                    <a:pt x="18772" y="1613"/>
                  </a:cubicBezTo>
                  <a:cubicBezTo>
                    <a:pt x="14718" y="4654"/>
                    <a:pt x="0" y="19248"/>
                    <a:pt x="3225" y="37330"/>
                  </a:cubicBezTo>
                  <a:cubicBezTo>
                    <a:pt x="3225" y="37330"/>
                    <a:pt x="3456" y="39057"/>
                    <a:pt x="6910" y="39057"/>
                  </a:cubicBezTo>
                  <a:cubicBezTo>
                    <a:pt x="10366" y="39057"/>
                    <a:pt x="10292" y="37215"/>
                    <a:pt x="14993" y="36523"/>
                  </a:cubicBezTo>
                  <a:cubicBezTo>
                    <a:pt x="19693" y="35833"/>
                    <a:pt x="28147" y="35260"/>
                    <a:pt x="28332" y="25814"/>
                  </a:cubicBezTo>
                  <a:cubicBezTo>
                    <a:pt x="28516" y="16367"/>
                    <a:pt x="28877" y="4724"/>
                    <a:pt x="26114" y="1613"/>
                  </a:cubicBezTo>
                  <a:cubicBezTo>
                    <a:pt x="26114" y="1613"/>
                    <a:pt x="25000" y="1"/>
                    <a:pt x="228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7"/>
            <p:cNvSpPr/>
            <p:nvPr/>
          </p:nvSpPr>
          <p:spPr>
            <a:xfrm>
              <a:off x="5781474" y="2929881"/>
              <a:ext cx="1018345" cy="653044"/>
            </a:xfrm>
            <a:custGeom>
              <a:avLst/>
              <a:gdLst/>
              <a:ahLst/>
              <a:cxnLst/>
              <a:rect l="l" t="t" r="r" b="b"/>
              <a:pathLst>
                <a:path w="23135" h="14836" extrusionOk="0">
                  <a:moveTo>
                    <a:pt x="22327" y="0"/>
                  </a:moveTo>
                  <a:cubicBezTo>
                    <a:pt x="20206" y="0"/>
                    <a:pt x="17628" y="496"/>
                    <a:pt x="15952" y="2526"/>
                  </a:cubicBezTo>
                  <a:cubicBezTo>
                    <a:pt x="12793" y="6352"/>
                    <a:pt x="12796" y="11852"/>
                    <a:pt x="1" y="14663"/>
                  </a:cubicBezTo>
                  <a:cubicBezTo>
                    <a:pt x="452" y="14768"/>
                    <a:pt x="999" y="14835"/>
                    <a:pt x="1672" y="14835"/>
                  </a:cubicBezTo>
                  <a:cubicBezTo>
                    <a:pt x="5126" y="14835"/>
                    <a:pt x="5053" y="12993"/>
                    <a:pt x="9755" y="12301"/>
                  </a:cubicBezTo>
                  <a:cubicBezTo>
                    <a:pt x="14456" y="11611"/>
                    <a:pt x="22909" y="11038"/>
                    <a:pt x="23095" y="1590"/>
                  </a:cubicBezTo>
                  <a:cubicBezTo>
                    <a:pt x="23104" y="1075"/>
                    <a:pt x="23119" y="551"/>
                    <a:pt x="23134" y="23"/>
                  </a:cubicBezTo>
                  <a:cubicBezTo>
                    <a:pt x="22875" y="9"/>
                    <a:pt x="22605" y="0"/>
                    <a:pt x="223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7"/>
            <p:cNvSpPr/>
            <p:nvPr/>
          </p:nvSpPr>
          <p:spPr>
            <a:xfrm>
              <a:off x="5856848" y="1489213"/>
              <a:ext cx="2152060" cy="1954993"/>
            </a:xfrm>
            <a:custGeom>
              <a:avLst/>
              <a:gdLst/>
              <a:ahLst/>
              <a:cxnLst/>
              <a:rect l="l" t="t" r="r" b="b"/>
              <a:pathLst>
                <a:path w="48891" h="44414" extrusionOk="0">
                  <a:moveTo>
                    <a:pt x="22227" y="0"/>
                  </a:moveTo>
                  <a:lnTo>
                    <a:pt x="22227" y="141"/>
                  </a:lnTo>
                  <a:lnTo>
                    <a:pt x="21821" y="141"/>
                  </a:lnTo>
                  <a:lnTo>
                    <a:pt x="22227" y="3556"/>
                  </a:lnTo>
                  <a:lnTo>
                    <a:pt x="22227" y="16699"/>
                  </a:lnTo>
                  <a:cubicBezTo>
                    <a:pt x="22227" y="16699"/>
                    <a:pt x="21997" y="20962"/>
                    <a:pt x="18080" y="22228"/>
                  </a:cubicBezTo>
                  <a:cubicBezTo>
                    <a:pt x="17401" y="22447"/>
                    <a:pt x="16664" y="22630"/>
                    <a:pt x="15903" y="22814"/>
                  </a:cubicBezTo>
                  <a:cubicBezTo>
                    <a:pt x="16775" y="22002"/>
                    <a:pt x="17428" y="20863"/>
                    <a:pt x="16732" y="19480"/>
                  </a:cubicBezTo>
                  <a:cubicBezTo>
                    <a:pt x="16370" y="18761"/>
                    <a:pt x="16101" y="18055"/>
                    <a:pt x="15902" y="17380"/>
                  </a:cubicBezTo>
                  <a:cubicBezTo>
                    <a:pt x="17140" y="16454"/>
                    <a:pt x="17383" y="14824"/>
                    <a:pt x="17104" y="14077"/>
                  </a:cubicBezTo>
                  <a:cubicBezTo>
                    <a:pt x="16707" y="13018"/>
                    <a:pt x="16114" y="11758"/>
                    <a:pt x="16114" y="11758"/>
                  </a:cubicBezTo>
                  <a:lnTo>
                    <a:pt x="16114" y="11758"/>
                  </a:lnTo>
                  <a:cubicBezTo>
                    <a:pt x="16114" y="11758"/>
                    <a:pt x="16325" y="12508"/>
                    <a:pt x="16826" y="13900"/>
                  </a:cubicBezTo>
                  <a:cubicBezTo>
                    <a:pt x="17207" y="14963"/>
                    <a:pt x="16193" y="16078"/>
                    <a:pt x="15688" y="16548"/>
                  </a:cubicBezTo>
                  <a:cubicBezTo>
                    <a:pt x="15039" y="13615"/>
                    <a:pt x="15660" y="11417"/>
                    <a:pt x="15660" y="11417"/>
                  </a:cubicBezTo>
                  <a:lnTo>
                    <a:pt x="15660" y="11417"/>
                  </a:lnTo>
                  <a:cubicBezTo>
                    <a:pt x="15659" y="11418"/>
                    <a:pt x="14293" y="15584"/>
                    <a:pt x="15387" y="18002"/>
                  </a:cubicBezTo>
                  <a:cubicBezTo>
                    <a:pt x="15480" y="18206"/>
                    <a:pt x="15570" y="18400"/>
                    <a:pt x="15656" y="18588"/>
                  </a:cubicBezTo>
                  <a:cubicBezTo>
                    <a:pt x="15063" y="18417"/>
                    <a:pt x="13616" y="17880"/>
                    <a:pt x="13550" y="16707"/>
                  </a:cubicBezTo>
                  <a:cubicBezTo>
                    <a:pt x="13464" y="15229"/>
                    <a:pt x="13299" y="14304"/>
                    <a:pt x="13299" y="14304"/>
                  </a:cubicBezTo>
                  <a:cubicBezTo>
                    <a:pt x="13299" y="14304"/>
                    <a:pt x="13248" y="15695"/>
                    <a:pt x="13299" y="16825"/>
                  </a:cubicBezTo>
                  <a:cubicBezTo>
                    <a:pt x="13338" y="17676"/>
                    <a:pt x="14325" y="19224"/>
                    <a:pt x="16026" y="19452"/>
                  </a:cubicBezTo>
                  <a:cubicBezTo>
                    <a:pt x="16591" y="20975"/>
                    <a:pt x="16309" y="22032"/>
                    <a:pt x="12742" y="23679"/>
                  </a:cubicBezTo>
                  <a:cubicBezTo>
                    <a:pt x="11710" y="24034"/>
                    <a:pt x="10703" y="24491"/>
                    <a:pt x="9790" y="25145"/>
                  </a:cubicBezTo>
                  <a:cubicBezTo>
                    <a:pt x="9507" y="24922"/>
                    <a:pt x="8675" y="24341"/>
                    <a:pt x="7602" y="24213"/>
                  </a:cubicBezTo>
                  <a:cubicBezTo>
                    <a:pt x="7695" y="23766"/>
                    <a:pt x="7791" y="22778"/>
                    <a:pt x="6909" y="22471"/>
                  </a:cubicBezTo>
                  <a:cubicBezTo>
                    <a:pt x="6758" y="22417"/>
                    <a:pt x="6611" y="22371"/>
                    <a:pt x="6469" y="22325"/>
                  </a:cubicBezTo>
                  <a:cubicBezTo>
                    <a:pt x="6765" y="21549"/>
                    <a:pt x="6448" y="20729"/>
                    <a:pt x="6117" y="20446"/>
                  </a:cubicBezTo>
                  <a:cubicBezTo>
                    <a:pt x="5628" y="20030"/>
                    <a:pt x="4987" y="19570"/>
                    <a:pt x="4987" y="19570"/>
                  </a:cubicBezTo>
                  <a:lnTo>
                    <a:pt x="4987" y="19570"/>
                  </a:lnTo>
                  <a:cubicBezTo>
                    <a:pt x="4987" y="19570"/>
                    <a:pt x="5298" y="19884"/>
                    <a:pt x="5930" y="20435"/>
                  </a:cubicBezTo>
                  <a:cubicBezTo>
                    <a:pt x="6474" y="20912"/>
                    <a:pt x="6155" y="21911"/>
                    <a:pt x="6055" y="22182"/>
                  </a:cubicBezTo>
                  <a:cubicBezTo>
                    <a:pt x="5312" y="21905"/>
                    <a:pt x="4674" y="21494"/>
                    <a:pt x="3915" y="20053"/>
                  </a:cubicBezTo>
                  <a:lnTo>
                    <a:pt x="3915" y="20053"/>
                  </a:lnTo>
                  <a:cubicBezTo>
                    <a:pt x="3915" y="20053"/>
                    <a:pt x="4550" y="22069"/>
                    <a:pt x="5788" y="22761"/>
                  </a:cubicBezTo>
                  <a:cubicBezTo>
                    <a:pt x="7022" y="23450"/>
                    <a:pt x="7029" y="23341"/>
                    <a:pt x="6972" y="24196"/>
                  </a:cubicBezTo>
                  <a:cubicBezTo>
                    <a:pt x="6460" y="24228"/>
                    <a:pt x="5912" y="24378"/>
                    <a:pt x="5355" y="24718"/>
                  </a:cubicBezTo>
                  <a:cubicBezTo>
                    <a:pt x="2994" y="26157"/>
                    <a:pt x="2825" y="29430"/>
                    <a:pt x="1" y="29782"/>
                  </a:cubicBezTo>
                  <a:cubicBezTo>
                    <a:pt x="1" y="29782"/>
                    <a:pt x="108" y="29796"/>
                    <a:pt x="291" y="29796"/>
                  </a:cubicBezTo>
                  <a:cubicBezTo>
                    <a:pt x="878" y="29796"/>
                    <a:pt x="2241" y="29649"/>
                    <a:pt x="3339" y="28413"/>
                  </a:cubicBezTo>
                  <a:cubicBezTo>
                    <a:pt x="3610" y="28108"/>
                    <a:pt x="3863" y="27747"/>
                    <a:pt x="4119" y="27377"/>
                  </a:cubicBezTo>
                  <a:lnTo>
                    <a:pt x="4119" y="27377"/>
                  </a:lnTo>
                  <a:cubicBezTo>
                    <a:pt x="4384" y="27788"/>
                    <a:pt x="4287" y="27825"/>
                    <a:pt x="3723" y="28754"/>
                  </a:cubicBezTo>
                  <a:cubicBezTo>
                    <a:pt x="3093" y="29791"/>
                    <a:pt x="3441" y="31484"/>
                    <a:pt x="3441" y="31484"/>
                  </a:cubicBezTo>
                  <a:cubicBezTo>
                    <a:pt x="3416" y="30135"/>
                    <a:pt x="3718" y="29562"/>
                    <a:pt x="4152" y="29036"/>
                  </a:cubicBezTo>
                  <a:cubicBezTo>
                    <a:pt x="4332" y="29180"/>
                    <a:pt x="4972" y="29739"/>
                    <a:pt x="4763" y="30316"/>
                  </a:cubicBezTo>
                  <a:cubicBezTo>
                    <a:pt x="4523" y="30985"/>
                    <a:pt x="4420" y="31343"/>
                    <a:pt x="4420" y="31343"/>
                  </a:cubicBezTo>
                  <a:cubicBezTo>
                    <a:pt x="4420" y="31343"/>
                    <a:pt x="4706" y="30733"/>
                    <a:pt x="4896" y="30226"/>
                  </a:cubicBezTo>
                  <a:cubicBezTo>
                    <a:pt x="5025" y="29880"/>
                    <a:pt x="4927" y="29164"/>
                    <a:pt x="4399" y="28752"/>
                  </a:cubicBezTo>
                  <a:cubicBezTo>
                    <a:pt x="4483" y="28657"/>
                    <a:pt x="4572" y="28558"/>
                    <a:pt x="4663" y="28452"/>
                  </a:cubicBezTo>
                  <a:cubicBezTo>
                    <a:pt x="5199" y="27826"/>
                    <a:pt x="4691" y="27158"/>
                    <a:pt x="4448" y="26902"/>
                  </a:cubicBezTo>
                  <a:cubicBezTo>
                    <a:pt x="5132" y="25938"/>
                    <a:pt x="5896" y="25045"/>
                    <a:pt x="7117" y="25045"/>
                  </a:cubicBezTo>
                  <a:cubicBezTo>
                    <a:pt x="7676" y="25045"/>
                    <a:pt x="8330" y="25232"/>
                    <a:pt x="9115" y="25683"/>
                  </a:cubicBezTo>
                  <a:cubicBezTo>
                    <a:pt x="7984" y="26685"/>
                    <a:pt x="7043" y="28070"/>
                    <a:pt x="6451" y="30057"/>
                  </a:cubicBezTo>
                  <a:cubicBezTo>
                    <a:pt x="4492" y="36621"/>
                    <a:pt x="1960" y="40882"/>
                    <a:pt x="1" y="41689"/>
                  </a:cubicBezTo>
                  <a:cubicBezTo>
                    <a:pt x="1" y="41689"/>
                    <a:pt x="3856" y="40379"/>
                    <a:pt x="6900" y="32527"/>
                  </a:cubicBezTo>
                  <a:cubicBezTo>
                    <a:pt x="8685" y="34285"/>
                    <a:pt x="8607" y="35270"/>
                    <a:pt x="7905" y="36490"/>
                  </a:cubicBezTo>
                  <a:cubicBezTo>
                    <a:pt x="7858" y="36487"/>
                    <a:pt x="7811" y="36486"/>
                    <a:pt x="7765" y="36486"/>
                  </a:cubicBezTo>
                  <a:cubicBezTo>
                    <a:pt x="6361" y="36486"/>
                    <a:pt x="5271" y="37760"/>
                    <a:pt x="5064" y="38557"/>
                  </a:cubicBezTo>
                  <a:cubicBezTo>
                    <a:pt x="4781" y="39651"/>
                    <a:pt x="4528" y="41019"/>
                    <a:pt x="4528" y="41019"/>
                  </a:cubicBezTo>
                  <a:cubicBezTo>
                    <a:pt x="4528" y="41019"/>
                    <a:pt x="4863" y="40147"/>
                    <a:pt x="5250" y="38720"/>
                  </a:cubicBezTo>
                  <a:cubicBezTo>
                    <a:pt x="5558" y="37587"/>
                    <a:pt x="6880" y="37326"/>
                    <a:pt x="7413" y="37266"/>
                  </a:cubicBezTo>
                  <a:lnTo>
                    <a:pt x="7413" y="37266"/>
                  </a:lnTo>
                  <a:cubicBezTo>
                    <a:pt x="7301" y="37433"/>
                    <a:pt x="7184" y="37607"/>
                    <a:pt x="7063" y="37790"/>
                  </a:cubicBezTo>
                  <a:cubicBezTo>
                    <a:pt x="5631" y="39953"/>
                    <a:pt x="5887" y="44274"/>
                    <a:pt x="5887" y="44274"/>
                  </a:cubicBezTo>
                  <a:cubicBezTo>
                    <a:pt x="5887" y="44274"/>
                    <a:pt x="5836" y="42012"/>
                    <a:pt x="7004" y="39267"/>
                  </a:cubicBezTo>
                  <a:cubicBezTo>
                    <a:pt x="7325" y="39818"/>
                    <a:pt x="7936" y="41093"/>
                    <a:pt x="7392" y="42061"/>
                  </a:cubicBezTo>
                  <a:cubicBezTo>
                    <a:pt x="6677" y="43331"/>
                    <a:pt x="6339" y="44023"/>
                    <a:pt x="6339" y="44023"/>
                  </a:cubicBezTo>
                  <a:cubicBezTo>
                    <a:pt x="6339" y="44023"/>
                    <a:pt x="7103" y="42902"/>
                    <a:pt x="7662" y="41939"/>
                  </a:cubicBezTo>
                  <a:cubicBezTo>
                    <a:pt x="8054" y="41262"/>
                    <a:pt x="8198" y="39624"/>
                    <a:pt x="7359" y="38494"/>
                  </a:cubicBezTo>
                  <a:cubicBezTo>
                    <a:pt x="7669" y="37869"/>
                    <a:pt x="8045" y="37230"/>
                    <a:pt x="8502" y="36594"/>
                  </a:cubicBezTo>
                  <a:cubicBezTo>
                    <a:pt x="10038" y="34449"/>
                    <a:pt x="7953" y="32278"/>
                    <a:pt x="7232" y="31629"/>
                  </a:cubicBezTo>
                  <a:cubicBezTo>
                    <a:pt x="7478" y="30945"/>
                    <a:pt x="7716" y="30216"/>
                    <a:pt x="7943" y="29438"/>
                  </a:cubicBezTo>
                  <a:cubicBezTo>
                    <a:pt x="8341" y="28082"/>
                    <a:pt x="9280" y="26599"/>
                    <a:pt x="11414" y="25827"/>
                  </a:cubicBezTo>
                  <a:lnTo>
                    <a:pt x="11414" y="25827"/>
                  </a:lnTo>
                  <a:cubicBezTo>
                    <a:pt x="11091" y="26230"/>
                    <a:pt x="10785" y="26689"/>
                    <a:pt x="10633" y="27123"/>
                  </a:cubicBezTo>
                  <a:cubicBezTo>
                    <a:pt x="9451" y="28146"/>
                    <a:pt x="9340" y="29810"/>
                    <a:pt x="9680" y="30537"/>
                  </a:cubicBezTo>
                  <a:cubicBezTo>
                    <a:pt x="10163" y="31561"/>
                    <a:pt x="10858" y="32766"/>
                    <a:pt x="10858" y="32766"/>
                  </a:cubicBezTo>
                  <a:cubicBezTo>
                    <a:pt x="10858" y="32766"/>
                    <a:pt x="10587" y="32035"/>
                    <a:pt x="9972" y="30690"/>
                  </a:cubicBezTo>
                  <a:cubicBezTo>
                    <a:pt x="9563" y="29791"/>
                    <a:pt x="10219" y="28763"/>
                    <a:pt x="10699" y="28178"/>
                  </a:cubicBezTo>
                  <a:cubicBezTo>
                    <a:pt x="10808" y="28327"/>
                    <a:pt x="10977" y="28455"/>
                    <a:pt x="11216" y="28556"/>
                  </a:cubicBezTo>
                  <a:cubicBezTo>
                    <a:pt x="14315" y="29850"/>
                    <a:pt x="14434" y="32384"/>
                    <a:pt x="14434" y="32384"/>
                  </a:cubicBezTo>
                  <a:cubicBezTo>
                    <a:pt x="14434" y="32384"/>
                    <a:pt x="14472" y="29514"/>
                    <a:pt x="12823" y="28723"/>
                  </a:cubicBezTo>
                  <a:cubicBezTo>
                    <a:pt x="11495" y="28086"/>
                    <a:pt x="10537" y="27823"/>
                    <a:pt x="12038" y="26027"/>
                  </a:cubicBezTo>
                  <a:lnTo>
                    <a:pt x="12038" y="26027"/>
                  </a:lnTo>
                  <a:cubicBezTo>
                    <a:pt x="12209" y="26050"/>
                    <a:pt x="14337" y="26364"/>
                    <a:pt x="14536" y="27770"/>
                  </a:cubicBezTo>
                  <a:cubicBezTo>
                    <a:pt x="14745" y="29235"/>
                    <a:pt x="14984" y="30143"/>
                    <a:pt x="14984" y="30143"/>
                  </a:cubicBezTo>
                  <a:cubicBezTo>
                    <a:pt x="14984" y="30143"/>
                    <a:pt x="14920" y="28752"/>
                    <a:pt x="14777" y="27630"/>
                  </a:cubicBezTo>
                  <a:cubicBezTo>
                    <a:pt x="14691" y="26964"/>
                    <a:pt x="13980" y="25912"/>
                    <a:pt x="12841" y="25455"/>
                  </a:cubicBezTo>
                  <a:cubicBezTo>
                    <a:pt x="13460" y="25348"/>
                    <a:pt x="14152" y="25289"/>
                    <a:pt x="14926" y="25289"/>
                  </a:cubicBezTo>
                  <a:cubicBezTo>
                    <a:pt x="15855" y="25289"/>
                    <a:pt x="16903" y="25374"/>
                    <a:pt x="18083" y="25563"/>
                  </a:cubicBezTo>
                  <a:cubicBezTo>
                    <a:pt x="18567" y="25641"/>
                    <a:pt x="19121" y="25720"/>
                    <a:pt x="19702" y="25720"/>
                  </a:cubicBezTo>
                  <a:cubicBezTo>
                    <a:pt x="21453" y="25720"/>
                    <a:pt x="23440" y="24998"/>
                    <a:pt x="24426" y="21334"/>
                  </a:cubicBezTo>
                  <a:cubicBezTo>
                    <a:pt x="25400" y="25121"/>
                    <a:pt x="27414" y="25861"/>
                    <a:pt x="29188" y="25861"/>
                  </a:cubicBezTo>
                  <a:cubicBezTo>
                    <a:pt x="29769" y="25861"/>
                    <a:pt x="30324" y="25782"/>
                    <a:pt x="30808" y="25704"/>
                  </a:cubicBezTo>
                  <a:cubicBezTo>
                    <a:pt x="31989" y="25515"/>
                    <a:pt x="33036" y="25429"/>
                    <a:pt x="33966" y="25429"/>
                  </a:cubicBezTo>
                  <a:cubicBezTo>
                    <a:pt x="34739" y="25429"/>
                    <a:pt x="35430" y="25488"/>
                    <a:pt x="36048" y="25595"/>
                  </a:cubicBezTo>
                  <a:cubicBezTo>
                    <a:pt x="34910" y="26052"/>
                    <a:pt x="34200" y="27104"/>
                    <a:pt x="34114" y="27770"/>
                  </a:cubicBezTo>
                  <a:cubicBezTo>
                    <a:pt x="33969" y="28892"/>
                    <a:pt x="33908" y="30283"/>
                    <a:pt x="33908" y="30283"/>
                  </a:cubicBezTo>
                  <a:cubicBezTo>
                    <a:pt x="33908" y="30283"/>
                    <a:pt x="34147" y="29375"/>
                    <a:pt x="34355" y="27910"/>
                  </a:cubicBezTo>
                  <a:cubicBezTo>
                    <a:pt x="34554" y="26502"/>
                    <a:pt x="36682" y="26188"/>
                    <a:pt x="36852" y="26167"/>
                  </a:cubicBezTo>
                  <a:lnTo>
                    <a:pt x="36852" y="26167"/>
                  </a:lnTo>
                  <a:cubicBezTo>
                    <a:pt x="38352" y="27960"/>
                    <a:pt x="37397" y="28226"/>
                    <a:pt x="36068" y="28863"/>
                  </a:cubicBezTo>
                  <a:cubicBezTo>
                    <a:pt x="34416" y="29654"/>
                    <a:pt x="34457" y="32524"/>
                    <a:pt x="34457" y="32524"/>
                  </a:cubicBezTo>
                  <a:cubicBezTo>
                    <a:pt x="34457" y="32524"/>
                    <a:pt x="34575" y="29990"/>
                    <a:pt x="37674" y="28697"/>
                  </a:cubicBezTo>
                  <a:cubicBezTo>
                    <a:pt x="37915" y="28596"/>
                    <a:pt x="38082" y="28469"/>
                    <a:pt x="38191" y="28319"/>
                  </a:cubicBezTo>
                  <a:cubicBezTo>
                    <a:pt x="38672" y="28905"/>
                    <a:pt x="39325" y="29931"/>
                    <a:pt x="38916" y="30830"/>
                  </a:cubicBezTo>
                  <a:cubicBezTo>
                    <a:pt x="38303" y="32177"/>
                    <a:pt x="38031" y="32907"/>
                    <a:pt x="38031" y="32907"/>
                  </a:cubicBezTo>
                  <a:cubicBezTo>
                    <a:pt x="38031" y="32907"/>
                    <a:pt x="38726" y="31702"/>
                    <a:pt x="39208" y="30678"/>
                  </a:cubicBezTo>
                  <a:cubicBezTo>
                    <a:pt x="39550" y="29952"/>
                    <a:pt x="39437" y="28289"/>
                    <a:pt x="38257" y="27266"/>
                  </a:cubicBezTo>
                  <a:cubicBezTo>
                    <a:pt x="38104" y="26832"/>
                    <a:pt x="37800" y="26375"/>
                    <a:pt x="37477" y="25969"/>
                  </a:cubicBezTo>
                  <a:lnTo>
                    <a:pt x="37477" y="25969"/>
                  </a:lnTo>
                  <a:cubicBezTo>
                    <a:pt x="39611" y="26742"/>
                    <a:pt x="40548" y="28223"/>
                    <a:pt x="40947" y="29579"/>
                  </a:cubicBezTo>
                  <a:cubicBezTo>
                    <a:pt x="41176" y="30356"/>
                    <a:pt x="41414" y="31086"/>
                    <a:pt x="41657" y="31769"/>
                  </a:cubicBezTo>
                  <a:cubicBezTo>
                    <a:pt x="40939" y="32418"/>
                    <a:pt x="38852" y="34589"/>
                    <a:pt x="40389" y="36734"/>
                  </a:cubicBezTo>
                  <a:cubicBezTo>
                    <a:pt x="40844" y="37370"/>
                    <a:pt x="41220" y="38009"/>
                    <a:pt x="41531" y="38634"/>
                  </a:cubicBezTo>
                  <a:cubicBezTo>
                    <a:pt x="40693" y="39764"/>
                    <a:pt x="40837" y="41402"/>
                    <a:pt x="41229" y="42080"/>
                  </a:cubicBezTo>
                  <a:cubicBezTo>
                    <a:pt x="41785" y="43042"/>
                    <a:pt x="42551" y="44165"/>
                    <a:pt x="42551" y="44165"/>
                  </a:cubicBezTo>
                  <a:cubicBezTo>
                    <a:pt x="42551" y="44165"/>
                    <a:pt x="42215" y="43471"/>
                    <a:pt x="41499" y="42202"/>
                  </a:cubicBezTo>
                  <a:cubicBezTo>
                    <a:pt x="40954" y="41233"/>
                    <a:pt x="41565" y="39958"/>
                    <a:pt x="41886" y="39407"/>
                  </a:cubicBezTo>
                  <a:cubicBezTo>
                    <a:pt x="43055" y="42152"/>
                    <a:pt x="43005" y="44414"/>
                    <a:pt x="43005" y="44414"/>
                  </a:cubicBezTo>
                  <a:cubicBezTo>
                    <a:pt x="43005" y="44414"/>
                    <a:pt x="43259" y="40091"/>
                    <a:pt x="41828" y="37929"/>
                  </a:cubicBezTo>
                  <a:cubicBezTo>
                    <a:pt x="41708" y="37747"/>
                    <a:pt x="41590" y="37572"/>
                    <a:pt x="41478" y="37405"/>
                  </a:cubicBezTo>
                  <a:lnTo>
                    <a:pt x="41478" y="37405"/>
                  </a:lnTo>
                  <a:cubicBezTo>
                    <a:pt x="42011" y="37465"/>
                    <a:pt x="43334" y="37725"/>
                    <a:pt x="43641" y="38859"/>
                  </a:cubicBezTo>
                  <a:cubicBezTo>
                    <a:pt x="44029" y="40286"/>
                    <a:pt x="44363" y="41158"/>
                    <a:pt x="44363" y="41158"/>
                  </a:cubicBezTo>
                  <a:cubicBezTo>
                    <a:pt x="44363" y="41158"/>
                    <a:pt x="44110" y="39790"/>
                    <a:pt x="43825" y="38696"/>
                  </a:cubicBezTo>
                  <a:cubicBezTo>
                    <a:pt x="43620" y="37899"/>
                    <a:pt x="42531" y="36625"/>
                    <a:pt x="41127" y="36625"/>
                  </a:cubicBezTo>
                  <a:cubicBezTo>
                    <a:pt x="41081" y="36625"/>
                    <a:pt x="41034" y="36626"/>
                    <a:pt x="40986" y="36629"/>
                  </a:cubicBezTo>
                  <a:cubicBezTo>
                    <a:pt x="40283" y="35410"/>
                    <a:pt x="40207" y="34424"/>
                    <a:pt x="41991" y="32665"/>
                  </a:cubicBezTo>
                  <a:cubicBezTo>
                    <a:pt x="45035" y="40517"/>
                    <a:pt x="48891" y="41827"/>
                    <a:pt x="48891" y="41827"/>
                  </a:cubicBezTo>
                  <a:cubicBezTo>
                    <a:pt x="46929" y="41025"/>
                    <a:pt x="44396" y="36765"/>
                    <a:pt x="42439" y="30200"/>
                  </a:cubicBezTo>
                  <a:cubicBezTo>
                    <a:pt x="41847" y="28213"/>
                    <a:pt x="40906" y="26829"/>
                    <a:pt x="39772" y="25828"/>
                  </a:cubicBezTo>
                  <a:cubicBezTo>
                    <a:pt x="40558" y="25376"/>
                    <a:pt x="41213" y="25189"/>
                    <a:pt x="41771" y="25189"/>
                  </a:cubicBezTo>
                  <a:cubicBezTo>
                    <a:pt x="42992" y="25189"/>
                    <a:pt x="43756" y="26081"/>
                    <a:pt x="44439" y="27045"/>
                  </a:cubicBezTo>
                  <a:cubicBezTo>
                    <a:pt x="44197" y="27303"/>
                    <a:pt x="43688" y="27970"/>
                    <a:pt x="44224" y="28596"/>
                  </a:cubicBezTo>
                  <a:cubicBezTo>
                    <a:pt x="44314" y="28701"/>
                    <a:pt x="44404" y="28800"/>
                    <a:pt x="44490" y="28896"/>
                  </a:cubicBezTo>
                  <a:cubicBezTo>
                    <a:pt x="43959" y="29306"/>
                    <a:pt x="43859" y="30022"/>
                    <a:pt x="43990" y="30369"/>
                  </a:cubicBezTo>
                  <a:cubicBezTo>
                    <a:pt x="44182" y="30876"/>
                    <a:pt x="44466" y="31486"/>
                    <a:pt x="44466" y="31486"/>
                  </a:cubicBezTo>
                  <a:cubicBezTo>
                    <a:pt x="44466" y="31486"/>
                    <a:pt x="44365" y="31128"/>
                    <a:pt x="44125" y="30458"/>
                  </a:cubicBezTo>
                  <a:cubicBezTo>
                    <a:pt x="43915" y="29881"/>
                    <a:pt x="44553" y="29322"/>
                    <a:pt x="44735" y="29179"/>
                  </a:cubicBezTo>
                  <a:cubicBezTo>
                    <a:pt x="45169" y="29703"/>
                    <a:pt x="45472" y="30277"/>
                    <a:pt x="45447" y="31626"/>
                  </a:cubicBezTo>
                  <a:cubicBezTo>
                    <a:pt x="45447" y="31626"/>
                    <a:pt x="45794" y="29933"/>
                    <a:pt x="45165" y="28895"/>
                  </a:cubicBezTo>
                  <a:cubicBezTo>
                    <a:pt x="44602" y="27966"/>
                    <a:pt x="44505" y="27930"/>
                    <a:pt x="44771" y="27518"/>
                  </a:cubicBezTo>
                  <a:lnTo>
                    <a:pt x="44771" y="27518"/>
                  </a:lnTo>
                  <a:cubicBezTo>
                    <a:pt x="45026" y="27888"/>
                    <a:pt x="45279" y="28249"/>
                    <a:pt x="45549" y="28555"/>
                  </a:cubicBezTo>
                  <a:cubicBezTo>
                    <a:pt x="46647" y="29791"/>
                    <a:pt x="48013" y="29937"/>
                    <a:pt x="48599" y="29937"/>
                  </a:cubicBezTo>
                  <a:cubicBezTo>
                    <a:pt x="48782" y="29937"/>
                    <a:pt x="48889" y="29923"/>
                    <a:pt x="48889" y="29923"/>
                  </a:cubicBezTo>
                  <a:cubicBezTo>
                    <a:pt x="46064" y="29573"/>
                    <a:pt x="45896" y="26300"/>
                    <a:pt x="43535" y="24860"/>
                  </a:cubicBezTo>
                  <a:cubicBezTo>
                    <a:pt x="42976" y="24520"/>
                    <a:pt x="42429" y="24369"/>
                    <a:pt x="41918" y="24338"/>
                  </a:cubicBezTo>
                  <a:cubicBezTo>
                    <a:pt x="41861" y="23484"/>
                    <a:pt x="41867" y="23593"/>
                    <a:pt x="43102" y="22904"/>
                  </a:cubicBezTo>
                  <a:cubicBezTo>
                    <a:pt x="44340" y="22212"/>
                    <a:pt x="44973" y="20197"/>
                    <a:pt x="44973" y="20196"/>
                  </a:cubicBezTo>
                  <a:lnTo>
                    <a:pt x="44973" y="20196"/>
                  </a:lnTo>
                  <a:cubicBezTo>
                    <a:pt x="44214" y="21639"/>
                    <a:pt x="43576" y="22049"/>
                    <a:pt x="42833" y="22327"/>
                  </a:cubicBezTo>
                  <a:cubicBezTo>
                    <a:pt x="42733" y="22055"/>
                    <a:pt x="42413" y="21056"/>
                    <a:pt x="42959" y="20580"/>
                  </a:cubicBezTo>
                  <a:cubicBezTo>
                    <a:pt x="43590" y="20028"/>
                    <a:pt x="43902" y="19714"/>
                    <a:pt x="43902" y="19714"/>
                  </a:cubicBezTo>
                  <a:lnTo>
                    <a:pt x="43902" y="19714"/>
                  </a:lnTo>
                  <a:cubicBezTo>
                    <a:pt x="43902" y="19714"/>
                    <a:pt x="43260" y="20175"/>
                    <a:pt x="42771" y="20590"/>
                  </a:cubicBezTo>
                  <a:cubicBezTo>
                    <a:pt x="42441" y="20873"/>
                    <a:pt x="42123" y="21694"/>
                    <a:pt x="42418" y="22469"/>
                  </a:cubicBezTo>
                  <a:cubicBezTo>
                    <a:pt x="42276" y="22515"/>
                    <a:pt x="42130" y="22564"/>
                    <a:pt x="41978" y="22615"/>
                  </a:cubicBezTo>
                  <a:cubicBezTo>
                    <a:pt x="41096" y="22924"/>
                    <a:pt x="41193" y="23911"/>
                    <a:pt x="41288" y="24358"/>
                  </a:cubicBezTo>
                  <a:cubicBezTo>
                    <a:pt x="40212" y="24486"/>
                    <a:pt x="39382" y="25069"/>
                    <a:pt x="39098" y="25291"/>
                  </a:cubicBezTo>
                  <a:cubicBezTo>
                    <a:pt x="38185" y="24637"/>
                    <a:pt x="37181" y="24179"/>
                    <a:pt x="36150" y="23825"/>
                  </a:cubicBezTo>
                  <a:cubicBezTo>
                    <a:pt x="32578" y="22177"/>
                    <a:pt x="32298" y="21119"/>
                    <a:pt x="32864" y="19595"/>
                  </a:cubicBezTo>
                  <a:cubicBezTo>
                    <a:pt x="34565" y="19368"/>
                    <a:pt x="35550" y="17821"/>
                    <a:pt x="35590" y="16969"/>
                  </a:cubicBezTo>
                  <a:cubicBezTo>
                    <a:pt x="35641" y="15838"/>
                    <a:pt x="35590" y="14448"/>
                    <a:pt x="35590" y="14448"/>
                  </a:cubicBezTo>
                  <a:cubicBezTo>
                    <a:pt x="35590" y="14448"/>
                    <a:pt x="35426" y="15372"/>
                    <a:pt x="35338" y="16850"/>
                  </a:cubicBezTo>
                  <a:cubicBezTo>
                    <a:pt x="35271" y="18024"/>
                    <a:pt x="33825" y="18560"/>
                    <a:pt x="33233" y="18731"/>
                  </a:cubicBezTo>
                  <a:cubicBezTo>
                    <a:pt x="33319" y="18544"/>
                    <a:pt x="33409" y="18349"/>
                    <a:pt x="33501" y="18145"/>
                  </a:cubicBezTo>
                  <a:cubicBezTo>
                    <a:pt x="34595" y="15728"/>
                    <a:pt x="33228" y="11560"/>
                    <a:pt x="33228" y="11559"/>
                  </a:cubicBezTo>
                  <a:lnTo>
                    <a:pt x="33228" y="11559"/>
                  </a:lnTo>
                  <a:cubicBezTo>
                    <a:pt x="33228" y="11560"/>
                    <a:pt x="33849" y="13759"/>
                    <a:pt x="33200" y="16689"/>
                  </a:cubicBezTo>
                  <a:cubicBezTo>
                    <a:pt x="32695" y="16218"/>
                    <a:pt x="31680" y="15104"/>
                    <a:pt x="32062" y="14041"/>
                  </a:cubicBezTo>
                  <a:cubicBezTo>
                    <a:pt x="32562" y="12649"/>
                    <a:pt x="32772" y="11900"/>
                    <a:pt x="32772" y="11900"/>
                  </a:cubicBezTo>
                  <a:lnTo>
                    <a:pt x="32772" y="11900"/>
                  </a:lnTo>
                  <a:cubicBezTo>
                    <a:pt x="32772" y="11900"/>
                    <a:pt x="32178" y="13160"/>
                    <a:pt x="31783" y="14218"/>
                  </a:cubicBezTo>
                  <a:cubicBezTo>
                    <a:pt x="31504" y="14965"/>
                    <a:pt x="31746" y="16595"/>
                    <a:pt x="32984" y="17521"/>
                  </a:cubicBezTo>
                  <a:cubicBezTo>
                    <a:pt x="32785" y="18198"/>
                    <a:pt x="32515" y="18903"/>
                    <a:pt x="32154" y="19621"/>
                  </a:cubicBezTo>
                  <a:cubicBezTo>
                    <a:pt x="31459" y="21005"/>
                    <a:pt x="32112" y="22144"/>
                    <a:pt x="32984" y="22956"/>
                  </a:cubicBezTo>
                  <a:cubicBezTo>
                    <a:pt x="32223" y="22771"/>
                    <a:pt x="31487" y="22590"/>
                    <a:pt x="30805" y="22370"/>
                  </a:cubicBezTo>
                  <a:cubicBezTo>
                    <a:pt x="26890" y="21103"/>
                    <a:pt x="26659" y="16843"/>
                    <a:pt x="26659" y="16843"/>
                  </a:cubicBezTo>
                  <a:lnTo>
                    <a:pt x="26659" y="3407"/>
                  </a:lnTo>
                  <a:lnTo>
                    <a:pt x="270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7"/>
            <p:cNvSpPr/>
            <p:nvPr/>
          </p:nvSpPr>
          <p:spPr>
            <a:xfrm>
              <a:off x="6803443" y="1572099"/>
              <a:ext cx="258867" cy="53305"/>
            </a:xfrm>
            <a:custGeom>
              <a:avLst/>
              <a:gdLst/>
              <a:ahLst/>
              <a:cxnLst/>
              <a:rect l="l" t="t" r="r" b="b"/>
              <a:pathLst>
                <a:path w="5881" h="1211" extrusionOk="0">
                  <a:moveTo>
                    <a:pt x="605" y="0"/>
                  </a:moveTo>
                  <a:cubicBezTo>
                    <a:pt x="272" y="0"/>
                    <a:pt x="0" y="271"/>
                    <a:pt x="0" y="605"/>
                  </a:cubicBezTo>
                  <a:cubicBezTo>
                    <a:pt x="0" y="939"/>
                    <a:pt x="272" y="1210"/>
                    <a:pt x="605" y="1210"/>
                  </a:cubicBezTo>
                  <a:lnTo>
                    <a:pt x="5277" y="1210"/>
                  </a:lnTo>
                  <a:cubicBezTo>
                    <a:pt x="5610" y="1210"/>
                    <a:pt x="5881" y="939"/>
                    <a:pt x="5881" y="605"/>
                  </a:cubicBezTo>
                  <a:cubicBezTo>
                    <a:pt x="5881" y="271"/>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7"/>
            <p:cNvSpPr/>
            <p:nvPr/>
          </p:nvSpPr>
          <p:spPr>
            <a:xfrm>
              <a:off x="6803443" y="1715069"/>
              <a:ext cx="258867" cy="53261"/>
            </a:xfrm>
            <a:custGeom>
              <a:avLst/>
              <a:gdLst/>
              <a:ahLst/>
              <a:cxnLst/>
              <a:rect l="l" t="t" r="r" b="b"/>
              <a:pathLst>
                <a:path w="5881" h="1210" extrusionOk="0">
                  <a:moveTo>
                    <a:pt x="605" y="0"/>
                  </a:moveTo>
                  <a:cubicBezTo>
                    <a:pt x="272" y="0"/>
                    <a:pt x="0" y="270"/>
                    <a:pt x="0" y="605"/>
                  </a:cubicBezTo>
                  <a:cubicBezTo>
                    <a:pt x="0" y="939"/>
                    <a:pt x="272" y="1209"/>
                    <a:pt x="605" y="1209"/>
                  </a:cubicBezTo>
                  <a:lnTo>
                    <a:pt x="5277" y="1209"/>
                  </a:lnTo>
                  <a:cubicBezTo>
                    <a:pt x="5610" y="1209"/>
                    <a:pt x="5881" y="939"/>
                    <a:pt x="5881" y="605"/>
                  </a:cubicBezTo>
                  <a:cubicBezTo>
                    <a:pt x="5881" y="272"/>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7"/>
            <p:cNvSpPr/>
            <p:nvPr/>
          </p:nvSpPr>
          <p:spPr>
            <a:xfrm>
              <a:off x="6803443" y="1876176"/>
              <a:ext cx="258867" cy="53393"/>
            </a:xfrm>
            <a:custGeom>
              <a:avLst/>
              <a:gdLst/>
              <a:ahLst/>
              <a:cxnLst/>
              <a:rect l="l" t="t" r="r" b="b"/>
              <a:pathLst>
                <a:path w="5881" h="1213" extrusionOk="0">
                  <a:moveTo>
                    <a:pt x="605" y="1"/>
                  </a:moveTo>
                  <a:cubicBezTo>
                    <a:pt x="272" y="1"/>
                    <a:pt x="0" y="273"/>
                    <a:pt x="0" y="607"/>
                  </a:cubicBezTo>
                  <a:cubicBezTo>
                    <a:pt x="0" y="941"/>
                    <a:pt x="272" y="1212"/>
                    <a:pt x="605" y="1212"/>
                  </a:cubicBezTo>
                  <a:lnTo>
                    <a:pt x="5277" y="1212"/>
                  </a:lnTo>
                  <a:cubicBezTo>
                    <a:pt x="5610" y="1212"/>
                    <a:pt x="5881" y="941"/>
                    <a:pt x="5881" y="607"/>
                  </a:cubicBezTo>
                  <a:cubicBezTo>
                    <a:pt x="5881" y="273"/>
                    <a:pt x="5610" y="2"/>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7"/>
            <p:cNvSpPr/>
            <p:nvPr/>
          </p:nvSpPr>
          <p:spPr>
            <a:xfrm>
              <a:off x="6803443" y="2028390"/>
              <a:ext cx="258867" cy="53217"/>
            </a:xfrm>
            <a:custGeom>
              <a:avLst/>
              <a:gdLst/>
              <a:ahLst/>
              <a:cxnLst/>
              <a:rect l="l" t="t" r="r" b="b"/>
              <a:pathLst>
                <a:path w="5881" h="1209" extrusionOk="0">
                  <a:moveTo>
                    <a:pt x="605" y="1"/>
                  </a:moveTo>
                  <a:cubicBezTo>
                    <a:pt x="272" y="1"/>
                    <a:pt x="0" y="270"/>
                    <a:pt x="0" y="605"/>
                  </a:cubicBezTo>
                  <a:cubicBezTo>
                    <a:pt x="0" y="939"/>
                    <a:pt x="272" y="1209"/>
                    <a:pt x="605" y="1209"/>
                  </a:cubicBezTo>
                  <a:lnTo>
                    <a:pt x="5277" y="1209"/>
                  </a:lnTo>
                  <a:cubicBezTo>
                    <a:pt x="5610" y="1209"/>
                    <a:pt x="5881" y="939"/>
                    <a:pt x="5881" y="605"/>
                  </a:cubicBezTo>
                  <a:cubicBezTo>
                    <a:pt x="5881" y="270"/>
                    <a:pt x="5610" y="1"/>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7"/>
            <p:cNvSpPr/>
            <p:nvPr/>
          </p:nvSpPr>
          <p:spPr>
            <a:xfrm>
              <a:off x="7386419" y="2521966"/>
              <a:ext cx="254465" cy="279819"/>
            </a:xfrm>
            <a:custGeom>
              <a:avLst/>
              <a:gdLst/>
              <a:ahLst/>
              <a:cxnLst/>
              <a:rect l="l" t="t" r="r" b="b"/>
              <a:pathLst>
                <a:path w="5781" h="6357" extrusionOk="0">
                  <a:moveTo>
                    <a:pt x="2780" y="0"/>
                  </a:moveTo>
                  <a:cubicBezTo>
                    <a:pt x="2532" y="0"/>
                    <a:pt x="2280" y="60"/>
                    <a:pt x="2093" y="178"/>
                  </a:cubicBezTo>
                  <a:cubicBezTo>
                    <a:pt x="1762" y="388"/>
                    <a:pt x="1496" y="453"/>
                    <a:pt x="1278" y="453"/>
                  </a:cubicBezTo>
                  <a:cubicBezTo>
                    <a:pt x="918" y="453"/>
                    <a:pt x="690" y="275"/>
                    <a:pt x="524" y="275"/>
                  </a:cubicBezTo>
                  <a:cubicBezTo>
                    <a:pt x="436" y="275"/>
                    <a:pt x="365" y="324"/>
                    <a:pt x="301" y="476"/>
                  </a:cubicBezTo>
                  <a:cubicBezTo>
                    <a:pt x="0" y="1183"/>
                    <a:pt x="796" y="1521"/>
                    <a:pt x="796" y="1521"/>
                  </a:cubicBezTo>
                  <a:cubicBezTo>
                    <a:pt x="796" y="1521"/>
                    <a:pt x="938" y="1465"/>
                    <a:pt x="1074" y="1465"/>
                  </a:cubicBezTo>
                  <a:cubicBezTo>
                    <a:pt x="1315" y="1465"/>
                    <a:pt x="1537" y="1641"/>
                    <a:pt x="910" y="2617"/>
                  </a:cubicBezTo>
                  <a:cubicBezTo>
                    <a:pt x="107" y="3861"/>
                    <a:pt x="1793" y="5030"/>
                    <a:pt x="2432" y="5801"/>
                  </a:cubicBezTo>
                  <a:cubicBezTo>
                    <a:pt x="2738" y="6170"/>
                    <a:pt x="3266" y="6357"/>
                    <a:pt x="3794" y="6357"/>
                  </a:cubicBezTo>
                  <a:cubicBezTo>
                    <a:pt x="4372" y="6357"/>
                    <a:pt x="4949" y="6133"/>
                    <a:pt x="5232" y="5677"/>
                  </a:cubicBezTo>
                  <a:cubicBezTo>
                    <a:pt x="5781" y="4793"/>
                    <a:pt x="5180" y="4094"/>
                    <a:pt x="4263" y="3861"/>
                  </a:cubicBezTo>
                  <a:cubicBezTo>
                    <a:pt x="3342" y="3626"/>
                    <a:pt x="4926" y="3219"/>
                    <a:pt x="4791" y="2440"/>
                  </a:cubicBezTo>
                  <a:cubicBezTo>
                    <a:pt x="4581" y="1231"/>
                    <a:pt x="2921" y="2111"/>
                    <a:pt x="3547" y="1062"/>
                  </a:cubicBezTo>
                  <a:cubicBezTo>
                    <a:pt x="3970" y="352"/>
                    <a:pt x="3385" y="0"/>
                    <a:pt x="2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p:cNvSpPr/>
            <p:nvPr/>
          </p:nvSpPr>
          <p:spPr>
            <a:xfrm>
              <a:off x="7164436" y="2698478"/>
              <a:ext cx="307462" cy="239411"/>
            </a:xfrm>
            <a:custGeom>
              <a:avLst/>
              <a:gdLst/>
              <a:ahLst/>
              <a:cxnLst/>
              <a:rect l="l" t="t" r="r" b="b"/>
              <a:pathLst>
                <a:path w="6985" h="5439" extrusionOk="0">
                  <a:moveTo>
                    <a:pt x="5731" y="0"/>
                  </a:moveTo>
                  <a:cubicBezTo>
                    <a:pt x="5568" y="0"/>
                    <a:pt x="5322" y="74"/>
                    <a:pt x="5070" y="422"/>
                  </a:cubicBezTo>
                  <a:cubicBezTo>
                    <a:pt x="4569" y="1123"/>
                    <a:pt x="4660" y="3201"/>
                    <a:pt x="3686" y="3926"/>
                  </a:cubicBezTo>
                  <a:cubicBezTo>
                    <a:pt x="3211" y="4279"/>
                    <a:pt x="2780" y="4385"/>
                    <a:pt x="2400" y="4385"/>
                  </a:cubicBezTo>
                  <a:cubicBezTo>
                    <a:pt x="2000" y="4385"/>
                    <a:pt x="1656" y="4268"/>
                    <a:pt x="1372" y="4195"/>
                  </a:cubicBezTo>
                  <a:cubicBezTo>
                    <a:pt x="820" y="4051"/>
                    <a:pt x="661" y="3748"/>
                    <a:pt x="330" y="3700"/>
                  </a:cubicBezTo>
                  <a:cubicBezTo>
                    <a:pt x="310" y="3697"/>
                    <a:pt x="291" y="3695"/>
                    <a:pt x="273" y="3695"/>
                  </a:cubicBezTo>
                  <a:cubicBezTo>
                    <a:pt x="1" y="3695"/>
                    <a:pt x="18" y="4052"/>
                    <a:pt x="801" y="4456"/>
                  </a:cubicBezTo>
                  <a:cubicBezTo>
                    <a:pt x="1118" y="4621"/>
                    <a:pt x="2355" y="5438"/>
                    <a:pt x="3518" y="5438"/>
                  </a:cubicBezTo>
                  <a:cubicBezTo>
                    <a:pt x="3818" y="5438"/>
                    <a:pt x="4113" y="5384"/>
                    <a:pt x="4386" y="5250"/>
                  </a:cubicBezTo>
                  <a:cubicBezTo>
                    <a:pt x="6130" y="4394"/>
                    <a:pt x="6985" y="474"/>
                    <a:pt x="5924" y="40"/>
                  </a:cubicBezTo>
                  <a:cubicBezTo>
                    <a:pt x="5924" y="40"/>
                    <a:pt x="5850" y="0"/>
                    <a:pt x="5731"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7"/>
            <p:cNvSpPr/>
            <p:nvPr/>
          </p:nvSpPr>
          <p:spPr>
            <a:xfrm>
              <a:off x="7294025" y="3091912"/>
              <a:ext cx="322648" cy="472616"/>
            </a:xfrm>
            <a:custGeom>
              <a:avLst/>
              <a:gdLst/>
              <a:ahLst/>
              <a:cxnLst/>
              <a:rect l="l" t="t" r="r" b="b"/>
              <a:pathLst>
                <a:path w="7330" h="10737" extrusionOk="0">
                  <a:moveTo>
                    <a:pt x="3001" y="92"/>
                  </a:moveTo>
                  <a:cubicBezTo>
                    <a:pt x="2956" y="357"/>
                    <a:pt x="2923" y="624"/>
                    <a:pt x="2899" y="888"/>
                  </a:cubicBezTo>
                  <a:lnTo>
                    <a:pt x="2899" y="888"/>
                  </a:lnTo>
                  <a:cubicBezTo>
                    <a:pt x="2951" y="923"/>
                    <a:pt x="3003" y="957"/>
                    <a:pt x="3056" y="993"/>
                  </a:cubicBezTo>
                  <a:lnTo>
                    <a:pt x="3056" y="993"/>
                  </a:lnTo>
                  <a:cubicBezTo>
                    <a:pt x="3034" y="677"/>
                    <a:pt x="3016" y="376"/>
                    <a:pt x="3001" y="92"/>
                  </a:cubicBezTo>
                  <a:close/>
                  <a:moveTo>
                    <a:pt x="768" y="0"/>
                  </a:moveTo>
                  <a:cubicBezTo>
                    <a:pt x="290" y="0"/>
                    <a:pt x="0" y="283"/>
                    <a:pt x="45" y="980"/>
                  </a:cubicBezTo>
                  <a:cubicBezTo>
                    <a:pt x="218" y="3627"/>
                    <a:pt x="1111" y="7742"/>
                    <a:pt x="1236" y="9969"/>
                  </a:cubicBezTo>
                  <a:cubicBezTo>
                    <a:pt x="1246" y="10123"/>
                    <a:pt x="1267" y="10152"/>
                    <a:pt x="753" y="10283"/>
                  </a:cubicBezTo>
                  <a:cubicBezTo>
                    <a:pt x="163" y="10431"/>
                    <a:pt x="605" y="10736"/>
                    <a:pt x="1512" y="10736"/>
                  </a:cubicBezTo>
                  <a:cubicBezTo>
                    <a:pt x="1523" y="10736"/>
                    <a:pt x="1534" y="10736"/>
                    <a:pt x="1545" y="10736"/>
                  </a:cubicBezTo>
                  <a:cubicBezTo>
                    <a:pt x="2420" y="10728"/>
                    <a:pt x="2810" y="6561"/>
                    <a:pt x="2895" y="4355"/>
                  </a:cubicBezTo>
                  <a:cubicBezTo>
                    <a:pt x="2918" y="3826"/>
                    <a:pt x="2762" y="2393"/>
                    <a:pt x="2899" y="888"/>
                  </a:cubicBezTo>
                  <a:lnTo>
                    <a:pt x="2899" y="888"/>
                  </a:lnTo>
                  <a:cubicBezTo>
                    <a:pt x="2089" y="360"/>
                    <a:pt x="1308" y="0"/>
                    <a:pt x="768" y="0"/>
                  </a:cubicBezTo>
                  <a:close/>
                  <a:moveTo>
                    <a:pt x="3056" y="993"/>
                  </a:moveTo>
                  <a:cubicBezTo>
                    <a:pt x="3085" y="1413"/>
                    <a:pt x="3120" y="1859"/>
                    <a:pt x="3163" y="2330"/>
                  </a:cubicBezTo>
                  <a:cubicBezTo>
                    <a:pt x="3386" y="4743"/>
                    <a:pt x="6012" y="7907"/>
                    <a:pt x="6210" y="9936"/>
                  </a:cubicBezTo>
                  <a:cubicBezTo>
                    <a:pt x="6225" y="10094"/>
                    <a:pt x="6206" y="10153"/>
                    <a:pt x="5744" y="10310"/>
                  </a:cubicBezTo>
                  <a:cubicBezTo>
                    <a:pt x="5301" y="10460"/>
                    <a:pt x="5700" y="10736"/>
                    <a:pt x="6443" y="10736"/>
                  </a:cubicBezTo>
                  <a:cubicBezTo>
                    <a:pt x="6471" y="10736"/>
                    <a:pt x="6500" y="10736"/>
                    <a:pt x="6530" y="10735"/>
                  </a:cubicBezTo>
                  <a:cubicBezTo>
                    <a:pt x="7330" y="10713"/>
                    <a:pt x="6841" y="6512"/>
                    <a:pt x="6425" y="4543"/>
                  </a:cubicBezTo>
                  <a:cubicBezTo>
                    <a:pt x="6244" y="3688"/>
                    <a:pt x="4621" y="2051"/>
                    <a:pt x="3056" y="993"/>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7"/>
            <p:cNvSpPr/>
            <p:nvPr/>
          </p:nvSpPr>
          <p:spPr>
            <a:xfrm>
              <a:off x="7279279" y="2919229"/>
              <a:ext cx="330395" cy="585785"/>
            </a:xfrm>
            <a:custGeom>
              <a:avLst/>
              <a:gdLst/>
              <a:ahLst/>
              <a:cxnLst/>
              <a:rect l="l" t="t" r="r" b="b"/>
              <a:pathLst>
                <a:path w="7506" h="13308" extrusionOk="0">
                  <a:moveTo>
                    <a:pt x="1233" y="1"/>
                  </a:moveTo>
                  <a:cubicBezTo>
                    <a:pt x="867" y="851"/>
                    <a:pt x="409" y="2665"/>
                    <a:pt x="207" y="4904"/>
                  </a:cubicBezTo>
                  <a:cubicBezTo>
                    <a:pt x="0" y="7232"/>
                    <a:pt x="1364" y="12828"/>
                    <a:pt x="1391" y="13064"/>
                  </a:cubicBezTo>
                  <a:cubicBezTo>
                    <a:pt x="1609" y="13243"/>
                    <a:pt x="1862" y="13307"/>
                    <a:pt x="2102" y="13307"/>
                  </a:cubicBezTo>
                  <a:cubicBezTo>
                    <a:pt x="2446" y="13307"/>
                    <a:pt x="2762" y="13175"/>
                    <a:pt x="2906" y="13064"/>
                  </a:cubicBezTo>
                  <a:cubicBezTo>
                    <a:pt x="3636" y="9393"/>
                    <a:pt x="3219" y="5649"/>
                    <a:pt x="3345" y="4886"/>
                  </a:cubicBezTo>
                  <a:lnTo>
                    <a:pt x="3345" y="4886"/>
                  </a:lnTo>
                  <a:cubicBezTo>
                    <a:pt x="3381" y="5547"/>
                    <a:pt x="2993" y="7803"/>
                    <a:pt x="6370" y="13064"/>
                  </a:cubicBezTo>
                  <a:cubicBezTo>
                    <a:pt x="6573" y="13064"/>
                    <a:pt x="6805" y="13004"/>
                    <a:pt x="7505" y="12724"/>
                  </a:cubicBezTo>
                  <a:cubicBezTo>
                    <a:pt x="7344" y="11546"/>
                    <a:pt x="5974" y="2971"/>
                    <a:pt x="5740" y="683"/>
                  </a:cubicBezTo>
                  <a:cubicBezTo>
                    <a:pt x="5350" y="774"/>
                    <a:pt x="4722" y="905"/>
                    <a:pt x="4005" y="905"/>
                  </a:cubicBezTo>
                  <a:cubicBezTo>
                    <a:pt x="3125" y="905"/>
                    <a:pt x="2110" y="708"/>
                    <a:pt x="12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7"/>
            <p:cNvSpPr/>
            <p:nvPr/>
          </p:nvSpPr>
          <p:spPr>
            <a:xfrm>
              <a:off x="7299659" y="3542349"/>
              <a:ext cx="84734" cy="24738"/>
            </a:xfrm>
            <a:custGeom>
              <a:avLst/>
              <a:gdLst/>
              <a:ahLst/>
              <a:cxnLst/>
              <a:rect l="l" t="t" r="r" b="b"/>
              <a:pathLst>
                <a:path w="1925" h="562" extrusionOk="0">
                  <a:moveTo>
                    <a:pt x="785" y="1"/>
                  </a:moveTo>
                  <a:cubicBezTo>
                    <a:pt x="785" y="1"/>
                    <a:pt x="0" y="129"/>
                    <a:pt x="491" y="359"/>
                  </a:cubicBezTo>
                  <a:cubicBezTo>
                    <a:pt x="717" y="465"/>
                    <a:pt x="1039" y="562"/>
                    <a:pt x="1318" y="562"/>
                  </a:cubicBezTo>
                  <a:cubicBezTo>
                    <a:pt x="1651" y="562"/>
                    <a:pt x="1924" y="425"/>
                    <a:pt x="1909" y="1"/>
                  </a:cubicBezTo>
                  <a:lnTo>
                    <a:pt x="1909" y="1"/>
                  </a:lnTo>
                  <a:cubicBezTo>
                    <a:pt x="1909" y="1"/>
                    <a:pt x="1599" y="149"/>
                    <a:pt x="1266" y="149"/>
                  </a:cubicBezTo>
                  <a:cubicBezTo>
                    <a:pt x="1100" y="149"/>
                    <a:pt x="928" y="112"/>
                    <a:pt x="7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p:cNvSpPr/>
            <p:nvPr/>
          </p:nvSpPr>
          <p:spPr>
            <a:xfrm>
              <a:off x="7512311" y="3545695"/>
              <a:ext cx="84778" cy="24738"/>
            </a:xfrm>
            <a:custGeom>
              <a:avLst/>
              <a:gdLst/>
              <a:ahLst/>
              <a:cxnLst/>
              <a:rect l="l" t="t" r="r" b="b"/>
              <a:pathLst>
                <a:path w="1926" h="562" extrusionOk="0">
                  <a:moveTo>
                    <a:pt x="784" y="1"/>
                  </a:moveTo>
                  <a:cubicBezTo>
                    <a:pt x="784" y="1"/>
                    <a:pt x="1" y="130"/>
                    <a:pt x="496" y="359"/>
                  </a:cubicBezTo>
                  <a:cubicBezTo>
                    <a:pt x="721" y="465"/>
                    <a:pt x="1041" y="562"/>
                    <a:pt x="1320" y="562"/>
                  </a:cubicBezTo>
                  <a:cubicBezTo>
                    <a:pt x="1652" y="562"/>
                    <a:pt x="1926" y="424"/>
                    <a:pt x="1910" y="1"/>
                  </a:cubicBezTo>
                  <a:lnTo>
                    <a:pt x="1910" y="1"/>
                  </a:lnTo>
                  <a:cubicBezTo>
                    <a:pt x="1910" y="1"/>
                    <a:pt x="1601" y="149"/>
                    <a:pt x="1267" y="149"/>
                  </a:cubicBezTo>
                  <a:cubicBezTo>
                    <a:pt x="1100" y="149"/>
                    <a:pt x="927" y="112"/>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7"/>
            <p:cNvSpPr/>
            <p:nvPr/>
          </p:nvSpPr>
          <p:spPr>
            <a:xfrm>
              <a:off x="7328315" y="2691919"/>
              <a:ext cx="195702" cy="252484"/>
            </a:xfrm>
            <a:custGeom>
              <a:avLst/>
              <a:gdLst/>
              <a:ahLst/>
              <a:cxnLst/>
              <a:rect l="l" t="t" r="r" b="b"/>
              <a:pathLst>
                <a:path w="4446" h="5736" extrusionOk="0">
                  <a:moveTo>
                    <a:pt x="2828" y="0"/>
                  </a:moveTo>
                  <a:cubicBezTo>
                    <a:pt x="2187" y="0"/>
                    <a:pt x="1340" y="439"/>
                    <a:pt x="791" y="1164"/>
                  </a:cubicBezTo>
                  <a:cubicBezTo>
                    <a:pt x="1" y="2209"/>
                    <a:pt x="362" y="2274"/>
                    <a:pt x="470" y="3232"/>
                  </a:cubicBezTo>
                  <a:cubicBezTo>
                    <a:pt x="695" y="5238"/>
                    <a:pt x="194" y="5449"/>
                    <a:pt x="194" y="5449"/>
                  </a:cubicBezTo>
                  <a:lnTo>
                    <a:pt x="4241" y="5735"/>
                  </a:lnTo>
                  <a:cubicBezTo>
                    <a:pt x="3521" y="4387"/>
                    <a:pt x="3976" y="3751"/>
                    <a:pt x="4026" y="3220"/>
                  </a:cubicBezTo>
                  <a:cubicBezTo>
                    <a:pt x="4109" y="2304"/>
                    <a:pt x="4446" y="1653"/>
                    <a:pt x="3563" y="336"/>
                  </a:cubicBezTo>
                  <a:cubicBezTo>
                    <a:pt x="3408" y="106"/>
                    <a:pt x="3142" y="0"/>
                    <a:pt x="28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7"/>
            <p:cNvSpPr/>
            <p:nvPr/>
          </p:nvSpPr>
          <p:spPr>
            <a:xfrm>
              <a:off x="7307230" y="2701691"/>
              <a:ext cx="222773" cy="265337"/>
            </a:xfrm>
            <a:custGeom>
              <a:avLst/>
              <a:gdLst/>
              <a:ahLst/>
              <a:cxnLst/>
              <a:rect l="l" t="t" r="r" b="b"/>
              <a:pathLst>
                <a:path w="5061" h="6028" extrusionOk="0">
                  <a:moveTo>
                    <a:pt x="3723" y="1"/>
                  </a:moveTo>
                  <a:cubicBezTo>
                    <a:pt x="3723" y="1"/>
                    <a:pt x="3105" y="51"/>
                    <a:pt x="2552" y="833"/>
                  </a:cubicBezTo>
                  <a:cubicBezTo>
                    <a:pt x="2218" y="1305"/>
                    <a:pt x="1847" y="1426"/>
                    <a:pt x="1553" y="1426"/>
                  </a:cubicBezTo>
                  <a:cubicBezTo>
                    <a:pt x="1244" y="1426"/>
                    <a:pt x="1022" y="1292"/>
                    <a:pt x="1022" y="1292"/>
                  </a:cubicBezTo>
                  <a:cubicBezTo>
                    <a:pt x="1" y="2258"/>
                    <a:pt x="456" y="5292"/>
                    <a:pt x="456" y="5292"/>
                  </a:cubicBezTo>
                  <a:cubicBezTo>
                    <a:pt x="1246" y="5864"/>
                    <a:pt x="2208" y="6027"/>
                    <a:pt x="3048" y="6027"/>
                  </a:cubicBezTo>
                  <a:cubicBezTo>
                    <a:pt x="4161" y="6027"/>
                    <a:pt x="5060" y="5741"/>
                    <a:pt x="5060" y="5741"/>
                  </a:cubicBezTo>
                  <a:lnTo>
                    <a:pt x="4725" y="796"/>
                  </a:lnTo>
                  <a:cubicBezTo>
                    <a:pt x="4725" y="796"/>
                    <a:pt x="4614" y="460"/>
                    <a:pt x="4280" y="195"/>
                  </a:cubicBezTo>
                  <a:cubicBezTo>
                    <a:pt x="4081" y="34"/>
                    <a:pt x="3723" y="1"/>
                    <a:pt x="37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p:cNvSpPr/>
            <p:nvPr/>
          </p:nvSpPr>
          <p:spPr>
            <a:xfrm>
              <a:off x="7362517" y="2717230"/>
              <a:ext cx="171580" cy="250636"/>
            </a:xfrm>
            <a:custGeom>
              <a:avLst/>
              <a:gdLst/>
              <a:ahLst/>
              <a:cxnLst/>
              <a:rect l="l" t="t" r="r" b="b"/>
              <a:pathLst>
                <a:path w="3898" h="5694" extrusionOk="0">
                  <a:moveTo>
                    <a:pt x="2532" y="0"/>
                  </a:moveTo>
                  <a:cubicBezTo>
                    <a:pt x="2532" y="0"/>
                    <a:pt x="1565" y="1260"/>
                    <a:pt x="1762" y="1938"/>
                  </a:cubicBezTo>
                  <a:cubicBezTo>
                    <a:pt x="1945" y="2570"/>
                    <a:pt x="1496" y="3205"/>
                    <a:pt x="829" y="3205"/>
                  </a:cubicBezTo>
                  <a:cubicBezTo>
                    <a:pt x="783" y="3205"/>
                    <a:pt x="736" y="3202"/>
                    <a:pt x="688" y="3195"/>
                  </a:cubicBezTo>
                  <a:cubicBezTo>
                    <a:pt x="629" y="3188"/>
                    <a:pt x="578" y="3185"/>
                    <a:pt x="533" y="3185"/>
                  </a:cubicBezTo>
                  <a:cubicBezTo>
                    <a:pt x="1" y="3185"/>
                    <a:pt x="351" y="3653"/>
                    <a:pt x="1071" y="3673"/>
                  </a:cubicBezTo>
                  <a:cubicBezTo>
                    <a:pt x="1852" y="3695"/>
                    <a:pt x="2433" y="4443"/>
                    <a:pt x="1763" y="4486"/>
                  </a:cubicBezTo>
                  <a:cubicBezTo>
                    <a:pt x="1178" y="4525"/>
                    <a:pt x="242" y="5399"/>
                    <a:pt x="730" y="5485"/>
                  </a:cubicBezTo>
                  <a:cubicBezTo>
                    <a:pt x="1586" y="5638"/>
                    <a:pt x="2208" y="5693"/>
                    <a:pt x="2659" y="5693"/>
                  </a:cubicBezTo>
                  <a:cubicBezTo>
                    <a:pt x="3898" y="5693"/>
                    <a:pt x="3849" y="5272"/>
                    <a:pt x="3849" y="5272"/>
                  </a:cubicBezTo>
                  <a:lnTo>
                    <a:pt x="3469" y="444"/>
                  </a:lnTo>
                  <a:cubicBezTo>
                    <a:pt x="3469" y="444"/>
                    <a:pt x="3463" y="431"/>
                    <a:pt x="3456" y="410"/>
                  </a:cubicBezTo>
                  <a:lnTo>
                    <a:pt x="2532" y="0"/>
                  </a:lnTo>
                  <a:close/>
                </a:path>
              </a:pathLst>
            </a:custGeom>
            <a:solidFill>
              <a:srgbClr val="787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7"/>
            <p:cNvSpPr/>
            <p:nvPr/>
          </p:nvSpPr>
          <p:spPr>
            <a:xfrm>
              <a:off x="7310400" y="2697818"/>
              <a:ext cx="289943" cy="629142"/>
            </a:xfrm>
            <a:custGeom>
              <a:avLst/>
              <a:gdLst/>
              <a:ahLst/>
              <a:cxnLst/>
              <a:rect l="l" t="t" r="r" b="b"/>
              <a:pathLst>
                <a:path w="6587" h="14293" extrusionOk="0">
                  <a:moveTo>
                    <a:pt x="3753" y="1"/>
                  </a:moveTo>
                  <a:cubicBezTo>
                    <a:pt x="3496" y="1"/>
                    <a:pt x="3142" y="158"/>
                    <a:pt x="2635" y="722"/>
                  </a:cubicBezTo>
                  <a:cubicBezTo>
                    <a:pt x="2412" y="972"/>
                    <a:pt x="2004" y="1513"/>
                    <a:pt x="1547" y="1513"/>
                  </a:cubicBezTo>
                  <a:cubicBezTo>
                    <a:pt x="1539" y="1513"/>
                    <a:pt x="1531" y="1513"/>
                    <a:pt x="1523" y="1512"/>
                  </a:cubicBezTo>
                  <a:cubicBezTo>
                    <a:pt x="1523" y="1512"/>
                    <a:pt x="1" y="10498"/>
                    <a:pt x="1458" y="14174"/>
                  </a:cubicBezTo>
                  <a:cubicBezTo>
                    <a:pt x="1458" y="14174"/>
                    <a:pt x="2268" y="14292"/>
                    <a:pt x="3277" y="14292"/>
                  </a:cubicBezTo>
                  <a:cubicBezTo>
                    <a:pt x="4420" y="14292"/>
                    <a:pt x="5819" y="14140"/>
                    <a:pt x="6586" y="13492"/>
                  </a:cubicBezTo>
                  <a:cubicBezTo>
                    <a:pt x="6586" y="13492"/>
                    <a:pt x="5742" y="1236"/>
                    <a:pt x="4213" y="179"/>
                  </a:cubicBezTo>
                  <a:cubicBezTo>
                    <a:pt x="4105" y="105"/>
                    <a:pt x="3961" y="1"/>
                    <a:pt x="3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7"/>
            <p:cNvSpPr/>
            <p:nvPr/>
          </p:nvSpPr>
          <p:spPr>
            <a:xfrm>
              <a:off x="7279807" y="2696057"/>
              <a:ext cx="146534" cy="594676"/>
            </a:xfrm>
            <a:custGeom>
              <a:avLst/>
              <a:gdLst/>
              <a:ahLst/>
              <a:cxnLst/>
              <a:rect l="l" t="t" r="r" b="b"/>
              <a:pathLst>
                <a:path w="3329" h="13510" extrusionOk="0">
                  <a:moveTo>
                    <a:pt x="3242" y="0"/>
                  </a:moveTo>
                  <a:cubicBezTo>
                    <a:pt x="3085" y="0"/>
                    <a:pt x="2709" y="93"/>
                    <a:pt x="2050" y="770"/>
                  </a:cubicBezTo>
                  <a:cubicBezTo>
                    <a:pt x="1775" y="1052"/>
                    <a:pt x="1733" y="1150"/>
                    <a:pt x="1479" y="1509"/>
                  </a:cubicBezTo>
                  <a:cubicBezTo>
                    <a:pt x="176" y="3777"/>
                    <a:pt x="2" y="13192"/>
                    <a:pt x="0" y="13192"/>
                  </a:cubicBezTo>
                  <a:cubicBezTo>
                    <a:pt x="0" y="13192"/>
                    <a:pt x="0" y="13192"/>
                    <a:pt x="0" y="13192"/>
                  </a:cubicBezTo>
                  <a:lnTo>
                    <a:pt x="0" y="13192"/>
                  </a:lnTo>
                  <a:lnTo>
                    <a:pt x="810" y="13510"/>
                  </a:lnTo>
                  <a:cubicBezTo>
                    <a:pt x="810" y="13510"/>
                    <a:pt x="1158" y="4429"/>
                    <a:pt x="1978" y="1534"/>
                  </a:cubicBezTo>
                  <a:cubicBezTo>
                    <a:pt x="2102" y="1095"/>
                    <a:pt x="2606" y="506"/>
                    <a:pt x="3329" y="14"/>
                  </a:cubicBezTo>
                  <a:cubicBezTo>
                    <a:pt x="3329" y="14"/>
                    <a:pt x="3301" y="0"/>
                    <a:pt x="32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7"/>
            <p:cNvSpPr/>
            <p:nvPr/>
          </p:nvSpPr>
          <p:spPr>
            <a:xfrm>
              <a:off x="7411025" y="2612247"/>
              <a:ext cx="74214" cy="105598"/>
            </a:xfrm>
            <a:custGeom>
              <a:avLst/>
              <a:gdLst/>
              <a:ahLst/>
              <a:cxnLst/>
              <a:rect l="l" t="t" r="r" b="b"/>
              <a:pathLst>
                <a:path w="1686" h="2399" extrusionOk="0">
                  <a:moveTo>
                    <a:pt x="1685" y="0"/>
                  </a:moveTo>
                  <a:lnTo>
                    <a:pt x="0" y="998"/>
                  </a:lnTo>
                  <a:cubicBezTo>
                    <a:pt x="294" y="1498"/>
                    <a:pt x="342" y="1744"/>
                    <a:pt x="37" y="2316"/>
                  </a:cubicBezTo>
                  <a:cubicBezTo>
                    <a:pt x="6" y="2374"/>
                    <a:pt x="30" y="2398"/>
                    <a:pt x="90" y="2398"/>
                  </a:cubicBezTo>
                  <a:cubicBezTo>
                    <a:pt x="349" y="2398"/>
                    <a:pt x="1272" y="1942"/>
                    <a:pt x="1214" y="1811"/>
                  </a:cubicBezTo>
                  <a:cubicBezTo>
                    <a:pt x="984" y="1306"/>
                    <a:pt x="1685" y="1"/>
                    <a:pt x="1685"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7"/>
            <p:cNvSpPr/>
            <p:nvPr/>
          </p:nvSpPr>
          <p:spPr>
            <a:xfrm>
              <a:off x="7387035" y="2563871"/>
              <a:ext cx="114490" cy="130996"/>
            </a:xfrm>
            <a:custGeom>
              <a:avLst/>
              <a:gdLst/>
              <a:ahLst/>
              <a:cxnLst/>
              <a:rect l="l" t="t" r="r" b="b"/>
              <a:pathLst>
                <a:path w="2601" h="2976" extrusionOk="0">
                  <a:moveTo>
                    <a:pt x="1540" y="1"/>
                  </a:moveTo>
                  <a:cubicBezTo>
                    <a:pt x="1388" y="1"/>
                    <a:pt x="1225" y="54"/>
                    <a:pt x="1063" y="191"/>
                  </a:cubicBezTo>
                  <a:cubicBezTo>
                    <a:pt x="597" y="589"/>
                    <a:pt x="0" y="2413"/>
                    <a:pt x="440" y="2843"/>
                  </a:cubicBezTo>
                  <a:cubicBezTo>
                    <a:pt x="510" y="2912"/>
                    <a:pt x="668" y="2976"/>
                    <a:pt x="869" y="2976"/>
                  </a:cubicBezTo>
                  <a:cubicBezTo>
                    <a:pt x="1218" y="2976"/>
                    <a:pt x="1696" y="2783"/>
                    <a:pt x="2057" y="2090"/>
                  </a:cubicBezTo>
                  <a:cubicBezTo>
                    <a:pt x="2240" y="1735"/>
                    <a:pt x="2600" y="1155"/>
                    <a:pt x="2305" y="509"/>
                  </a:cubicBezTo>
                  <a:cubicBezTo>
                    <a:pt x="2210" y="303"/>
                    <a:pt x="1904" y="1"/>
                    <a:pt x="1540" y="1"/>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7"/>
            <p:cNvSpPr/>
            <p:nvPr/>
          </p:nvSpPr>
          <p:spPr>
            <a:xfrm>
              <a:off x="7415603" y="2550401"/>
              <a:ext cx="100888" cy="104938"/>
            </a:xfrm>
            <a:custGeom>
              <a:avLst/>
              <a:gdLst/>
              <a:ahLst/>
              <a:cxnLst/>
              <a:rect l="l" t="t" r="r" b="b"/>
              <a:pathLst>
                <a:path w="2292" h="2384" extrusionOk="0">
                  <a:moveTo>
                    <a:pt x="916" y="1"/>
                  </a:moveTo>
                  <a:cubicBezTo>
                    <a:pt x="526" y="1"/>
                    <a:pt x="163" y="191"/>
                    <a:pt x="75" y="557"/>
                  </a:cubicBezTo>
                  <a:cubicBezTo>
                    <a:pt x="20" y="788"/>
                    <a:pt x="1" y="928"/>
                    <a:pt x="463" y="928"/>
                  </a:cubicBezTo>
                  <a:cubicBezTo>
                    <a:pt x="496" y="928"/>
                    <a:pt x="531" y="928"/>
                    <a:pt x="569" y="926"/>
                  </a:cubicBezTo>
                  <a:cubicBezTo>
                    <a:pt x="588" y="926"/>
                    <a:pt x="606" y="925"/>
                    <a:pt x="624" y="925"/>
                  </a:cubicBezTo>
                  <a:cubicBezTo>
                    <a:pt x="1262" y="925"/>
                    <a:pt x="1121" y="1385"/>
                    <a:pt x="1042" y="1545"/>
                  </a:cubicBezTo>
                  <a:cubicBezTo>
                    <a:pt x="805" y="2021"/>
                    <a:pt x="1660" y="1583"/>
                    <a:pt x="1370" y="2154"/>
                  </a:cubicBezTo>
                  <a:cubicBezTo>
                    <a:pt x="1284" y="2323"/>
                    <a:pt x="1295" y="2384"/>
                    <a:pt x="1355" y="2384"/>
                  </a:cubicBezTo>
                  <a:cubicBezTo>
                    <a:pt x="1497" y="2384"/>
                    <a:pt x="1915" y="2039"/>
                    <a:pt x="1963" y="1979"/>
                  </a:cubicBezTo>
                  <a:cubicBezTo>
                    <a:pt x="2036" y="1897"/>
                    <a:pt x="2292" y="1527"/>
                    <a:pt x="1950" y="660"/>
                  </a:cubicBezTo>
                  <a:cubicBezTo>
                    <a:pt x="1774" y="215"/>
                    <a:pt x="1330" y="1"/>
                    <a:pt x="916" y="1"/>
                  </a:cubicBezTo>
                  <a:close/>
                </a:path>
              </a:pathLst>
            </a:custGeom>
            <a:solidFill>
              <a:srgbClr val="353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p:cNvSpPr/>
            <p:nvPr/>
          </p:nvSpPr>
          <p:spPr>
            <a:xfrm>
              <a:off x="6430786" y="2185887"/>
              <a:ext cx="1098501" cy="852619"/>
            </a:xfrm>
            <a:custGeom>
              <a:avLst/>
              <a:gdLst/>
              <a:ahLst/>
              <a:cxnLst/>
              <a:rect l="l" t="t" r="r" b="b"/>
              <a:pathLst>
                <a:path w="24956" h="19370" extrusionOk="0">
                  <a:moveTo>
                    <a:pt x="8758" y="1898"/>
                  </a:moveTo>
                  <a:cubicBezTo>
                    <a:pt x="9175" y="1898"/>
                    <a:pt x="9598" y="1941"/>
                    <a:pt x="10023" y="2030"/>
                  </a:cubicBezTo>
                  <a:cubicBezTo>
                    <a:pt x="13335" y="2724"/>
                    <a:pt x="15456" y="5974"/>
                    <a:pt x="14760" y="9285"/>
                  </a:cubicBezTo>
                  <a:cubicBezTo>
                    <a:pt x="14154" y="12172"/>
                    <a:pt x="11607" y="14154"/>
                    <a:pt x="8770" y="14154"/>
                  </a:cubicBezTo>
                  <a:cubicBezTo>
                    <a:pt x="8353" y="14154"/>
                    <a:pt x="7929" y="14111"/>
                    <a:pt x="7505" y="14022"/>
                  </a:cubicBezTo>
                  <a:cubicBezTo>
                    <a:pt x="4194" y="13326"/>
                    <a:pt x="2074" y="10077"/>
                    <a:pt x="2770" y="6766"/>
                  </a:cubicBezTo>
                  <a:cubicBezTo>
                    <a:pt x="3375" y="3879"/>
                    <a:pt x="5921" y="1898"/>
                    <a:pt x="8758" y="1898"/>
                  </a:cubicBezTo>
                  <a:close/>
                  <a:moveTo>
                    <a:pt x="8758" y="1"/>
                  </a:moveTo>
                  <a:cubicBezTo>
                    <a:pt x="5043" y="1"/>
                    <a:pt x="1706" y="2595"/>
                    <a:pt x="911" y="6376"/>
                  </a:cubicBezTo>
                  <a:cubicBezTo>
                    <a:pt x="0" y="10711"/>
                    <a:pt x="2778" y="14965"/>
                    <a:pt x="7112" y="15877"/>
                  </a:cubicBezTo>
                  <a:cubicBezTo>
                    <a:pt x="7668" y="15994"/>
                    <a:pt x="8223" y="16050"/>
                    <a:pt x="8770" y="16050"/>
                  </a:cubicBezTo>
                  <a:cubicBezTo>
                    <a:pt x="10918" y="16050"/>
                    <a:pt x="12938" y="15182"/>
                    <a:pt x="14414" y="13719"/>
                  </a:cubicBezTo>
                  <a:cubicBezTo>
                    <a:pt x="14451" y="13751"/>
                    <a:pt x="14489" y="13780"/>
                    <a:pt x="14529" y="13808"/>
                  </a:cubicBezTo>
                  <a:lnTo>
                    <a:pt x="16632" y="15264"/>
                  </a:lnTo>
                  <a:cubicBezTo>
                    <a:pt x="16899" y="15448"/>
                    <a:pt x="17204" y="15537"/>
                    <a:pt x="17506" y="15537"/>
                  </a:cubicBezTo>
                  <a:cubicBezTo>
                    <a:pt x="17647" y="15537"/>
                    <a:pt x="17788" y="15518"/>
                    <a:pt x="17923" y="15479"/>
                  </a:cubicBezTo>
                  <a:lnTo>
                    <a:pt x="23287" y="19195"/>
                  </a:lnTo>
                  <a:cubicBezTo>
                    <a:pt x="23456" y="19313"/>
                    <a:pt x="23650" y="19370"/>
                    <a:pt x="23843" y="19370"/>
                  </a:cubicBezTo>
                  <a:cubicBezTo>
                    <a:pt x="24152" y="19370"/>
                    <a:pt x="24456" y="19223"/>
                    <a:pt x="24646" y="18950"/>
                  </a:cubicBezTo>
                  <a:cubicBezTo>
                    <a:pt x="24955" y="18505"/>
                    <a:pt x="24846" y="17898"/>
                    <a:pt x="24402" y="17590"/>
                  </a:cubicBezTo>
                  <a:lnTo>
                    <a:pt x="19038" y="13874"/>
                  </a:lnTo>
                  <a:cubicBezTo>
                    <a:pt x="19001" y="13434"/>
                    <a:pt x="18775" y="13013"/>
                    <a:pt x="18383" y="12742"/>
                  </a:cubicBezTo>
                  <a:lnTo>
                    <a:pt x="16278" y="11286"/>
                  </a:lnTo>
                  <a:cubicBezTo>
                    <a:pt x="16231" y="11254"/>
                    <a:pt x="16184" y="11224"/>
                    <a:pt x="16134" y="11199"/>
                  </a:cubicBezTo>
                  <a:cubicBezTo>
                    <a:pt x="16342" y="10717"/>
                    <a:pt x="16503" y="10209"/>
                    <a:pt x="16615" y="9676"/>
                  </a:cubicBezTo>
                  <a:cubicBezTo>
                    <a:pt x="17526" y="5339"/>
                    <a:pt x="14748" y="1086"/>
                    <a:pt x="10411" y="173"/>
                  </a:cubicBezTo>
                  <a:cubicBezTo>
                    <a:pt x="9856" y="56"/>
                    <a:pt x="9303" y="1"/>
                    <a:pt x="87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7"/>
            <p:cNvSpPr/>
            <p:nvPr/>
          </p:nvSpPr>
          <p:spPr>
            <a:xfrm>
              <a:off x="7257754" y="2709571"/>
              <a:ext cx="265866" cy="219471"/>
            </a:xfrm>
            <a:custGeom>
              <a:avLst/>
              <a:gdLst/>
              <a:ahLst/>
              <a:cxnLst/>
              <a:rect l="l" t="t" r="r" b="b"/>
              <a:pathLst>
                <a:path w="6040" h="4986" extrusionOk="0">
                  <a:moveTo>
                    <a:pt x="4928" y="0"/>
                  </a:moveTo>
                  <a:cubicBezTo>
                    <a:pt x="4784" y="0"/>
                    <a:pt x="4552" y="66"/>
                    <a:pt x="4334" y="416"/>
                  </a:cubicBezTo>
                  <a:cubicBezTo>
                    <a:pt x="3928" y="1071"/>
                    <a:pt x="4128" y="2919"/>
                    <a:pt x="3304" y="3621"/>
                  </a:cubicBezTo>
                  <a:cubicBezTo>
                    <a:pt x="2850" y="4007"/>
                    <a:pt x="2429" y="4111"/>
                    <a:pt x="2058" y="4111"/>
                  </a:cubicBezTo>
                  <a:cubicBezTo>
                    <a:pt x="1754" y="4111"/>
                    <a:pt x="1483" y="4040"/>
                    <a:pt x="1256" y="3998"/>
                  </a:cubicBezTo>
                  <a:cubicBezTo>
                    <a:pt x="754" y="3901"/>
                    <a:pt x="596" y="3640"/>
                    <a:pt x="298" y="3617"/>
                  </a:cubicBezTo>
                  <a:cubicBezTo>
                    <a:pt x="288" y="3616"/>
                    <a:pt x="278" y="3616"/>
                    <a:pt x="269" y="3616"/>
                  </a:cubicBezTo>
                  <a:cubicBezTo>
                    <a:pt x="1" y="3616"/>
                    <a:pt x="17" y="3941"/>
                    <a:pt x="760" y="4264"/>
                  </a:cubicBezTo>
                  <a:cubicBezTo>
                    <a:pt x="1040" y="4386"/>
                    <a:pt x="2094" y="4985"/>
                    <a:pt x="3088" y="4985"/>
                  </a:cubicBezTo>
                  <a:cubicBezTo>
                    <a:pt x="3409" y="4985"/>
                    <a:pt x="3723" y="4923"/>
                    <a:pt x="4003" y="4762"/>
                  </a:cubicBezTo>
                  <a:cubicBezTo>
                    <a:pt x="5507" y="3896"/>
                    <a:pt x="6039" y="352"/>
                    <a:pt x="5070" y="24"/>
                  </a:cubicBezTo>
                  <a:cubicBezTo>
                    <a:pt x="5070" y="24"/>
                    <a:pt x="5015" y="0"/>
                    <a:pt x="49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7"/>
            <p:cNvSpPr/>
            <p:nvPr/>
          </p:nvSpPr>
          <p:spPr>
            <a:xfrm>
              <a:off x="7426167" y="2707326"/>
              <a:ext cx="94241" cy="106654"/>
            </a:xfrm>
            <a:custGeom>
              <a:avLst/>
              <a:gdLst/>
              <a:ahLst/>
              <a:cxnLst/>
              <a:rect l="l" t="t" r="r" b="b"/>
              <a:pathLst>
                <a:path w="2141" h="2423" extrusionOk="0">
                  <a:moveTo>
                    <a:pt x="1087" y="0"/>
                  </a:moveTo>
                  <a:cubicBezTo>
                    <a:pt x="1" y="56"/>
                    <a:pt x="108" y="2277"/>
                    <a:pt x="108" y="2277"/>
                  </a:cubicBezTo>
                  <a:cubicBezTo>
                    <a:pt x="432" y="2392"/>
                    <a:pt x="789" y="2423"/>
                    <a:pt x="1079" y="2423"/>
                  </a:cubicBezTo>
                  <a:cubicBezTo>
                    <a:pt x="1415" y="2423"/>
                    <a:pt x="1660" y="2381"/>
                    <a:pt x="1660" y="2381"/>
                  </a:cubicBezTo>
                  <a:cubicBezTo>
                    <a:pt x="2141" y="38"/>
                    <a:pt x="1087" y="0"/>
                    <a:pt x="10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27"/>
          <p:cNvSpPr txBox="1">
            <a:spLocks noGrp="1"/>
          </p:cNvSpPr>
          <p:nvPr>
            <p:ph type="subTitle" idx="1"/>
          </p:nvPr>
        </p:nvSpPr>
        <p:spPr>
          <a:xfrm>
            <a:off x="715100" y="2469088"/>
            <a:ext cx="4017896" cy="64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1400"/>
              <a:t>Giảng viên hướng dẫn: ThS. Nguyễn Mộng Hiền</a:t>
            </a:r>
            <a:endParaRPr sz="1400"/>
          </a:p>
        </p:txBody>
      </p:sp>
      <p:sp>
        <p:nvSpPr>
          <p:cNvPr id="2" name="Google Shape;179;p27">
            <a:extLst>
              <a:ext uri="{FF2B5EF4-FFF2-40B4-BE49-F238E27FC236}">
                <a16:creationId xmlns:a16="http://schemas.microsoft.com/office/drawing/2014/main" id="{927DAA69-D5EA-EDBB-94C2-7F1F1D8B8C70}"/>
              </a:ext>
            </a:extLst>
          </p:cNvPr>
          <p:cNvSpPr txBox="1">
            <a:spLocks/>
          </p:cNvSpPr>
          <p:nvPr/>
        </p:nvSpPr>
        <p:spPr>
          <a:xfrm>
            <a:off x="679278" y="3096864"/>
            <a:ext cx="4017896" cy="64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tamaran"/>
              <a:buNone/>
              <a:defRPr sz="1600" b="0" i="0" u="none" strike="noStrike" cap="none">
                <a:solidFill>
                  <a:schemeClr val="dk1"/>
                </a:solidFill>
                <a:latin typeface="Catamaran"/>
                <a:ea typeface="Catamaran"/>
                <a:cs typeface="Catamaran"/>
                <a:sym typeface="Catamaran"/>
              </a:defRPr>
            </a:lvl1pPr>
            <a:lvl2pPr marL="914400" marR="0" lvl="1"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2pPr>
            <a:lvl3pPr marL="1371600" marR="0" lvl="2"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3pPr>
            <a:lvl4pPr marL="1828800" marR="0" lvl="3"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4pPr>
            <a:lvl5pPr marL="2286000" marR="0" lvl="4"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5pPr>
            <a:lvl6pPr marL="2743200" marR="0" lvl="5"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6pPr>
            <a:lvl7pPr marL="3200400" marR="0" lvl="6"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7pPr>
            <a:lvl8pPr marL="3657600" marR="0" lvl="7"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8pPr>
            <a:lvl9pPr marL="4114800" marR="0" lvl="8"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9pPr>
          </a:lstStyle>
          <a:p>
            <a:pPr marL="0" indent="0"/>
            <a:r>
              <a:rPr lang="vi-VN" sz="1400"/>
              <a:t>Sinh viên thực hiện: Trương Nguyễn Tố Nguyên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Mục lục</a:t>
            </a:r>
            <a:endParaRPr/>
          </a:p>
        </p:txBody>
      </p:sp>
      <p:sp>
        <p:nvSpPr>
          <p:cNvPr id="194" name="Google Shape;194;p29"/>
          <p:cNvSpPr txBox="1">
            <a:spLocks noGrp="1"/>
          </p:cNvSpPr>
          <p:nvPr>
            <p:ph type="title" idx="2"/>
          </p:nvPr>
        </p:nvSpPr>
        <p:spPr>
          <a:xfrm>
            <a:off x="720000" y="17094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95" name="Google Shape;195;p29"/>
          <p:cNvSpPr txBox="1">
            <a:spLocks noGrp="1"/>
          </p:cNvSpPr>
          <p:nvPr>
            <p:ph type="title" idx="3"/>
          </p:nvPr>
        </p:nvSpPr>
        <p:spPr>
          <a:xfrm>
            <a:off x="720000" y="314289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96" name="Google Shape;196;p29"/>
          <p:cNvSpPr txBox="1">
            <a:spLocks noGrp="1"/>
          </p:cNvSpPr>
          <p:nvPr>
            <p:ph type="title" idx="4"/>
          </p:nvPr>
        </p:nvSpPr>
        <p:spPr>
          <a:xfrm>
            <a:off x="3419275" y="17094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97" name="Google Shape;197;p29"/>
          <p:cNvSpPr txBox="1">
            <a:spLocks noGrp="1"/>
          </p:cNvSpPr>
          <p:nvPr>
            <p:ph type="title" idx="5"/>
          </p:nvPr>
        </p:nvSpPr>
        <p:spPr>
          <a:xfrm>
            <a:off x="3419275" y="314289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198" name="Google Shape;198;p29"/>
          <p:cNvSpPr txBox="1">
            <a:spLocks noGrp="1"/>
          </p:cNvSpPr>
          <p:nvPr>
            <p:ph type="title" idx="6"/>
          </p:nvPr>
        </p:nvSpPr>
        <p:spPr>
          <a:xfrm>
            <a:off x="6118550" y="17094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99" name="Google Shape;199;p29"/>
          <p:cNvSpPr txBox="1">
            <a:spLocks noGrp="1"/>
          </p:cNvSpPr>
          <p:nvPr>
            <p:ph type="title" idx="7"/>
          </p:nvPr>
        </p:nvSpPr>
        <p:spPr>
          <a:xfrm>
            <a:off x="6118550" y="314289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200" name="Google Shape;200;p29"/>
          <p:cNvSpPr txBox="1">
            <a:spLocks noGrp="1"/>
          </p:cNvSpPr>
          <p:nvPr>
            <p:ph type="subTitle" idx="1"/>
          </p:nvPr>
        </p:nvSpPr>
        <p:spPr>
          <a:xfrm>
            <a:off x="720000" y="2132775"/>
            <a:ext cx="2305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Lý do chọn đề tài</a:t>
            </a:r>
            <a:endParaRPr/>
          </a:p>
        </p:txBody>
      </p:sp>
      <p:sp>
        <p:nvSpPr>
          <p:cNvPr id="201" name="Google Shape;201;p29"/>
          <p:cNvSpPr txBox="1">
            <a:spLocks noGrp="1"/>
          </p:cNvSpPr>
          <p:nvPr>
            <p:ph type="subTitle" idx="8"/>
          </p:nvPr>
        </p:nvSpPr>
        <p:spPr>
          <a:xfrm>
            <a:off x="3419275" y="2132775"/>
            <a:ext cx="2455432"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Các hướng tiếp cận</a:t>
            </a:r>
            <a:endParaRPr/>
          </a:p>
        </p:txBody>
      </p:sp>
      <p:sp>
        <p:nvSpPr>
          <p:cNvPr id="202" name="Google Shape;202;p29"/>
          <p:cNvSpPr txBox="1">
            <a:spLocks noGrp="1"/>
          </p:cNvSpPr>
          <p:nvPr>
            <p:ph type="subTitle" idx="9"/>
          </p:nvPr>
        </p:nvSpPr>
        <p:spPr>
          <a:xfrm>
            <a:off x="6118550" y="2132775"/>
            <a:ext cx="2305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Dữ liệu</a:t>
            </a:r>
            <a:endParaRPr/>
          </a:p>
        </p:txBody>
      </p:sp>
      <p:sp>
        <p:nvSpPr>
          <p:cNvPr id="203" name="Google Shape;203;p29"/>
          <p:cNvSpPr txBox="1">
            <a:spLocks noGrp="1"/>
          </p:cNvSpPr>
          <p:nvPr>
            <p:ph type="subTitle" idx="13"/>
          </p:nvPr>
        </p:nvSpPr>
        <p:spPr>
          <a:xfrm>
            <a:off x="719999" y="3566250"/>
            <a:ext cx="2699275"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So sánh và đánh giá</a:t>
            </a:r>
            <a:endParaRPr/>
          </a:p>
        </p:txBody>
      </p:sp>
      <p:sp>
        <p:nvSpPr>
          <p:cNvPr id="204" name="Google Shape;204;p29"/>
          <p:cNvSpPr txBox="1">
            <a:spLocks noGrp="1"/>
          </p:cNvSpPr>
          <p:nvPr>
            <p:ph type="subTitle" idx="14"/>
          </p:nvPr>
        </p:nvSpPr>
        <p:spPr>
          <a:xfrm>
            <a:off x="3419275" y="3566250"/>
            <a:ext cx="2599276"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Kết quả thử nghiệm</a:t>
            </a:r>
            <a:endParaRPr/>
          </a:p>
        </p:txBody>
      </p:sp>
      <p:sp>
        <p:nvSpPr>
          <p:cNvPr id="205" name="Google Shape;205;p29"/>
          <p:cNvSpPr txBox="1">
            <a:spLocks noGrp="1"/>
          </p:cNvSpPr>
          <p:nvPr>
            <p:ph type="subTitle" idx="15"/>
          </p:nvPr>
        </p:nvSpPr>
        <p:spPr>
          <a:xfrm>
            <a:off x="6118550" y="3705025"/>
            <a:ext cx="2425843"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Kết luận và hướng phát triển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1"/>
          <p:cNvSpPr/>
          <p:nvPr/>
        </p:nvSpPr>
        <p:spPr>
          <a:xfrm>
            <a:off x="5486141" y="1040187"/>
            <a:ext cx="2846400" cy="3163500"/>
          </a:xfrm>
          <a:prstGeom prst="roundRect">
            <a:avLst>
              <a:gd name="adj" fmla="val 8168"/>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1"/>
          <p:cNvSpPr txBox="1">
            <a:spLocks noGrp="1"/>
          </p:cNvSpPr>
          <p:nvPr>
            <p:ph type="title"/>
          </p:nvPr>
        </p:nvSpPr>
        <p:spPr>
          <a:xfrm>
            <a:off x="925450" y="805413"/>
            <a:ext cx="3513300" cy="1087200"/>
          </a:xfrm>
          <a:prstGeom prst="rect">
            <a:avLst/>
          </a:prstGeom>
        </p:spPr>
        <p:txBody>
          <a:bodyPr spcFirstLastPara="1" wrap="square" lIns="91425" tIns="91425" rIns="91425" bIns="91425" anchor="t" anchorCtr="0">
            <a:noAutofit/>
          </a:bodyPr>
          <a:lstStyle/>
          <a:p>
            <a:pPr lvl="0"/>
            <a:r>
              <a:rPr lang="vi-VN"/>
              <a:t>Lý do chọn đề tài</a:t>
            </a:r>
            <a:endParaRPr/>
          </a:p>
        </p:txBody>
      </p:sp>
      <p:sp>
        <p:nvSpPr>
          <p:cNvPr id="265" name="Google Shape;265;p31"/>
          <p:cNvSpPr txBox="1">
            <a:spLocks noGrp="1"/>
          </p:cNvSpPr>
          <p:nvPr>
            <p:ph type="body" idx="1"/>
          </p:nvPr>
        </p:nvSpPr>
        <p:spPr>
          <a:xfrm>
            <a:off x="925450" y="1525929"/>
            <a:ext cx="3513300" cy="2398800"/>
          </a:xfrm>
          <a:prstGeom prst="rect">
            <a:avLst/>
          </a:prstGeom>
        </p:spPr>
        <p:txBody>
          <a:bodyPr spcFirstLastPara="1" wrap="square" lIns="91425" tIns="91425" rIns="91425" bIns="91425" anchor="t" anchorCtr="0">
            <a:noAutofit/>
          </a:bodyPr>
          <a:lstStyle/>
          <a:p>
            <a:pPr marL="0" lvl="0" indent="0" algn="just">
              <a:buNone/>
            </a:pPr>
            <a:r>
              <a:rPr lang="vi-VN" sz="1600"/>
              <a:t>     </a:t>
            </a:r>
            <a:r>
              <a:rPr lang="vi-VN" sz="1600">
                <a:solidFill>
                  <a:srgbClr val="3B406B"/>
                </a:solidFill>
              </a:rPr>
              <a:t>Chụp X-quang ngực là phương pháp chẩn đoán hình ảnh cho phổi phổ biến, nhưng khối lượng ảnh chẩn đoán khổng lồ tại các bệnh viện, áp lực thời gian có thể dẫn đến bỏ sót hoặc chậm trễ trong chẩn đoán, đặc biệt ở những nơi thiếu nhân lực chuyên môn cao.</a:t>
            </a:r>
          </a:p>
          <a:p>
            <a:pPr marL="0" lvl="0" indent="0" algn="just">
              <a:buNone/>
            </a:pPr>
            <a:endParaRPr lang="vi-VN" sz="1600">
              <a:solidFill>
                <a:srgbClr val="3B406B"/>
              </a:solidFill>
            </a:endParaRPr>
          </a:p>
          <a:p>
            <a:pPr marL="0" indent="0" algn="just">
              <a:buNone/>
            </a:pPr>
            <a:r>
              <a:rPr lang="vi-VN" sz="1600">
                <a:solidFill>
                  <a:srgbClr val="3B406B"/>
                </a:solidFill>
              </a:rPr>
              <a:t>     Do đó, việc nghiên cứu và phát triển các mô hình học máy có khả năng hỗ trợ phát hiện tự động các dấu hiệu bất thường trên ảnh X-quang phổi có ý nghĩa thực tiễn quan trọng. </a:t>
            </a:r>
          </a:p>
          <a:p>
            <a:pPr marL="0" lvl="0" indent="0">
              <a:buNone/>
            </a:pPr>
            <a:endParaRPr sz="1600">
              <a:solidFill>
                <a:schemeClr val="dk1"/>
              </a:solidFill>
            </a:endParaRPr>
          </a:p>
        </p:txBody>
      </p:sp>
      <p:pic>
        <p:nvPicPr>
          <p:cNvPr id="266" name="Google Shape;266;p31"/>
          <p:cNvPicPr preferRelativeResize="0">
            <a:picLocks noGrp="1"/>
          </p:cNvPicPr>
          <p:nvPr>
            <p:ph type="pic" idx="2"/>
          </p:nvPr>
        </p:nvPicPr>
        <p:blipFill rotWithShape="1">
          <a:blip r:embed="rId3">
            <a:alphaModFix/>
          </a:blip>
          <a:srcRect l="34341" t="4039" r="8259"/>
          <a:stretch/>
        </p:blipFill>
        <p:spPr>
          <a:xfrm>
            <a:off x="5356275" y="910325"/>
            <a:ext cx="2862000" cy="3182100"/>
          </a:xfrm>
          <a:prstGeom prst="roundRect">
            <a:avLst>
              <a:gd name="adj" fmla="val 16667"/>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2" name="Google Shape;272;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Các hướng tiếp cận</a:t>
            </a:r>
            <a:endParaRPr/>
          </a:p>
        </p:txBody>
      </p:sp>
      <p:sp>
        <p:nvSpPr>
          <p:cNvPr id="274" name="Google Shape;274;p32"/>
          <p:cNvSpPr txBox="1">
            <a:spLocks noGrp="1"/>
          </p:cNvSpPr>
          <p:nvPr>
            <p:ph type="subTitle" idx="2"/>
          </p:nvPr>
        </p:nvSpPr>
        <p:spPr>
          <a:xfrm>
            <a:off x="-374754" y="1503379"/>
            <a:ext cx="5234853" cy="2436261"/>
          </a:xfrm>
          <a:prstGeom prst="rect">
            <a:avLst/>
          </a:prstGeom>
        </p:spPr>
        <p:txBody>
          <a:bodyPr spcFirstLastPara="1" wrap="square" lIns="91425" tIns="91425" rIns="91425" bIns="91425" anchor="t" anchorCtr="0">
            <a:noAutofit/>
          </a:bodyPr>
          <a:lstStyle/>
          <a:p>
            <a:pPr marL="1543050" lvl="2" indent="171450" algn="just">
              <a:buFont typeface="Arial" panose="020B0604020202020204" pitchFamily="34" charset="0"/>
              <a:buChar char="•"/>
            </a:pPr>
            <a:r>
              <a:rPr lang="vi-VN">
                <a:solidFill>
                  <a:srgbClr val="3B406B"/>
                </a:solidFill>
              </a:rPr>
              <a:t>Gồm 2 lớp tích chập, 2 lớp lấy mẫu và các lớp kết nối đầy đủ.</a:t>
            </a:r>
          </a:p>
          <a:p>
            <a:pPr marL="1543050" lvl="2" indent="171450" algn="just">
              <a:buFont typeface="Arial" panose="020B0604020202020204" pitchFamily="34" charset="0"/>
              <a:buChar char="•"/>
            </a:pPr>
            <a:r>
              <a:rPr lang="vi-VN">
                <a:solidFill>
                  <a:srgbClr val="3B406B"/>
                </a:solidFill>
              </a:rPr>
              <a:t>Mặc dù kiến trúc gốc sử dụng kết nối một phần để giảm tham số, nhưng trong thực nghiệm này, lớp C3 được thiết lập kết nối đầy đủ nhằm tối ưu hóa tính toán trên CPU, đồng thời giúp mô hình học được nhiều tổ hợp đặc trưng hơn từ lớp S2.</a:t>
            </a:r>
          </a:p>
          <a:p>
            <a:pPr marL="1543050" lvl="2" indent="171450" algn="just">
              <a:buFont typeface="Arial" panose="020B0604020202020204" pitchFamily="34" charset="0"/>
              <a:buChar char="•"/>
            </a:pPr>
            <a:r>
              <a:rPr lang="vi-VN">
                <a:solidFill>
                  <a:srgbClr val="3B406B"/>
                </a:solidFill>
              </a:rPr>
              <a:t>Để phù hợp với thư viện PyTorch và bài toán phân loại nhị phân, lớp đầu ra RBF của kiến trúc gốc được thay thế bằng lớp Linear tương đương, nhưng vẫn giữ nguyên số lượng nơ-ron và các tham số đặc trưng của lớp F6. </a:t>
            </a:r>
          </a:p>
          <a:p>
            <a:pPr marL="0" lvl="0" indent="0" algn="just" rtl="0">
              <a:spcBef>
                <a:spcPts val="0"/>
              </a:spcBef>
              <a:spcAft>
                <a:spcPts val="0"/>
              </a:spcAft>
              <a:buNone/>
            </a:pPr>
            <a:endParaRPr/>
          </a:p>
        </p:txBody>
      </p:sp>
      <p:sp>
        <p:nvSpPr>
          <p:cNvPr id="275" name="Google Shape;275;p32"/>
          <p:cNvSpPr txBox="1">
            <a:spLocks noGrp="1"/>
          </p:cNvSpPr>
          <p:nvPr>
            <p:ph type="subTitle" idx="3"/>
          </p:nvPr>
        </p:nvSpPr>
        <p:spPr>
          <a:xfrm>
            <a:off x="988865" y="1140379"/>
            <a:ext cx="2505600" cy="36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Mô hình LeNet Gốc</a:t>
            </a:r>
            <a:endParaRPr/>
          </a:p>
        </p:txBody>
      </p:sp>
      <p:pic>
        <p:nvPicPr>
          <p:cNvPr id="6" name="Picture 5">
            <a:extLst>
              <a:ext uri="{FF2B5EF4-FFF2-40B4-BE49-F238E27FC236}">
                <a16:creationId xmlns:a16="http://schemas.microsoft.com/office/drawing/2014/main" id="{847DCB89-0EBE-3987-ABDC-06889E01F454}"/>
              </a:ext>
            </a:extLst>
          </p:cNvPr>
          <p:cNvPicPr>
            <a:picLocks noChangeAspect="1"/>
          </p:cNvPicPr>
          <p:nvPr/>
        </p:nvPicPr>
        <p:blipFill>
          <a:blip r:embed="rId3"/>
          <a:stretch>
            <a:fillRect/>
          </a:stretch>
        </p:blipFill>
        <p:spPr>
          <a:xfrm>
            <a:off x="4972833" y="1321879"/>
            <a:ext cx="3954769" cy="36203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2341D3B6-3CA0-F792-0A5F-D2B48B39640C}"/>
            </a:ext>
          </a:extLst>
        </p:cNvPr>
        <p:cNvGrpSpPr/>
        <p:nvPr/>
      </p:nvGrpSpPr>
      <p:grpSpPr>
        <a:xfrm>
          <a:off x="0" y="0"/>
          <a:ext cx="0" cy="0"/>
          <a:chOff x="0" y="0"/>
          <a:chExt cx="0" cy="0"/>
        </a:xfrm>
      </p:grpSpPr>
      <p:sp>
        <p:nvSpPr>
          <p:cNvPr id="272" name="Google Shape;272;p32">
            <a:extLst>
              <a:ext uri="{FF2B5EF4-FFF2-40B4-BE49-F238E27FC236}">
                <a16:creationId xmlns:a16="http://schemas.microsoft.com/office/drawing/2014/main" id="{A35DF94E-DAC2-4197-A617-C8D880E9199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Các hướng tiếp cận</a:t>
            </a:r>
            <a:endParaRPr/>
          </a:p>
        </p:txBody>
      </p:sp>
      <p:sp>
        <p:nvSpPr>
          <p:cNvPr id="274" name="Google Shape;274;p32">
            <a:extLst>
              <a:ext uri="{FF2B5EF4-FFF2-40B4-BE49-F238E27FC236}">
                <a16:creationId xmlns:a16="http://schemas.microsoft.com/office/drawing/2014/main" id="{954B0D9D-3476-9E6E-084C-E884467926CD}"/>
              </a:ext>
            </a:extLst>
          </p:cNvPr>
          <p:cNvSpPr txBox="1">
            <a:spLocks noGrp="1"/>
          </p:cNvSpPr>
          <p:nvPr>
            <p:ph type="subTitle" idx="2"/>
          </p:nvPr>
        </p:nvSpPr>
        <p:spPr>
          <a:xfrm>
            <a:off x="-445765" y="1566860"/>
            <a:ext cx="5410217" cy="2436261"/>
          </a:xfrm>
          <a:prstGeom prst="rect">
            <a:avLst/>
          </a:prstGeom>
        </p:spPr>
        <p:txBody>
          <a:bodyPr spcFirstLastPara="1" wrap="square" lIns="91425" tIns="91425" rIns="91425" bIns="91425" anchor="t" anchorCtr="0">
            <a:noAutofit/>
          </a:bodyPr>
          <a:lstStyle/>
          <a:p>
            <a:pPr marL="1544400" lvl="2" indent="172800" algn="just">
              <a:buFont typeface="Arial" panose="020B0604020202020204" pitchFamily="34" charset="0"/>
              <a:buChar char="•"/>
            </a:pPr>
            <a:r>
              <a:rPr lang="vi-VN"/>
              <a:t>Dùng Batch Normalization sau mỗi lớp tích chập nhằm giúp mô hình hội tụ nhanh hơn, giảm overfitting.</a:t>
            </a:r>
          </a:p>
          <a:p>
            <a:pPr marL="1544400" lvl="2" indent="172800" algn="just">
              <a:buFont typeface="Arial" panose="020B0604020202020204" pitchFamily="34" charset="0"/>
              <a:buChar char="•"/>
            </a:pPr>
            <a:r>
              <a:rPr lang="vi-VN"/>
              <a:t>Thay hàm kích hoạt Tanh bằng ReLU tránh triệt tiêu gradient, học nhanh hơn.</a:t>
            </a:r>
          </a:p>
          <a:p>
            <a:pPr marL="1544400" lvl="2" indent="172800" algn="just">
              <a:buFont typeface="Arial" panose="020B0604020202020204" pitchFamily="34" charset="0"/>
              <a:buChar char="•"/>
            </a:pPr>
            <a:r>
              <a:rPr lang="vi-VN"/>
              <a:t>Thay Average Pooling bằng Max Pooling giúp mô hình tập trung vào các đặc trưng có cường độ mạnh nhất và tăng tốc độ hội tụ.</a:t>
            </a:r>
          </a:p>
          <a:p>
            <a:pPr marL="1544400" lvl="2" indent="172800" algn="just">
              <a:buFont typeface="Arial" panose="020B0604020202020204" pitchFamily="34" charset="0"/>
              <a:buChar char="•"/>
            </a:pPr>
            <a:r>
              <a:rPr lang="vi-VN"/>
              <a:t>Thêm Dropout sau lớp Linear đầu tiên chống overfitting.</a:t>
            </a:r>
          </a:p>
          <a:p>
            <a:pPr marL="0" lvl="0" indent="0" algn="just" rtl="0">
              <a:spcBef>
                <a:spcPts val="0"/>
              </a:spcBef>
              <a:spcAft>
                <a:spcPts val="0"/>
              </a:spcAft>
              <a:buNone/>
            </a:pPr>
            <a:endParaRPr/>
          </a:p>
        </p:txBody>
      </p:sp>
      <p:sp>
        <p:nvSpPr>
          <p:cNvPr id="275" name="Google Shape;275;p32">
            <a:extLst>
              <a:ext uri="{FF2B5EF4-FFF2-40B4-BE49-F238E27FC236}">
                <a16:creationId xmlns:a16="http://schemas.microsoft.com/office/drawing/2014/main" id="{83BFE5CD-B44F-7797-7A2E-C9840E3CB736}"/>
              </a:ext>
            </a:extLst>
          </p:cNvPr>
          <p:cNvSpPr txBox="1">
            <a:spLocks noGrp="1"/>
          </p:cNvSpPr>
          <p:nvPr>
            <p:ph type="subTitle" idx="3"/>
          </p:nvPr>
        </p:nvSpPr>
        <p:spPr>
          <a:xfrm>
            <a:off x="988865" y="1140379"/>
            <a:ext cx="3386184" cy="36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Mô hình LeNet Cải tiến</a:t>
            </a:r>
            <a:endParaRPr/>
          </a:p>
        </p:txBody>
      </p:sp>
      <p:pic>
        <p:nvPicPr>
          <p:cNvPr id="2" name="Picture 1">
            <a:extLst>
              <a:ext uri="{FF2B5EF4-FFF2-40B4-BE49-F238E27FC236}">
                <a16:creationId xmlns:a16="http://schemas.microsoft.com/office/drawing/2014/main" id="{94699C3E-EB5B-3183-E94B-507628CCE035}"/>
              </a:ext>
            </a:extLst>
          </p:cNvPr>
          <p:cNvPicPr>
            <a:picLocks noChangeAspect="1"/>
          </p:cNvPicPr>
          <p:nvPr/>
        </p:nvPicPr>
        <p:blipFill>
          <a:blip r:embed="rId3"/>
          <a:stretch>
            <a:fillRect/>
          </a:stretch>
        </p:blipFill>
        <p:spPr>
          <a:xfrm>
            <a:off x="4964452" y="1017725"/>
            <a:ext cx="3920617" cy="3952601"/>
          </a:xfrm>
          <a:prstGeom prst="rect">
            <a:avLst/>
          </a:prstGeom>
        </p:spPr>
      </p:pic>
    </p:spTree>
    <p:extLst>
      <p:ext uri="{BB962C8B-B14F-4D97-AF65-F5344CB8AC3E}">
        <p14:creationId xmlns:p14="http://schemas.microsoft.com/office/powerpoint/2010/main" val="735850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52" name="Google Shape;352;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Dữ liệu</a:t>
            </a:r>
            <a:endParaRPr/>
          </a:p>
        </p:txBody>
      </p:sp>
      <p:sp>
        <p:nvSpPr>
          <p:cNvPr id="353" name="Google Shape;353;p34"/>
          <p:cNvSpPr txBox="1">
            <a:spLocks noGrp="1"/>
          </p:cNvSpPr>
          <p:nvPr>
            <p:ph type="subTitle" idx="1"/>
          </p:nvPr>
        </p:nvSpPr>
        <p:spPr>
          <a:xfrm>
            <a:off x="1337763" y="1478700"/>
            <a:ext cx="2864700" cy="347400"/>
          </a:xfrm>
          <a:prstGeom prst="rect">
            <a:avLst/>
          </a:prstGeom>
        </p:spPr>
        <p:txBody>
          <a:bodyPr spcFirstLastPara="1" wrap="square" lIns="91425" tIns="91425" rIns="91425" bIns="91425" anchor="b" anchorCtr="0">
            <a:noAutofit/>
          </a:bodyPr>
          <a:lstStyle/>
          <a:p>
            <a:pPr marL="0" lvl="0" indent="0"/>
            <a:r>
              <a:rPr lang="vi-VN" b="0"/>
              <a:t>COVID: 3.616 ảnh</a:t>
            </a:r>
            <a:endParaRPr b="0"/>
          </a:p>
        </p:txBody>
      </p:sp>
      <p:sp>
        <p:nvSpPr>
          <p:cNvPr id="354" name="Google Shape;354;p34"/>
          <p:cNvSpPr txBox="1">
            <a:spLocks noGrp="1"/>
          </p:cNvSpPr>
          <p:nvPr>
            <p:ph type="subTitle" idx="6"/>
          </p:nvPr>
        </p:nvSpPr>
        <p:spPr>
          <a:xfrm>
            <a:off x="1337763" y="3227032"/>
            <a:ext cx="2864700" cy="347400"/>
          </a:xfrm>
          <a:prstGeom prst="rect">
            <a:avLst/>
          </a:prstGeom>
        </p:spPr>
        <p:txBody>
          <a:bodyPr spcFirstLastPara="1" wrap="square" lIns="91425" tIns="91425" rIns="91425" bIns="91425" anchor="b" anchorCtr="0">
            <a:noAutofit/>
          </a:bodyPr>
          <a:lstStyle/>
          <a:p>
            <a:pPr marL="0" lvl="0" indent="0"/>
            <a:r>
              <a:rPr lang="vi-VN" b="0"/>
              <a:t>Normal: 10.192 ảnh</a:t>
            </a:r>
            <a:endParaRPr b="0"/>
          </a:p>
        </p:txBody>
      </p:sp>
      <p:sp>
        <p:nvSpPr>
          <p:cNvPr id="355" name="Google Shape;355;p34"/>
          <p:cNvSpPr txBox="1">
            <a:spLocks noGrp="1"/>
          </p:cNvSpPr>
          <p:nvPr>
            <p:ph type="subTitle" idx="7"/>
          </p:nvPr>
        </p:nvSpPr>
        <p:spPr>
          <a:xfrm>
            <a:off x="5402450" y="1309478"/>
            <a:ext cx="3227983" cy="485824"/>
          </a:xfrm>
          <a:prstGeom prst="rect">
            <a:avLst/>
          </a:prstGeom>
        </p:spPr>
        <p:txBody>
          <a:bodyPr spcFirstLastPara="1" wrap="square" lIns="91425" tIns="91425" rIns="91425" bIns="91425" anchor="b" anchorCtr="0">
            <a:noAutofit/>
          </a:bodyPr>
          <a:lstStyle/>
          <a:p>
            <a:pPr marL="0" lvl="0" indent="0"/>
            <a:r>
              <a:rPr lang="vi-VN" b="0"/>
              <a:t>Lung Opacity: 6.012 ảnh</a:t>
            </a:r>
            <a:endParaRPr b="0"/>
          </a:p>
        </p:txBody>
      </p:sp>
      <p:sp>
        <p:nvSpPr>
          <p:cNvPr id="356" name="Google Shape;356;p34"/>
          <p:cNvSpPr txBox="1">
            <a:spLocks noGrp="1"/>
          </p:cNvSpPr>
          <p:nvPr>
            <p:ph type="subTitle" idx="8"/>
          </p:nvPr>
        </p:nvSpPr>
        <p:spPr>
          <a:xfrm>
            <a:off x="5402450" y="3333232"/>
            <a:ext cx="3626438" cy="241202"/>
          </a:xfrm>
          <a:prstGeom prst="rect">
            <a:avLst/>
          </a:prstGeom>
        </p:spPr>
        <p:txBody>
          <a:bodyPr spcFirstLastPara="1" wrap="square" lIns="91425" tIns="91425" rIns="91425" bIns="91425" anchor="b" anchorCtr="0">
            <a:noAutofit/>
          </a:bodyPr>
          <a:lstStyle/>
          <a:p>
            <a:pPr marL="0" lvl="0" indent="0"/>
            <a:r>
              <a:rPr lang="vi-VN" b="0"/>
              <a:t>Viral Pneumonia: 1.345 ảnh</a:t>
            </a:r>
            <a:endParaRPr b="0"/>
          </a:p>
        </p:txBody>
      </p:sp>
      <p:pic>
        <p:nvPicPr>
          <p:cNvPr id="11" name="Picture 10">
            <a:extLst>
              <a:ext uri="{FF2B5EF4-FFF2-40B4-BE49-F238E27FC236}">
                <a16:creationId xmlns:a16="http://schemas.microsoft.com/office/drawing/2014/main" id="{78BE1B28-DC88-D531-0277-A73FD15CC3AB}"/>
              </a:ext>
            </a:extLst>
          </p:cNvPr>
          <p:cNvPicPr>
            <a:picLocks noChangeAspect="1"/>
          </p:cNvPicPr>
          <p:nvPr/>
        </p:nvPicPr>
        <p:blipFill>
          <a:blip r:embed="rId3"/>
          <a:stretch>
            <a:fillRect/>
          </a:stretch>
        </p:blipFill>
        <p:spPr>
          <a:xfrm>
            <a:off x="1624446" y="1783716"/>
            <a:ext cx="1393818" cy="1393818"/>
          </a:xfrm>
          <a:prstGeom prst="rect">
            <a:avLst/>
          </a:prstGeom>
        </p:spPr>
      </p:pic>
      <p:pic>
        <p:nvPicPr>
          <p:cNvPr id="13" name="Picture 12">
            <a:extLst>
              <a:ext uri="{FF2B5EF4-FFF2-40B4-BE49-F238E27FC236}">
                <a16:creationId xmlns:a16="http://schemas.microsoft.com/office/drawing/2014/main" id="{47CAB804-E12C-9C01-233E-E6A0CB8763FF}"/>
              </a:ext>
            </a:extLst>
          </p:cNvPr>
          <p:cNvPicPr>
            <a:picLocks noChangeAspect="1"/>
          </p:cNvPicPr>
          <p:nvPr/>
        </p:nvPicPr>
        <p:blipFill>
          <a:blip r:embed="rId4"/>
          <a:stretch>
            <a:fillRect/>
          </a:stretch>
        </p:blipFill>
        <p:spPr>
          <a:xfrm>
            <a:off x="6125736" y="1770902"/>
            <a:ext cx="1393818" cy="1393818"/>
          </a:xfrm>
          <a:prstGeom prst="rect">
            <a:avLst/>
          </a:prstGeom>
        </p:spPr>
      </p:pic>
      <p:pic>
        <p:nvPicPr>
          <p:cNvPr id="15" name="Picture 14">
            <a:extLst>
              <a:ext uri="{FF2B5EF4-FFF2-40B4-BE49-F238E27FC236}">
                <a16:creationId xmlns:a16="http://schemas.microsoft.com/office/drawing/2014/main" id="{C1DF00E4-DC4D-AB3B-84E0-5246D20F3593}"/>
              </a:ext>
            </a:extLst>
          </p:cNvPr>
          <p:cNvPicPr>
            <a:picLocks noChangeAspect="1"/>
          </p:cNvPicPr>
          <p:nvPr/>
        </p:nvPicPr>
        <p:blipFill>
          <a:blip r:embed="rId5"/>
          <a:stretch>
            <a:fillRect/>
          </a:stretch>
        </p:blipFill>
        <p:spPr>
          <a:xfrm>
            <a:off x="1616885" y="3518073"/>
            <a:ext cx="1401379" cy="1401379"/>
          </a:xfrm>
          <a:prstGeom prst="rect">
            <a:avLst/>
          </a:prstGeom>
        </p:spPr>
      </p:pic>
      <p:pic>
        <p:nvPicPr>
          <p:cNvPr id="17" name="Picture 16">
            <a:extLst>
              <a:ext uri="{FF2B5EF4-FFF2-40B4-BE49-F238E27FC236}">
                <a16:creationId xmlns:a16="http://schemas.microsoft.com/office/drawing/2014/main" id="{B4B393D8-CA66-0AF0-0045-8C5BC2D12266}"/>
              </a:ext>
            </a:extLst>
          </p:cNvPr>
          <p:cNvPicPr>
            <a:picLocks noChangeAspect="1"/>
          </p:cNvPicPr>
          <p:nvPr/>
        </p:nvPicPr>
        <p:blipFill>
          <a:blip r:embed="rId6"/>
          <a:stretch>
            <a:fillRect/>
          </a:stretch>
        </p:blipFill>
        <p:spPr>
          <a:xfrm>
            <a:off x="6125736" y="3563063"/>
            <a:ext cx="1459955" cy="1356389"/>
          </a:xfrm>
          <a:prstGeom prst="rect">
            <a:avLst/>
          </a:prstGeom>
        </p:spPr>
      </p:pic>
      <p:sp>
        <p:nvSpPr>
          <p:cNvPr id="18" name="TextBox 17">
            <a:extLst>
              <a:ext uri="{FF2B5EF4-FFF2-40B4-BE49-F238E27FC236}">
                <a16:creationId xmlns:a16="http://schemas.microsoft.com/office/drawing/2014/main" id="{C7761520-1B2A-630B-7926-6DB2FB10280E}"/>
              </a:ext>
            </a:extLst>
          </p:cNvPr>
          <p:cNvSpPr txBox="1"/>
          <p:nvPr/>
        </p:nvSpPr>
        <p:spPr>
          <a:xfrm>
            <a:off x="1027133" y="1026571"/>
            <a:ext cx="6638796" cy="369332"/>
          </a:xfrm>
          <a:prstGeom prst="rect">
            <a:avLst/>
          </a:prstGeom>
          <a:noFill/>
        </p:spPr>
        <p:txBody>
          <a:bodyPr wrap="square" rtlCol="0">
            <a:spAutoFit/>
          </a:bodyPr>
          <a:lstStyle/>
          <a:p>
            <a:r>
              <a:rPr lang="vi-VN" sz="1800">
                <a:solidFill>
                  <a:srgbClr val="3B406B"/>
                </a:solidFill>
                <a:latin typeface="Lexend" panose="020B0604020202020204" charset="0"/>
              </a:rPr>
              <a:t>COVID-19 Radiography Database: 21.165 hình ảnh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D38DCC72-CDD5-6617-3D3F-00A787C81CA1}"/>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3017EB7E-8C24-7A54-1615-A392F31BD533}"/>
              </a:ext>
            </a:extLst>
          </p:cNvPr>
          <p:cNvSpPr txBox="1">
            <a:spLocks noGrp="1"/>
          </p:cNvSpPr>
          <p:nvPr>
            <p:ph type="title"/>
          </p:nvPr>
        </p:nvSpPr>
        <p:spPr>
          <a:xfrm>
            <a:off x="925450" y="805413"/>
            <a:ext cx="4423164" cy="1087200"/>
          </a:xfrm>
          <a:prstGeom prst="rect">
            <a:avLst/>
          </a:prstGeom>
        </p:spPr>
        <p:txBody>
          <a:bodyPr spcFirstLastPara="1" wrap="square" lIns="91425" tIns="91425" rIns="91425" bIns="91425" anchor="t" anchorCtr="0">
            <a:noAutofit/>
          </a:bodyPr>
          <a:lstStyle/>
          <a:p>
            <a:pPr lvl="0"/>
            <a:r>
              <a:rPr lang="vi-VN"/>
              <a:t>So sánh và đánh giá</a:t>
            </a:r>
            <a:endParaRPr/>
          </a:p>
        </p:txBody>
      </p:sp>
      <p:sp>
        <p:nvSpPr>
          <p:cNvPr id="6" name="Text Placeholder 5">
            <a:extLst>
              <a:ext uri="{FF2B5EF4-FFF2-40B4-BE49-F238E27FC236}">
                <a16:creationId xmlns:a16="http://schemas.microsoft.com/office/drawing/2014/main" id="{97B34867-0D19-9D33-680C-01108509B242}"/>
              </a:ext>
            </a:extLst>
          </p:cNvPr>
          <p:cNvSpPr>
            <a:spLocks noGrp="1"/>
          </p:cNvSpPr>
          <p:nvPr>
            <p:ph type="body" idx="1"/>
          </p:nvPr>
        </p:nvSpPr>
        <p:spPr>
          <a:xfrm>
            <a:off x="175365" y="3944100"/>
            <a:ext cx="8154444" cy="2398800"/>
          </a:xfrm>
        </p:spPr>
        <p:txBody>
          <a:bodyPr/>
          <a:lstStyle/>
          <a:p>
            <a:pPr marL="571500" lvl="0" indent="172800" algn="just">
              <a:buFont typeface="Arial" panose="020B0604020202020204" pitchFamily="34" charset="0"/>
              <a:buChar char="•"/>
            </a:pPr>
            <a:r>
              <a:rPr lang="vi-VN">
                <a:solidFill>
                  <a:srgbClr val="3B406B"/>
                </a:solidFill>
                <a:latin typeface="Lexend" panose="020B0604020202020204" charset="0"/>
              </a:rPr>
              <a:t>Ngay từ Epoch 1, mô hình Cải tiến đã đạt độ chính xác khoảng 81%, cao hơn hẳn so với mức 77% của mô hình Gốc.</a:t>
            </a:r>
          </a:p>
          <a:p>
            <a:pPr marL="571500" lvl="0" indent="172800" algn="just">
              <a:buFont typeface="Arial" panose="020B0604020202020204" pitchFamily="34" charset="0"/>
              <a:buChar char="•"/>
            </a:pPr>
            <a:r>
              <a:rPr lang="vi-VN">
                <a:solidFill>
                  <a:srgbClr val="3B406B"/>
                </a:solidFill>
                <a:latin typeface="Lexend" panose="020B0604020202020204" charset="0"/>
              </a:rPr>
              <a:t>Đường Loss của mô hình Cải tiến luôn nằm dưới đường của mô hình Gốc. Tại Epoch cuối, Loss của mạng cải tiến gần mức 28%, trong khi mạng gốc vẫn ở mức trên 32%.</a:t>
            </a:r>
          </a:p>
          <a:p>
            <a:endParaRPr lang="vi-VN"/>
          </a:p>
        </p:txBody>
      </p:sp>
      <p:pic>
        <p:nvPicPr>
          <p:cNvPr id="7" name="Picture 6">
            <a:extLst>
              <a:ext uri="{FF2B5EF4-FFF2-40B4-BE49-F238E27FC236}">
                <a16:creationId xmlns:a16="http://schemas.microsoft.com/office/drawing/2014/main" id="{CA955660-35EC-64FC-CC66-0D1B9F7F63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740" y="1435015"/>
            <a:ext cx="3753719" cy="2509085"/>
          </a:xfrm>
          <a:prstGeom prst="rect">
            <a:avLst/>
          </a:prstGeom>
        </p:spPr>
      </p:pic>
      <p:pic>
        <p:nvPicPr>
          <p:cNvPr id="8" name="Picture 7">
            <a:extLst>
              <a:ext uri="{FF2B5EF4-FFF2-40B4-BE49-F238E27FC236}">
                <a16:creationId xmlns:a16="http://schemas.microsoft.com/office/drawing/2014/main" id="{2BCAED6C-3474-6900-FAEB-D6B5A93A8B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9169" y="1379245"/>
            <a:ext cx="3716139" cy="2620625"/>
          </a:xfrm>
          <a:prstGeom prst="rect">
            <a:avLst/>
          </a:prstGeom>
        </p:spPr>
      </p:pic>
    </p:spTree>
    <p:extLst>
      <p:ext uri="{BB962C8B-B14F-4D97-AF65-F5344CB8AC3E}">
        <p14:creationId xmlns:p14="http://schemas.microsoft.com/office/powerpoint/2010/main" val="3008869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0EFC1E39-3276-9E0B-8308-DD2DB1D7A898}"/>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0B9A4D34-9FD1-12C3-D046-E7AD78DE85A6}"/>
              </a:ext>
            </a:extLst>
          </p:cNvPr>
          <p:cNvSpPr txBox="1">
            <a:spLocks noGrp="1"/>
          </p:cNvSpPr>
          <p:nvPr>
            <p:ph type="title"/>
          </p:nvPr>
        </p:nvSpPr>
        <p:spPr>
          <a:xfrm>
            <a:off x="925450" y="805413"/>
            <a:ext cx="4423164" cy="1087200"/>
          </a:xfrm>
          <a:prstGeom prst="rect">
            <a:avLst/>
          </a:prstGeom>
        </p:spPr>
        <p:txBody>
          <a:bodyPr spcFirstLastPara="1" wrap="square" lIns="91425" tIns="91425" rIns="91425" bIns="91425" anchor="t" anchorCtr="0">
            <a:noAutofit/>
          </a:bodyPr>
          <a:lstStyle/>
          <a:p>
            <a:pPr lvl="0"/>
            <a:r>
              <a:rPr lang="vi-VN"/>
              <a:t>So sánh và đánh giá</a:t>
            </a:r>
            <a:endParaRPr/>
          </a:p>
        </p:txBody>
      </p:sp>
      <p:graphicFrame>
        <p:nvGraphicFramePr>
          <p:cNvPr id="4" name="Table 3">
            <a:extLst>
              <a:ext uri="{FF2B5EF4-FFF2-40B4-BE49-F238E27FC236}">
                <a16:creationId xmlns:a16="http://schemas.microsoft.com/office/drawing/2014/main" id="{96DE9094-E252-AC2D-4111-159C5525B8A3}"/>
              </a:ext>
            </a:extLst>
          </p:cNvPr>
          <p:cNvGraphicFramePr>
            <a:graphicFrameLocks noGrp="1"/>
          </p:cNvGraphicFramePr>
          <p:nvPr/>
        </p:nvGraphicFramePr>
        <p:xfrm>
          <a:off x="760937" y="1525929"/>
          <a:ext cx="7622125" cy="1373175"/>
        </p:xfrm>
        <a:graphic>
          <a:graphicData uri="http://schemas.openxmlformats.org/drawingml/2006/table">
            <a:tbl>
              <a:tblPr>
                <a:noFill/>
                <a:tableStyleId>{20708D96-DC06-4A12-9862-65D7CB3C0657}</a:tableStyleId>
              </a:tblPr>
              <a:tblGrid>
                <a:gridCol w="1779700">
                  <a:extLst>
                    <a:ext uri="{9D8B030D-6E8A-4147-A177-3AD203B41FA5}">
                      <a16:colId xmlns:a16="http://schemas.microsoft.com/office/drawing/2014/main" val="3725149991"/>
                    </a:ext>
                  </a:extLst>
                </a:gridCol>
                <a:gridCol w="1417600">
                  <a:extLst>
                    <a:ext uri="{9D8B030D-6E8A-4147-A177-3AD203B41FA5}">
                      <a16:colId xmlns:a16="http://schemas.microsoft.com/office/drawing/2014/main" val="2463878749"/>
                    </a:ext>
                  </a:extLst>
                </a:gridCol>
                <a:gridCol w="1465545">
                  <a:extLst>
                    <a:ext uri="{9D8B030D-6E8A-4147-A177-3AD203B41FA5}">
                      <a16:colId xmlns:a16="http://schemas.microsoft.com/office/drawing/2014/main" val="3755099776"/>
                    </a:ext>
                  </a:extLst>
                </a:gridCol>
                <a:gridCol w="1503123">
                  <a:extLst>
                    <a:ext uri="{9D8B030D-6E8A-4147-A177-3AD203B41FA5}">
                      <a16:colId xmlns:a16="http://schemas.microsoft.com/office/drawing/2014/main" val="1175460428"/>
                    </a:ext>
                  </a:extLst>
                </a:gridCol>
                <a:gridCol w="1456157">
                  <a:extLst>
                    <a:ext uri="{9D8B030D-6E8A-4147-A177-3AD203B41FA5}">
                      <a16:colId xmlns:a16="http://schemas.microsoft.com/office/drawing/2014/main" val="392270664"/>
                    </a:ext>
                  </a:extLst>
                </a:gridCol>
              </a:tblGrid>
              <a:tr h="457725">
                <a:tc>
                  <a:txBody>
                    <a:bodyPr/>
                    <a:lstStyle/>
                    <a:p>
                      <a:pPr marL="0" lvl="0" indent="0" algn="l" rtl="0">
                        <a:lnSpc>
                          <a:spcPct val="100000"/>
                        </a:lnSpc>
                        <a:spcBef>
                          <a:spcPts val="0"/>
                        </a:spcBef>
                        <a:spcAft>
                          <a:spcPts val="0"/>
                        </a:spcAft>
                        <a:buNone/>
                      </a:pPr>
                      <a:r>
                        <a:rPr lang="en" b="1">
                          <a:solidFill>
                            <a:schemeClr val="dk1"/>
                          </a:solidFill>
                          <a:latin typeface="Lexend"/>
                          <a:ea typeface="Lexend"/>
                          <a:cs typeface="Lexend"/>
                          <a:sym typeface="Lexend"/>
                        </a:rPr>
                        <a:t>Treatment option</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Accuracy</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Precision</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Recall</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F1-Score</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3177291366"/>
                  </a:ext>
                </a:extLst>
              </a:tr>
              <a:tr h="457725">
                <a:tc>
                  <a:txBody>
                    <a:bodyPr/>
                    <a:lstStyle/>
                    <a:p>
                      <a:pPr marL="0" lvl="0" indent="0" algn="l" rtl="0">
                        <a:lnSpc>
                          <a:spcPct val="100000"/>
                        </a:lnSpc>
                        <a:spcBef>
                          <a:spcPts val="0"/>
                        </a:spcBef>
                        <a:spcAft>
                          <a:spcPts val="0"/>
                        </a:spcAft>
                        <a:buNone/>
                      </a:pPr>
                      <a:r>
                        <a:rPr lang="vi-VN" sz="1200" b="1">
                          <a:solidFill>
                            <a:schemeClr val="dk1"/>
                          </a:solidFill>
                          <a:latin typeface="Lexend"/>
                          <a:ea typeface="Lexend"/>
                          <a:cs typeface="Lexend"/>
                          <a:sym typeface="Lexend"/>
                        </a:rPr>
                        <a:t>LeNet Gốc</a:t>
                      </a:r>
                      <a:endParaRPr sz="1200"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86.24</a:t>
                      </a:r>
                      <a:r>
                        <a:rPr lang="en" sz="1200">
                          <a:solidFill>
                            <a:schemeClr val="dk1"/>
                          </a:solidFill>
                          <a:latin typeface="Catamaran"/>
                          <a:ea typeface="Catamaran"/>
                          <a:cs typeface="Catamaran"/>
                          <a:sym typeface="Catamaran"/>
                        </a:rPr>
                        <a:t>%</a:t>
                      </a:r>
                      <a:endParaRPr sz="1200">
                        <a:solidFill>
                          <a:schemeClr val="dk1"/>
                        </a:solidFill>
                        <a:latin typeface="Catamaran"/>
                        <a:ea typeface="Catamaran"/>
                        <a:cs typeface="Catamaran"/>
                        <a:sym typeface="Catamaran"/>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86.25%</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86.19%</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86.21%</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628588183"/>
                  </a:ext>
                </a:extLst>
              </a:tr>
              <a:tr h="457725">
                <a:tc>
                  <a:txBody>
                    <a:bodyPr/>
                    <a:lstStyle/>
                    <a:p>
                      <a:pPr marL="0" lvl="0" indent="0" algn="l" rtl="0">
                        <a:lnSpc>
                          <a:spcPct val="100000"/>
                        </a:lnSpc>
                        <a:spcBef>
                          <a:spcPts val="0"/>
                        </a:spcBef>
                        <a:spcAft>
                          <a:spcPts val="0"/>
                        </a:spcAft>
                        <a:buNone/>
                      </a:pPr>
                      <a:r>
                        <a:rPr lang="vi-VN" sz="1200" b="1">
                          <a:solidFill>
                            <a:schemeClr val="dk1"/>
                          </a:solidFill>
                          <a:latin typeface="Lexend"/>
                          <a:ea typeface="Lexend"/>
                          <a:cs typeface="Lexend"/>
                          <a:sym typeface="Lexend"/>
                        </a:rPr>
                        <a:t>LeNet Cải tiến</a:t>
                      </a:r>
                      <a:endParaRPr sz="1200"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87.97</a:t>
                      </a:r>
                      <a:r>
                        <a:rPr lang="en" sz="1200">
                          <a:solidFill>
                            <a:schemeClr val="dk1"/>
                          </a:solidFill>
                          <a:latin typeface="Catamaran"/>
                          <a:ea typeface="Catamaran"/>
                          <a:cs typeface="Catamaran"/>
                          <a:sym typeface="Catamaran"/>
                        </a:rPr>
                        <a:t>%</a:t>
                      </a:r>
                      <a:endParaRPr sz="1200">
                        <a:solidFill>
                          <a:schemeClr val="dk1"/>
                        </a:solidFill>
                        <a:latin typeface="Catamaran"/>
                        <a:ea typeface="Catamaran"/>
                        <a:cs typeface="Catamaran"/>
                        <a:sym typeface="Catamaran"/>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88.22%</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87.84%</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Catamaran"/>
                          <a:ea typeface="Catamaran"/>
                          <a:cs typeface="Catamaran"/>
                          <a:sym typeface="Catamaran"/>
                        </a:rPr>
                        <a:t>87.91%</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767394680"/>
                  </a:ext>
                </a:extLst>
              </a:tr>
            </a:tbl>
          </a:graphicData>
        </a:graphic>
      </p:graphicFrame>
      <p:sp>
        <p:nvSpPr>
          <p:cNvPr id="6" name="Text Placeholder 5">
            <a:extLst>
              <a:ext uri="{FF2B5EF4-FFF2-40B4-BE49-F238E27FC236}">
                <a16:creationId xmlns:a16="http://schemas.microsoft.com/office/drawing/2014/main" id="{BACEE55F-5426-E126-DADD-7AB682BB5405}"/>
              </a:ext>
            </a:extLst>
          </p:cNvPr>
          <p:cNvSpPr>
            <a:spLocks noGrp="1"/>
          </p:cNvSpPr>
          <p:nvPr>
            <p:ph type="body" idx="1"/>
          </p:nvPr>
        </p:nvSpPr>
        <p:spPr>
          <a:xfrm>
            <a:off x="350729" y="3041579"/>
            <a:ext cx="8154444" cy="2398800"/>
          </a:xfrm>
        </p:spPr>
        <p:txBody>
          <a:bodyPr/>
          <a:lstStyle/>
          <a:p>
            <a:pPr marL="285750" lvl="0" indent="172800" algn="just">
              <a:buFont typeface="Arial" panose="020B0604020202020204" pitchFamily="34" charset="0"/>
              <a:buChar char="•"/>
            </a:pPr>
            <a:r>
              <a:rPr lang="vi-VN">
                <a:solidFill>
                  <a:srgbClr val="3B406B"/>
                </a:solidFill>
                <a:latin typeface="Lexend" panose="020B0604020202020204" charset="0"/>
              </a:rPr>
              <a:t>Accuracy (Độ chính xác tổng quát): Khả năng phân loại đúng giữa "Bình thường" và "Bất thường" của mạng cải tiến tốt hơn.</a:t>
            </a:r>
          </a:p>
          <a:p>
            <a:pPr marL="285750" lvl="0" indent="172800" algn="just">
              <a:buFont typeface="Arial" panose="020B0604020202020204" pitchFamily="34" charset="0"/>
              <a:buChar char="•"/>
            </a:pPr>
            <a:r>
              <a:rPr lang="vi-VN">
                <a:solidFill>
                  <a:srgbClr val="3B406B"/>
                </a:solidFill>
                <a:latin typeface="Lexend" panose="020B0604020202020204" charset="0"/>
              </a:rPr>
              <a:t>Precision (Độ chính xác trên các ca dự đoán bệnh): Khi mô hình báo là "Bất thường", khả năng người đó thực sự có bệnh là rất cao, giúp giảm thiểu các ca báo động giả.</a:t>
            </a:r>
          </a:p>
          <a:p>
            <a:pPr marL="285750" lvl="0" indent="172800" algn="just">
              <a:buFont typeface="Arial" panose="020B0604020202020204" pitchFamily="34" charset="0"/>
              <a:buChar char="•"/>
            </a:pPr>
            <a:r>
              <a:rPr lang="vi-VN">
                <a:solidFill>
                  <a:srgbClr val="3B406B"/>
                </a:solidFill>
                <a:latin typeface="Lexend" panose="020B0604020202020204" charset="0"/>
              </a:rPr>
              <a:t>Recall (Độ nhạy - Khả năng không bỏ sót bệnh): Trong y tế, Recall cao giúp hạn chế tình trạng "âm tính giả" (người có bệnh nhưng bị đoán là bình thường).</a:t>
            </a:r>
          </a:p>
          <a:p>
            <a:pPr marL="285750" lvl="0" indent="172800" algn="just">
              <a:buFont typeface="Arial" panose="020B0604020202020204" pitchFamily="34" charset="0"/>
              <a:buChar char="•"/>
            </a:pPr>
            <a:r>
              <a:rPr lang="vi-VN">
                <a:solidFill>
                  <a:srgbClr val="3B406B"/>
                </a:solidFill>
                <a:latin typeface="Lexend" panose="020B0604020202020204" charset="0"/>
              </a:rPr>
              <a:t>F1-Score (Điểm cân bằng): Đây là giá trị trung bình điều hòa giữa Precision và Recall. F1-Score rất cao và ổn định, chứng tỏ mô hình không hề bị lệch về hướng ưu tiên Precision hay Recall mà cân bằng tốt cả hai.</a:t>
            </a:r>
          </a:p>
          <a:p>
            <a:endParaRPr lang="vi-VN"/>
          </a:p>
        </p:txBody>
      </p:sp>
    </p:spTree>
    <p:extLst>
      <p:ext uri="{BB962C8B-B14F-4D97-AF65-F5344CB8AC3E}">
        <p14:creationId xmlns:p14="http://schemas.microsoft.com/office/powerpoint/2010/main" val="3280945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C6B887FA-764B-CD85-E9E7-320D3BEA3384}"/>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0B1D7E3A-4967-7744-6B5A-F6A8A859D177}"/>
              </a:ext>
            </a:extLst>
          </p:cNvPr>
          <p:cNvSpPr txBox="1">
            <a:spLocks noGrp="1"/>
          </p:cNvSpPr>
          <p:nvPr>
            <p:ph type="title"/>
          </p:nvPr>
        </p:nvSpPr>
        <p:spPr>
          <a:xfrm>
            <a:off x="900398" y="425987"/>
            <a:ext cx="4423164" cy="1087200"/>
          </a:xfrm>
          <a:prstGeom prst="rect">
            <a:avLst/>
          </a:prstGeom>
        </p:spPr>
        <p:txBody>
          <a:bodyPr spcFirstLastPara="1" wrap="square" lIns="91425" tIns="91425" rIns="91425" bIns="91425" anchor="t" anchorCtr="0">
            <a:noAutofit/>
          </a:bodyPr>
          <a:lstStyle/>
          <a:p>
            <a:pPr lvl="0"/>
            <a:r>
              <a:rPr lang="vi-VN"/>
              <a:t>So sánh và đánh giá</a:t>
            </a:r>
            <a:endParaRPr/>
          </a:p>
        </p:txBody>
      </p:sp>
      <p:sp>
        <p:nvSpPr>
          <p:cNvPr id="6" name="Text Placeholder 5">
            <a:extLst>
              <a:ext uri="{FF2B5EF4-FFF2-40B4-BE49-F238E27FC236}">
                <a16:creationId xmlns:a16="http://schemas.microsoft.com/office/drawing/2014/main" id="{ACBE6C68-680A-C267-FA37-B387CD304561}"/>
              </a:ext>
            </a:extLst>
          </p:cNvPr>
          <p:cNvSpPr>
            <a:spLocks noGrp="1"/>
          </p:cNvSpPr>
          <p:nvPr>
            <p:ph type="body" idx="1"/>
          </p:nvPr>
        </p:nvSpPr>
        <p:spPr>
          <a:xfrm>
            <a:off x="261848" y="4126555"/>
            <a:ext cx="4374423" cy="2398800"/>
          </a:xfrm>
        </p:spPr>
        <p:txBody>
          <a:bodyPr/>
          <a:lstStyle/>
          <a:p>
            <a:pPr lvl="0" algn="just"/>
            <a:r>
              <a:rPr lang="vi-VN">
                <a:solidFill>
                  <a:srgbClr val="3B406B"/>
                </a:solidFill>
                <a:latin typeface="Lexend" panose="020B0604020202020204" charset="0"/>
              </a:rPr>
              <a:t>Dự đoán đúng người khỏe mạnh tốt hơn một chút (1301 so với 1286).</a:t>
            </a:r>
          </a:p>
          <a:p>
            <a:pPr lvl="0" algn="just"/>
            <a:r>
              <a:rPr lang="vi-VN">
                <a:solidFill>
                  <a:srgbClr val="3B406B"/>
                </a:solidFill>
                <a:latin typeface="Lexend" panose="020B0604020202020204" charset="0"/>
              </a:rPr>
              <a:t>Tuy nhiên, việc bỏ sót hơn 200 ca bệnh là một điểm yếu lớn so với mạng cải tiến.</a:t>
            </a:r>
          </a:p>
        </p:txBody>
      </p:sp>
      <p:pic>
        <p:nvPicPr>
          <p:cNvPr id="2" name="Picture 1">
            <a:extLst>
              <a:ext uri="{FF2B5EF4-FFF2-40B4-BE49-F238E27FC236}">
                <a16:creationId xmlns:a16="http://schemas.microsoft.com/office/drawing/2014/main" id="{3A532A1A-37FC-3449-3640-DAF3AE719ED6}"/>
              </a:ext>
            </a:extLst>
          </p:cNvPr>
          <p:cNvPicPr>
            <a:picLocks noChangeAspect="1"/>
          </p:cNvPicPr>
          <p:nvPr/>
        </p:nvPicPr>
        <p:blipFill>
          <a:blip r:embed="rId3"/>
          <a:stretch>
            <a:fillRect/>
          </a:stretch>
        </p:blipFill>
        <p:spPr>
          <a:xfrm>
            <a:off x="900398" y="969587"/>
            <a:ext cx="3542900" cy="3204326"/>
          </a:xfrm>
          <a:prstGeom prst="rect">
            <a:avLst/>
          </a:prstGeom>
        </p:spPr>
      </p:pic>
      <p:pic>
        <p:nvPicPr>
          <p:cNvPr id="3" name="Picture 2">
            <a:extLst>
              <a:ext uri="{FF2B5EF4-FFF2-40B4-BE49-F238E27FC236}">
                <a16:creationId xmlns:a16="http://schemas.microsoft.com/office/drawing/2014/main" id="{C2715A26-103B-FD82-3333-F14A3AD6DB01}"/>
              </a:ext>
            </a:extLst>
          </p:cNvPr>
          <p:cNvPicPr>
            <a:picLocks noChangeAspect="1"/>
          </p:cNvPicPr>
          <p:nvPr/>
        </p:nvPicPr>
        <p:blipFill>
          <a:blip r:embed="rId4"/>
          <a:stretch>
            <a:fillRect/>
          </a:stretch>
        </p:blipFill>
        <p:spPr>
          <a:xfrm>
            <a:off x="4786173" y="881905"/>
            <a:ext cx="3457429" cy="3204326"/>
          </a:xfrm>
          <a:prstGeom prst="rect">
            <a:avLst/>
          </a:prstGeom>
        </p:spPr>
      </p:pic>
      <p:sp>
        <p:nvSpPr>
          <p:cNvPr id="5" name="Text Placeholder 5">
            <a:extLst>
              <a:ext uri="{FF2B5EF4-FFF2-40B4-BE49-F238E27FC236}">
                <a16:creationId xmlns:a16="http://schemas.microsoft.com/office/drawing/2014/main" id="{5E402AFE-C435-4933-4A6A-F4E187CF8A94}"/>
              </a:ext>
            </a:extLst>
          </p:cNvPr>
          <p:cNvSpPr txBox="1">
            <a:spLocks/>
          </p:cNvSpPr>
          <p:nvPr/>
        </p:nvSpPr>
        <p:spPr>
          <a:xfrm>
            <a:off x="4572000" y="4126555"/>
            <a:ext cx="4374423" cy="2398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1"/>
              </a:buClr>
              <a:buSzPts val="1400"/>
              <a:buFont typeface="Catamaran"/>
              <a:buChar char="●"/>
              <a:defRPr sz="1200" b="0" i="0" u="none" strike="noStrike" cap="none">
                <a:solidFill>
                  <a:srgbClr val="434343"/>
                </a:solidFill>
                <a:latin typeface="Catamaran"/>
                <a:ea typeface="Catamaran"/>
                <a:cs typeface="Catamaran"/>
                <a:sym typeface="Catamaran"/>
              </a:defRPr>
            </a:lvl1pPr>
            <a:lvl2pPr marL="914400" marR="0" lvl="1"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2pPr>
            <a:lvl3pPr marL="1371600" marR="0" lvl="2"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3pPr>
            <a:lvl4pPr marL="1828800" marR="0" lvl="3"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4pPr>
            <a:lvl5pPr marL="2286000" marR="0" lvl="4"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5pPr>
            <a:lvl6pPr marL="2743200" marR="0" lvl="5"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6pPr>
            <a:lvl7pPr marL="3200400" marR="0" lvl="6"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7pPr>
            <a:lvl8pPr marL="3657600" marR="0" lvl="7"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8pPr>
            <a:lvl9pPr marL="4114800" marR="0" lvl="8"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9pPr>
          </a:lstStyle>
          <a:p>
            <a:pPr lvl="0" algn="just"/>
            <a:r>
              <a:rPr lang="vi-VN">
                <a:solidFill>
                  <a:srgbClr val="3B406B"/>
                </a:solidFill>
                <a:latin typeface="Lexend" panose="020B0604020202020204" charset="0"/>
              </a:rPr>
              <a:t>Dự đoán đúng bệnh: 1508 trường hợp.</a:t>
            </a:r>
          </a:p>
          <a:p>
            <a:pPr lvl="0" algn="just"/>
            <a:r>
              <a:rPr lang="vi-VN">
                <a:solidFill>
                  <a:srgbClr val="3B406B"/>
                </a:solidFill>
                <a:latin typeface="Lexend" panose="020B0604020202020204" charset="0"/>
              </a:rPr>
              <a:t>Bỏ sót bệnh: Chỉ còn 134. Mô hình Cải tiến giúp giảm đáng kể nguy cơ bỏ sót bệnh nhân.</a:t>
            </a:r>
          </a:p>
          <a:p>
            <a:pPr algn="just"/>
            <a:endParaRPr lang="vi-VN">
              <a:solidFill>
                <a:srgbClr val="3B406B"/>
              </a:solidFill>
              <a:latin typeface="Lexend" panose="020B0604020202020204" charset="0"/>
            </a:endParaRPr>
          </a:p>
        </p:txBody>
      </p:sp>
    </p:spTree>
    <p:extLst>
      <p:ext uri="{BB962C8B-B14F-4D97-AF65-F5344CB8AC3E}">
        <p14:creationId xmlns:p14="http://schemas.microsoft.com/office/powerpoint/2010/main" val="2569626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Kết quả thử nghiệm</a:t>
            </a:r>
            <a:endParaRPr/>
          </a:p>
        </p:txBody>
      </p:sp>
      <p:pic>
        <p:nvPicPr>
          <p:cNvPr id="4" name="Picture 3">
            <a:extLst>
              <a:ext uri="{FF2B5EF4-FFF2-40B4-BE49-F238E27FC236}">
                <a16:creationId xmlns:a16="http://schemas.microsoft.com/office/drawing/2014/main" id="{37C43F1F-E66F-EFC5-4895-162A6568FDED}"/>
              </a:ext>
            </a:extLst>
          </p:cNvPr>
          <p:cNvPicPr>
            <a:picLocks noChangeAspect="1"/>
          </p:cNvPicPr>
          <p:nvPr/>
        </p:nvPicPr>
        <p:blipFill>
          <a:blip r:embed="rId3"/>
          <a:stretch>
            <a:fillRect/>
          </a:stretch>
        </p:blipFill>
        <p:spPr>
          <a:xfrm>
            <a:off x="1004341" y="1130151"/>
            <a:ext cx="3275352" cy="3723213"/>
          </a:xfrm>
          <a:prstGeom prst="rect">
            <a:avLst/>
          </a:prstGeom>
        </p:spPr>
      </p:pic>
      <p:pic>
        <p:nvPicPr>
          <p:cNvPr id="5" name="Picture 4">
            <a:extLst>
              <a:ext uri="{FF2B5EF4-FFF2-40B4-BE49-F238E27FC236}">
                <a16:creationId xmlns:a16="http://schemas.microsoft.com/office/drawing/2014/main" id="{0126A3AA-2C51-BF1E-4627-CFDED17953C3}"/>
              </a:ext>
            </a:extLst>
          </p:cNvPr>
          <p:cNvPicPr>
            <a:picLocks noChangeAspect="1"/>
          </p:cNvPicPr>
          <p:nvPr/>
        </p:nvPicPr>
        <p:blipFill>
          <a:blip r:embed="rId4"/>
          <a:stretch>
            <a:fillRect/>
          </a:stretch>
        </p:blipFill>
        <p:spPr>
          <a:xfrm>
            <a:off x="5014210" y="1130151"/>
            <a:ext cx="3409790" cy="36845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AF4E90F6-EBA2-8C78-E7AD-84990BE2829F}"/>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EF4A0C09-FBF7-A3BB-1BBB-2B78AB52A55E}"/>
              </a:ext>
            </a:extLst>
          </p:cNvPr>
          <p:cNvSpPr txBox="1">
            <a:spLocks noGrp="1"/>
          </p:cNvSpPr>
          <p:nvPr>
            <p:ph type="title"/>
          </p:nvPr>
        </p:nvSpPr>
        <p:spPr>
          <a:xfrm>
            <a:off x="674928" y="438729"/>
            <a:ext cx="5838605" cy="1087200"/>
          </a:xfrm>
          <a:prstGeom prst="rect">
            <a:avLst/>
          </a:prstGeom>
        </p:spPr>
        <p:txBody>
          <a:bodyPr spcFirstLastPara="1" wrap="square" lIns="91425" tIns="91425" rIns="91425" bIns="91425" anchor="t" anchorCtr="0">
            <a:noAutofit/>
          </a:bodyPr>
          <a:lstStyle/>
          <a:p>
            <a:pPr lvl="0"/>
            <a:r>
              <a:rPr lang="vi-VN"/>
              <a:t>Kết luận và hướng phát triển</a:t>
            </a:r>
            <a:endParaRPr/>
          </a:p>
        </p:txBody>
      </p:sp>
      <p:sp>
        <p:nvSpPr>
          <p:cNvPr id="265" name="Google Shape;265;p31">
            <a:extLst>
              <a:ext uri="{FF2B5EF4-FFF2-40B4-BE49-F238E27FC236}">
                <a16:creationId xmlns:a16="http://schemas.microsoft.com/office/drawing/2014/main" id="{6662D2FA-B164-6BD1-9137-BCCC39E07441}"/>
              </a:ext>
            </a:extLst>
          </p:cNvPr>
          <p:cNvSpPr txBox="1">
            <a:spLocks noGrp="1"/>
          </p:cNvSpPr>
          <p:nvPr>
            <p:ph type="body" idx="1"/>
          </p:nvPr>
        </p:nvSpPr>
        <p:spPr>
          <a:xfrm>
            <a:off x="925450" y="1525929"/>
            <a:ext cx="7441936" cy="2398800"/>
          </a:xfrm>
          <a:prstGeom prst="rect">
            <a:avLst/>
          </a:prstGeom>
        </p:spPr>
        <p:txBody>
          <a:bodyPr spcFirstLastPara="1" wrap="square" lIns="91425" tIns="91425" rIns="91425" bIns="91425" anchor="t" anchorCtr="0">
            <a:noAutofit/>
          </a:bodyPr>
          <a:lstStyle/>
          <a:p>
            <a:pPr marL="0" lvl="0" indent="0">
              <a:buNone/>
            </a:pPr>
            <a:r>
              <a:rPr lang="vi-VN" sz="1600" b="1">
                <a:solidFill>
                  <a:schemeClr val="dk1"/>
                </a:solidFill>
              </a:rPr>
              <a:t>Hướng phát triển:</a:t>
            </a:r>
          </a:p>
          <a:p>
            <a:pPr lvl="0" indent="176400"/>
            <a:r>
              <a:rPr lang="vi-VN">
                <a:solidFill>
                  <a:srgbClr val="3B406B"/>
                </a:solidFill>
              </a:rPr>
              <a:t>Không cần gộp các lớp COVID, Lung_Opacity và Viral Pneumonia thành Abnormal mà thực hiện phân loại đa lớp.</a:t>
            </a:r>
          </a:p>
          <a:p>
            <a:pPr lvl="0" indent="176400"/>
            <a:r>
              <a:rPr lang="vi-VN">
                <a:solidFill>
                  <a:srgbClr val="3B406B"/>
                </a:solidFill>
              </a:rPr>
              <a:t>Thử nghiệm với các kiến trúc mạng sâu hơn như ResNet, VGG hoặc Vision Transformer (ViT) để nâng độ chính xác lên trên 95% đối với các ca bệnh khó.</a:t>
            </a:r>
          </a:p>
          <a:p>
            <a:pPr lvl="0" indent="176400"/>
            <a:r>
              <a:rPr lang="vi-VN">
                <a:solidFill>
                  <a:srgbClr val="3B406B"/>
                </a:solidFill>
              </a:rPr>
              <a:t>Phát triển ứng dụng Web hoặc Mobile cho phép người dùng tải ảnh X-quang lên và nhận kết quả chẩn đoán sơ bộ ngay lập tức.</a:t>
            </a:r>
          </a:p>
          <a:p>
            <a:pPr lvl="0"/>
            <a:endParaRPr lang="vi-VN"/>
          </a:p>
        </p:txBody>
      </p:sp>
    </p:spTree>
    <p:extLst>
      <p:ext uri="{BB962C8B-B14F-4D97-AF65-F5344CB8AC3E}">
        <p14:creationId xmlns:p14="http://schemas.microsoft.com/office/powerpoint/2010/main" val="459237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A487373A-A113-197F-3189-A642C9B338D9}"/>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A7E1E19E-09F0-B6E6-51D6-939E525912E7}"/>
              </a:ext>
            </a:extLst>
          </p:cNvPr>
          <p:cNvSpPr txBox="1">
            <a:spLocks noGrp="1"/>
          </p:cNvSpPr>
          <p:nvPr>
            <p:ph type="title"/>
          </p:nvPr>
        </p:nvSpPr>
        <p:spPr>
          <a:xfrm>
            <a:off x="674928" y="438729"/>
            <a:ext cx="5838605" cy="1087200"/>
          </a:xfrm>
          <a:prstGeom prst="rect">
            <a:avLst/>
          </a:prstGeom>
        </p:spPr>
        <p:txBody>
          <a:bodyPr spcFirstLastPara="1" wrap="square" lIns="91425" tIns="91425" rIns="91425" bIns="91425" anchor="t" anchorCtr="0">
            <a:noAutofit/>
          </a:bodyPr>
          <a:lstStyle/>
          <a:p>
            <a:pPr lvl="0"/>
            <a:r>
              <a:rPr lang="vi-VN"/>
              <a:t>Kết luận và hướng phát triển</a:t>
            </a:r>
            <a:endParaRPr/>
          </a:p>
        </p:txBody>
      </p:sp>
      <p:sp>
        <p:nvSpPr>
          <p:cNvPr id="265" name="Google Shape;265;p31">
            <a:extLst>
              <a:ext uri="{FF2B5EF4-FFF2-40B4-BE49-F238E27FC236}">
                <a16:creationId xmlns:a16="http://schemas.microsoft.com/office/drawing/2014/main" id="{60C24BFF-C698-55E2-A41C-883FED490DD2}"/>
              </a:ext>
            </a:extLst>
          </p:cNvPr>
          <p:cNvSpPr txBox="1">
            <a:spLocks noGrp="1"/>
          </p:cNvSpPr>
          <p:nvPr>
            <p:ph type="body" idx="1"/>
          </p:nvPr>
        </p:nvSpPr>
        <p:spPr>
          <a:xfrm>
            <a:off x="925450" y="1525929"/>
            <a:ext cx="7441936" cy="2398800"/>
          </a:xfrm>
          <a:prstGeom prst="rect">
            <a:avLst/>
          </a:prstGeom>
        </p:spPr>
        <p:txBody>
          <a:bodyPr spcFirstLastPara="1" wrap="square" lIns="91425" tIns="91425" rIns="91425" bIns="91425" anchor="t" anchorCtr="0">
            <a:noAutofit/>
          </a:bodyPr>
          <a:lstStyle/>
          <a:p>
            <a:pPr marL="0" lvl="0" indent="0">
              <a:buNone/>
            </a:pPr>
            <a:r>
              <a:rPr lang="vi-VN" sz="1600" b="1">
                <a:solidFill>
                  <a:schemeClr val="dk1"/>
                </a:solidFill>
              </a:rPr>
              <a:t>Kết luận:</a:t>
            </a:r>
          </a:p>
          <a:p>
            <a:pPr lvl="0" indent="172800"/>
            <a:r>
              <a:rPr lang="vi-VN">
                <a:solidFill>
                  <a:srgbClr val="3B406B"/>
                </a:solidFill>
              </a:rPr>
              <a:t>Triển khai thành công LeNet-5 và phiên bản cải tiến tích hợp các kỹ thuật hiện đại như Batch Normalization, Dropout và hàm kích hoạt ReLU.</a:t>
            </a:r>
          </a:p>
          <a:p>
            <a:pPr indent="172800"/>
            <a:r>
              <a:rPr lang="vi-VN">
                <a:solidFill>
                  <a:srgbClr val="3B406B"/>
                </a:solidFill>
              </a:rPr>
              <a:t>Mô hình cải tiến cho thấy sự vượt trội về tốc độ hội tụ, đạt độ chính xác trên 85% chỉ sau 3 epoch, nhanh hơn gấp 3 lần so với mô hình gốc.</a:t>
            </a:r>
          </a:p>
          <a:p>
            <a:pPr indent="172800"/>
            <a:r>
              <a:rPr lang="vi-VN">
                <a:solidFill>
                  <a:srgbClr val="3B406B"/>
                </a:solidFill>
              </a:rPr>
              <a:t>Mô hình cải tiến đạt các chỉ số cao với Accuracy (87.97%), Precision (88.22%) và F1-Score (87.91%). Đặc biệt là khả năng phát hiện bệnh được cải thiện rõ rệt khi số ca bỏ sót bệnh (False Negative) giảm từ 204 xuống còn 134 ca.</a:t>
            </a:r>
          </a:p>
          <a:p>
            <a:pPr indent="172800"/>
            <a:r>
              <a:rPr lang="vi-VN">
                <a:solidFill>
                  <a:srgbClr val="3B406B"/>
                </a:solidFill>
              </a:rPr>
              <a:t>Với dung lượng mô hình cực nhẹ (0.40 MB) và khả năng vận hành ổn định trên CPU, giải pháp này hoàn toàn khả thi để triển khai trên các thiết bị có cấu hình thấp tại các cơ sở y tế lưu động hoặc vùng sâu vùng xa.</a:t>
            </a:r>
          </a:p>
          <a:p>
            <a:pPr lvl="0"/>
            <a:endParaRPr lang="vi-VN"/>
          </a:p>
        </p:txBody>
      </p:sp>
    </p:spTree>
    <p:extLst>
      <p:ext uri="{BB962C8B-B14F-4D97-AF65-F5344CB8AC3E}">
        <p14:creationId xmlns:p14="http://schemas.microsoft.com/office/powerpoint/2010/main" val="1242010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3B529CEB-6DA2-DDDF-C34D-4AFAD39C7117}"/>
            </a:ext>
          </a:extLst>
        </p:cNvPr>
        <p:cNvGrpSpPr/>
        <p:nvPr/>
      </p:nvGrpSpPr>
      <p:grpSpPr>
        <a:xfrm>
          <a:off x="0" y="0"/>
          <a:ext cx="0" cy="0"/>
          <a:chOff x="0" y="0"/>
          <a:chExt cx="0" cy="0"/>
        </a:xfrm>
      </p:grpSpPr>
      <p:sp>
        <p:nvSpPr>
          <p:cNvPr id="145" name="Google Shape;145;p27">
            <a:extLst>
              <a:ext uri="{FF2B5EF4-FFF2-40B4-BE49-F238E27FC236}">
                <a16:creationId xmlns:a16="http://schemas.microsoft.com/office/drawing/2014/main" id="{2BBADFBA-BA7A-CCCF-5226-3DC3FEED0DAC}"/>
              </a:ext>
            </a:extLst>
          </p:cNvPr>
          <p:cNvSpPr txBox="1">
            <a:spLocks noGrp="1"/>
          </p:cNvSpPr>
          <p:nvPr>
            <p:ph type="ctrTitle"/>
          </p:nvPr>
        </p:nvSpPr>
        <p:spPr>
          <a:xfrm>
            <a:off x="715100" y="535000"/>
            <a:ext cx="6169756" cy="1020724"/>
          </a:xfrm>
          <a:prstGeom prst="rect">
            <a:avLst/>
          </a:prstGeom>
        </p:spPr>
        <p:txBody>
          <a:bodyPr spcFirstLastPara="1" wrap="square" lIns="91425" tIns="91425" rIns="91425" bIns="91425" anchor="b" anchorCtr="0">
            <a:noAutofit/>
          </a:bodyPr>
          <a:lstStyle/>
          <a:p>
            <a:pPr lvl="0"/>
            <a:r>
              <a:rPr lang="vi-VN" sz="3000"/>
              <a:t>CẢM ƠN THẦY CÔ ĐÃ XEM</a:t>
            </a:r>
            <a:endParaRPr sz="3000" b="1"/>
          </a:p>
        </p:txBody>
      </p:sp>
      <p:grpSp>
        <p:nvGrpSpPr>
          <p:cNvPr id="146" name="Google Shape;146;p27">
            <a:extLst>
              <a:ext uri="{FF2B5EF4-FFF2-40B4-BE49-F238E27FC236}">
                <a16:creationId xmlns:a16="http://schemas.microsoft.com/office/drawing/2014/main" id="{95BC0807-8165-617F-D849-4353D11A6013}"/>
              </a:ext>
            </a:extLst>
          </p:cNvPr>
          <p:cNvGrpSpPr/>
          <p:nvPr/>
        </p:nvGrpSpPr>
        <p:grpSpPr>
          <a:xfrm>
            <a:off x="4617710" y="1912522"/>
            <a:ext cx="3792428" cy="2698979"/>
            <a:chOff x="5386676" y="1489213"/>
            <a:chExt cx="3042217" cy="2165072"/>
          </a:xfrm>
        </p:grpSpPr>
        <p:sp>
          <p:nvSpPr>
            <p:cNvPr id="147" name="Google Shape;147;p27">
              <a:extLst>
                <a:ext uri="{FF2B5EF4-FFF2-40B4-BE49-F238E27FC236}">
                  <a16:creationId xmlns:a16="http://schemas.microsoft.com/office/drawing/2014/main" id="{D1439A53-F181-91F5-7065-50239009754E}"/>
                </a:ext>
              </a:extLst>
            </p:cNvPr>
            <p:cNvSpPr/>
            <p:nvPr/>
          </p:nvSpPr>
          <p:spPr>
            <a:xfrm>
              <a:off x="5713819" y="2081564"/>
              <a:ext cx="2604163" cy="1472429"/>
            </a:xfrm>
            <a:custGeom>
              <a:avLst/>
              <a:gdLst/>
              <a:ahLst/>
              <a:cxnLst/>
              <a:rect l="l" t="t" r="r" b="b"/>
              <a:pathLst>
                <a:path w="59162" h="33451" extrusionOk="0">
                  <a:moveTo>
                    <a:pt x="25145" y="1"/>
                  </a:moveTo>
                  <a:cubicBezTo>
                    <a:pt x="16286" y="1"/>
                    <a:pt x="7329" y="4010"/>
                    <a:pt x="8096" y="13257"/>
                  </a:cubicBezTo>
                  <a:cubicBezTo>
                    <a:pt x="8665" y="20116"/>
                    <a:pt x="0" y="23262"/>
                    <a:pt x="2905" y="33395"/>
                  </a:cubicBezTo>
                  <a:lnTo>
                    <a:pt x="31183" y="33257"/>
                  </a:lnTo>
                  <a:lnTo>
                    <a:pt x="49824" y="33450"/>
                  </a:lnTo>
                  <a:cubicBezTo>
                    <a:pt x="53337" y="30762"/>
                    <a:pt x="59162" y="23577"/>
                    <a:pt x="49668" y="17576"/>
                  </a:cubicBezTo>
                  <a:cubicBezTo>
                    <a:pt x="42791" y="13232"/>
                    <a:pt x="44898" y="13800"/>
                    <a:pt x="40916" y="6499"/>
                  </a:cubicBezTo>
                  <a:cubicBezTo>
                    <a:pt x="38653" y="2351"/>
                    <a:pt x="31928" y="1"/>
                    <a:pt x="25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7">
              <a:extLst>
                <a:ext uri="{FF2B5EF4-FFF2-40B4-BE49-F238E27FC236}">
                  <a16:creationId xmlns:a16="http://schemas.microsoft.com/office/drawing/2014/main" id="{EAA51DE5-E197-6F49-CE17-77F3C4321A6A}"/>
                </a:ext>
              </a:extLst>
            </p:cNvPr>
            <p:cNvSpPr/>
            <p:nvPr/>
          </p:nvSpPr>
          <p:spPr>
            <a:xfrm>
              <a:off x="7635165" y="1625008"/>
              <a:ext cx="419619" cy="1091898"/>
            </a:xfrm>
            <a:custGeom>
              <a:avLst/>
              <a:gdLst/>
              <a:ahLst/>
              <a:cxnLst/>
              <a:rect l="l" t="t" r="r" b="b"/>
              <a:pathLst>
                <a:path w="9533" h="24806" extrusionOk="0">
                  <a:moveTo>
                    <a:pt x="2773" y="0"/>
                  </a:moveTo>
                  <a:cubicBezTo>
                    <a:pt x="2648" y="0"/>
                    <a:pt x="2524" y="31"/>
                    <a:pt x="2409" y="92"/>
                  </a:cubicBezTo>
                  <a:cubicBezTo>
                    <a:pt x="796" y="953"/>
                    <a:pt x="2014" y="3107"/>
                    <a:pt x="2669" y="4063"/>
                  </a:cubicBezTo>
                  <a:lnTo>
                    <a:pt x="2553" y="4135"/>
                  </a:lnTo>
                  <a:cubicBezTo>
                    <a:pt x="2224" y="3859"/>
                    <a:pt x="1867" y="3668"/>
                    <a:pt x="1509" y="3668"/>
                  </a:cubicBezTo>
                  <a:cubicBezTo>
                    <a:pt x="1180" y="3668"/>
                    <a:pt x="851" y="3828"/>
                    <a:pt x="540" y="4230"/>
                  </a:cubicBezTo>
                  <a:cubicBezTo>
                    <a:pt x="1" y="4924"/>
                    <a:pt x="395" y="6390"/>
                    <a:pt x="2481" y="6390"/>
                  </a:cubicBezTo>
                  <a:cubicBezTo>
                    <a:pt x="2790" y="6390"/>
                    <a:pt x="3136" y="6358"/>
                    <a:pt x="3522" y="6286"/>
                  </a:cubicBezTo>
                  <a:cubicBezTo>
                    <a:pt x="3767" y="6873"/>
                    <a:pt x="4029" y="7569"/>
                    <a:pt x="4281" y="8366"/>
                  </a:cubicBezTo>
                  <a:cubicBezTo>
                    <a:pt x="3822" y="7733"/>
                    <a:pt x="3216" y="7123"/>
                    <a:pt x="2583" y="7123"/>
                  </a:cubicBezTo>
                  <a:cubicBezTo>
                    <a:pt x="2272" y="7123"/>
                    <a:pt x="1954" y="7270"/>
                    <a:pt x="1644" y="7633"/>
                  </a:cubicBezTo>
                  <a:cubicBezTo>
                    <a:pt x="1054" y="8324"/>
                    <a:pt x="1439" y="9905"/>
                    <a:pt x="3758" y="9905"/>
                  </a:cubicBezTo>
                  <a:cubicBezTo>
                    <a:pt x="4041" y="9905"/>
                    <a:pt x="4353" y="9882"/>
                    <a:pt x="4695" y="9830"/>
                  </a:cubicBezTo>
                  <a:cubicBezTo>
                    <a:pt x="4836" y="10393"/>
                    <a:pt x="4966" y="10991"/>
                    <a:pt x="5077" y="11619"/>
                  </a:cubicBezTo>
                  <a:cubicBezTo>
                    <a:pt x="4602" y="10912"/>
                    <a:pt x="3920" y="10139"/>
                    <a:pt x="3207" y="10139"/>
                  </a:cubicBezTo>
                  <a:cubicBezTo>
                    <a:pt x="2895" y="10139"/>
                    <a:pt x="2577" y="10287"/>
                    <a:pt x="2268" y="10652"/>
                  </a:cubicBezTo>
                  <a:cubicBezTo>
                    <a:pt x="1679" y="11344"/>
                    <a:pt x="2062" y="12915"/>
                    <a:pt x="4361" y="12915"/>
                  </a:cubicBezTo>
                  <a:cubicBezTo>
                    <a:pt x="4633" y="12915"/>
                    <a:pt x="4933" y="12893"/>
                    <a:pt x="5261" y="12845"/>
                  </a:cubicBezTo>
                  <a:cubicBezTo>
                    <a:pt x="5362" y="13641"/>
                    <a:pt x="5428" y="14480"/>
                    <a:pt x="5449" y="15356"/>
                  </a:cubicBezTo>
                  <a:cubicBezTo>
                    <a:pt x="5063" y="14475"/>
                    <a:pt x="4434" y="13427"/>
                    <a:pt x="3618" y="13427"/>
                  </a:cubicBezTo>
                  <a:cubicBezTo>
                    <a:pt x="3366" y="13427"/>
                    <a:pt x="3097" y="13527"/>
                    <a:pt x="2811" y="13762"/>
                  </a:cubicBezTo>
                  <a:cubicBezTo>
                    <a:pt x="2042" y="14393"/>
                    <a:pt x="2303" y="16365"/>
                    <a:pt x="5449" y="16534"/>
                  </a:cubicBezTo>
                  <a:cubicBezTo>
                    <a:pt x="5432" y="17253"/>
                    <a:pt x="5382" y="17995"/>
                    <a:pt x="5294" y="18755"/>
                  </a:cubicBezTo>
                  <a:cubicBezTo>
                    <a:pt x="4913" y="17854"/>
                    <a:pt x="4206" y="16551"/>
                    <a:pt x="3296" y="16551"/>
                  </a:cubicBezTo>
                  <a:cubicBezTo>
                    <a:pt x="3034" y="16551"/>
                    <a:pt x="2756" y="16658"/>
                    <a:pt x="2465" y="16913"/>
                  </a:cubicBezTo>
                  <a:cubicBezTo>
                    <a:pt x="1713" y="17569"/>
                    <a:pt x="2024" y="19535"/>
                    <a:pt x="5183" y="19597"/>
                  </a:cubicBezTo>
                  <a:cubicBezTo>
                    <a:pt x="5041" y="20535"/>
                    <a:pt x="4841" y="21496"/>
                    <a:pt x="4567" y="22482"/>
                  </a:cubicBezTo>
                  <a:cubicBezTo>
                    <a:pt x="4397" y="21382"/>
                    <a:pt x="3963" y="19733"/>
                    <a:pt x="2879" y="19733"/>
                  </a:cubicBezTo>
                  <a:cubicBezTo>
                    <a:pt x="2707" y="19733"/>
                    <a:pt x="2517" y="19775"/>
                    <a:pt x="2310" y="19868"/>
                  </a:cubicBezTo>
                  <a:cubicBezTo>
                    <a:pt x="1424" y="20268"/>
                    <a:pt x="1248" y="22281"/>
                    <a:pt x="4314" y="23333"/>
                  </a:cubicBezTo>
                  <a:cubicBezTo>
                    <a:pt x="4188" y="23733"/>
                    <a:pt x="4053" y="24137"/>
                    <a:pt x="3902" y="24544"/>
                  </a:cubicBezTo>
                  <a:lnTo>
                    <a:pt x="4609" y="24805"/>
                  </a:lnTo>
                  <a:cubicBezTo>
                    <a:pt x="4973" y="23826"/>
                    <a:pt x="5264" y="22862"/>
                    <a:pt x="5493" y="21919"/>
                  </a:cubicBezTo>
                  <a:cubicBezTo>
                    <a:pt x="5766" y="21952"/>
                    <a:pt x="6019" y="21967"/>
                    <a:pt x="6253" y="21967"/>
                  </a:cubicBezTo>
                  <a:cubicBezTo>
                    <a:pt x="8680" y="21967"/>
                    <a:pt x="9082" y="20333"/>
                    <a:pt x="8480" y="19642"/>
                  </a:cubicBezTo>
                  <a:cubicBezTo>
                    <a:pt x="8176" y="19295"/>
                    <a:pt x="7865" y="19154"/>
                    <a:pt x="7561" y="19154"/>
                  </a:cubicBezTo>
                  <a:cubicBezTo>
                    <a:pt x="6894" y="19154"/>
                    <a:pt x="6259" y="19835"/>
                    <a:pt x="5792" y="20512"/>
                  </a:cubicBezTo>
                  <a:cubicBezTo>
                    <a:pt x="5921" y="19816"/>
                    <a:pt x="6016" y="19132"/>
                    <a:pt x="6083" y="18464"/>
                  </a:cubicBezTo>
                  <a:cubicBezTo>
                    <a:pt x="9228" y="18328"/>
                    <a:pt x="9533" y="16358"/>
                    <a:pt x="8780" y="15717"/>
                  </a:cubicBezTo>
                  <a:cubicBezTo>
                    <a:pt x="8496" y="15476"/>
                    <a:pt x="8225" y="15374"/>
                    <a:pt x="7971" y="15374"/>
                  </a:cubicBezTo>
                  <a:cubicBezTo>
                    <a:pt x="7208" y="15374"/>
                    <a:pt x="6589" y="16289"/>
                    <a:pt x="6181" y="17126"/>
                  </a:cubicBezTo>
                  <a:cubicBezTo>
                    <a:pt x="6217" y="16380"/>
                    <a:pt x="6216" y="15658"/>
                    <a:pt x="6189" y="14958"/>
                  </a:cubicBezTo>
                  <a:cubicBezTo>
                    <a:pt x="9302" y="14443"/>
                    <a:pt x="9426" y="12450"/>
                    <a:pt x="8615" y="11906"/>
                  </a:cubicBezTo>
                  <a:cubicBezTo>
                    <a:pt x="8356" y="11731"/>
                    <a:pt x="8116" y="11655"/>
                    <a:pt x="7894" y="11655"/>
                  </a:cubicBezTo>
                  <a:cubicBezTo>
                    <a:pt x="7035" y="11655"/>
                    <a:pt x="6451" y="12795"/>
                    <a:pt x="6112" y="13748"/>
                  </a:cubicBezTo>
                  <a:cubicBezTo>
                    <a:pt x="6054" y="13064"/>
                    <a:pt x="5969" y="12408"/>
                    <a:pt x="5867" y="11779"/>
                  </a:cubicBezTo>
                  <a:cubicBezTo>
                    <a:pt x="8888" y="10469"/>
                    <a:pt x="8612" y="8467"/>
                    <a:pt x="7708" y="8145"/>
                  </a:cubicBezTo>
                  <a:cubicBezTo>
                    <a:pt x="7533" y="8083"/>
                    <a:pt x="7373" y="8055"/>
                    <a:pt x="7226" y="8055"/>
                  </a:cubicBezTo>
                  <a:cubicBezTo>
                    <a:pt x="6198" y="8055"/>
                    <a:pt x="5792" y="9438"/>
                    <a:pt x="5633" y="10549"/>
                  </a:cubicBezTo>
                  <a:cubicBezTo>
                    <a:pt x="5492" y="9889"/>
                    <a:pt x="5334" y="9268"/>
                    <a:pt x="5165" y="8690"/>
                  </a:cubicBezTo>
                  <a:cubicBezTo>
                    <a:pt x="8205" y="7379"/>
                    <a:pt x="7928" y="5373"/>
                    <a:pt x="7022" y="5050"/>
                  </a:cubicBezTo>
                  <a:cubicBezTo>
                    <a:pt x="6847" y="4988"/>
                    <a:pt x="6687" y="4960"/>
                    <a:pt x="6539" y="4960"/>
                  </a:cubicBezTo>
                  <a:cubicBezTo>
                    <a:pt x="5387" y="4960"/>
                    <a:pt x="5019" y="6698"/>
                    <a:pt x="4901" y="7843"/>
                  </a:cubicBezTo>
                  <a:cubicBezTo>
                    <a:pt x="4642" y="7052"/>
                    <a:pt x="4374" y="6361"/>
                    <a:pt x="4126" y="5783"/>
                  </a:cubicBezTo>
                  <a:cubicBezTo>
                    <a:pt x="7057" y="4475"/>
                    <a:pt x="6778" y="2508"/>
                    <a:pt x="5880" y="2187"/>
                  </a:cubicBezTo>
                  <a:cubicBezTo>
                    <a:pt x="5706" y="2126"/>
                    <a:pt x="5546" y="2097"/>
                    <a:pt x="5399" y="2097"/>
                  </a:cubicBezTo>
                  <a:cubicBezTo>
                    <a:pt x="4247" y="2097"/>
                    <a:pt x="3880" y="3834"/>
                    <a:pt x="3763" y="4978"/>
                  </a:cubicBezTo>
                  <a:cubicBezTo>
                    <a:pt x="3549" y="4528"/>
                    <a:pt x="3370" y="4197"/>
                    <a:pt x="3258" y="3996"/>
                  </a:cubicBezTo>
                  <a:cubicBezTo>
                    <a:pt x="4425" y="1267"/>
                    <a:pt x="3574" y="0"/>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7">
              <a:extLst>
                <a:ext uri="{FF2B5EF4-FFF2-40B4-BE49-F238E27FC236}">
                  <a16:creationId xmlns:a16="http://schemas.microsoft.com/office/drawing/2014/main" id="{A388B312-8867-2669-8E20-D77A47C1455D}"/>
                </a:ext>
              </a:extLst>
            </p:cNvPr>
            <p:cNvSpPr/>
            <p:nvPr/>
          </p:nvSpPr>
          <p:spPr>
            <a:xfrm>
              <a:off x="5558611" y="3440051"/>
              <a:ext cx="2734807" cy="214233"/>
            </a:xfrm>
            <a:custGeom>
              <a:avLst/>
              <a:gdLst/>
              <a:ahLst/>
              <a:cxnLst/>
              <a:rect l="l" t="t" r="r" b="b"/>
              <a:pathLst>
                <a:path w="62130" h="4867" extrusionOk="0">
                  <a:moveTo>
                    <a:pt x="34852" y="0"/>
                  </a:moveTo>
                  <a:cubicBezTo>
                    <a:pt x="10119" y="0"/>
                    <a:pt x="1" y="1123"/>
                    <a:pt x="1" y="2469"/>
                  </a:cubicBezTo>
                  <a:cubicBezTo>
                    <a:pt x="1" y="3811"/>
                    <a:pt x="10121" y="4866"/>
                    <a:pt x="34852" y="4866"/>
                  </a:cubicBezTo>
                  <a:cubicBezTo>
                    <a:pt x="59582" y="4866"/>
                    <a:pt x="62129" y="3137"/>
                    <a:pt x="62129" y="1794"/>
                  </a:cubicBezTo>
                  <a:cubicBezTo>
                    <a:pt x="62129" y="448"/>
                    <a:pt x="59582" y="0"/>
                    <a:pt x="34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7">
              <a:extLst>
                <a:ext uri="{FF2B5EF4-FFF2-40B4-BE49-F238E27FC236}">
                  <a16:creationId xmlns:a16="http://schemas.microsoft.com/office/drawing/2014/main" id="{5592BD01-8EEF-EA41-3FC3-FB9D5B14BD97}"/>
                </a:ext>
              </a:extLst>
            </p:cNvPr>
            <p:cNvSpPr/>
            <p:nvPr/>
          </p:nvSpPr>
          <p:spPr>
            <a:xfrm>
              <a:off x="7946505" y="2071572"/>
              <a:ext cx="482388" cy="1220517"/>
            </a:xfrm>
            <a:custGeom>
              <a:avLst/>
              <a:gdLst/>
              <a:ahLst/>
              <a:cxnLst/>
              <a:rect l="l" t="t" r="r" b="b"/>
              <a:pathLst>
                <a:path w="10959" h="27728" extrusionOk="0">
                  <a:moveTo>
                    <a:pt x="5175" y="0"/>
                  </a:moveTo>
                  <a:cubicBezTo>
                    <a:pt x="4523" y="0"/>
                    <a:pt x="3964" y="496"/>
                    <a:pt x="3900" y="1159"/>
                  </a:cubicBezTo>
                  <a:cubicBezTo>
                    <a:pt x="3832" y="1864"/>
                    <a:pt x="4351" y="2493"/>
                    <a:pt x="5054" y="2560"/>
                  </a:cubicBezTo>
                  <a:cubicBezTo>
                    <a:pt x="5067" y="2562"/>
                    <a:pt x="5082" y="2562"/>
                    <a:pt x="5095" y="2562"/>
                  </a:cubicBezTo>
                  <a:cubicBezTo>
                    <a:pt x="5357" y="3448"/>
                    <a:pt x="5792" y="5176"/>
                    <a:pt x="6052" y="7541"/>
                  </a:cubicBezTo>
                  <a:lnTo>
                    <a:pt x="4768" y="5723"/>
                  </a:lnTo>
                  <a:cubicBezTo>
                    <a:pt x="4876" y="5541"/>
                    <a:pt x="4941" y="5330"/>
                    <a:pt x="4948" y="5104"/>
                  </a:cubicBezTo>
                  <a:cubicBezTo>
                    <a:pt x="4968" y="4395"/>
                    <a:pt x="4411" y="3802"/>
                    <a:pt x="3705" y="3781"/>
                  </a:cubicBezTo>
                  <a:cubicBezTo>
                    <a:pt x="3693" y="3780"/>
                    <a:pt x="3680" y="3780"/>
                    <a:pt x="3667" y="3780"/>
                  </a:cubicBezTo>
                  <a:cubicBezTo>
                    <a:pt x="2975" y="3780"/>
                    <a:pt x="2403" y="4330"/>
                    <a:pt x="2382" y="5025"/>
                  </a:cubicBezTo>
                  <a:cubicBezTo>
                    <a:pt x="2364" y="5733"/>
                    <a:pt x="2920" y="6324"/>
                    <a:pt x="3628" y="6345"/>
                  </a:cubicBezTo>
                  <a:cubicBezTo>
                    <a:pt x="3642" y="6345"/>
                    <a:pt x="3657" y="6346"/>
                    <a:pt x="3671" y="6346"/>
                  </a:cubicBezTo>
                  <a:cubicBezTo>
                    <a:pt x="3941" y="6346"/>
                    <a:pt x="4191" y="6261"/>
                    <a:pt x="4398" y="6117"/>
                  </a:cubicBezTo>
                  <a:lnTo>
                    <a:pt x="6154" y="8604"/>
                  </a:lnTo>
                  <a:cubicBezTo>
                    <a:pt x="6224" y="9482"/>
                    <a:pt x="6267" y="10434"/>
                    <a:pt x="6271" y="11447"/>
                  </a:cubicBezTo>
                  <a:lnTo>
                    <a:pt x="4429" y="9745"/>
                  </a:lnTo>
                  <a:cubicBezTo>
                    <a:pt x="4447" y="9707"/>
                    <a:pt x="4464" y="9668"/>
                    <a:pt x="4479" y="9626"/>
                  </a:cubicBezTo>
                  <a:cubicBezTo>
                    <a:pt x="4727" y="8962"/>
                    <a:pt x="4394" y="8226"/>
                    <a:pt x="3731" y="7975"/>
                  </a:cubicBezTo>
                  <a:cubicBezTo>
                    <a:pt x="3581" y="7918"/>
                    <a:pt x="3428" y="7891"/>
                    <a:pt x="3277" y="7891"/>
                  </a:cubicBezTo>
                  <a:cubicBezTo>
                    <a:pt x="2760" y="7891"/>
                    <a:pt x="2274" y="8208"/>
                    <a:pt x="2083" y="8720"/>
                  </a:cubicBezTo>
                  <a:cubicBezTo>
                    <a:pt x="1827" y="9383"/>
                    <a:pt x="2161" y="10125"/>
                    <a:pt x="2830" y="10372"/>
                  </a:cubicBezTo>
                  <a:cubicBezTo>
                    <a:pt x="2979" y="10429"/>
                    <a:pt x="3131" y="10456"/>
                    <a:pt x="3281" y="10456"/>
                  </a:cubicBezTo>
                  <a:cubicBezTo>
                    <a:pt x="3580" y="10456"/>
                    <a:pt x="3868" y="10350"/>
                    <a:pt x="4097" y="10160"/>
                  </a:cubicBezTo>
                  <a:lnTo>
                    <a:pt x="6262" y="12166"/>
                  </a:lnTo>
                  <a:cubicBezTo>
                    <a:pt x="6245" y="13237"/>
                    <a:pt x="6179" y="14373"/>
                    <a:pt x="6051" y="15565"/>
                  </a:cubicBezTo>
                  <a:lnTo>
                    <a:pt x="4189" y="13844"/>
                  </a:lnTo>
                  <a:cubicBezTo>
                    <a:pt x="4207" y="13805"/>
                    <a:pt x="4225" y="13766"/>
                    <a:pt x="4241" y="13724"/>
                  </a:cubicBezTo>
                  <a:cubicBezTo>
                    <a:pt x="4492" y="13062"/>
                    <a:pt x="4157" y="12321"/>
                    <a:pt x="3495" y="12070"/>
                  </a:cubicBezTo>
                  <a:cubicBezTo>
                    <a:pt x="3346" y="12014"/>
                    <a:pt x="3193" y="11988"/>
                    <a:pt x="3043" y="11988"/>
                  </a:cubicBezTo>
                  <a:cubicBezTo>
                    <a:pt x="2523" y="11988"/>
                    <a:pt x="2032" y="12304"/>
                    <a:pt x="1841" y="12816"/>
                  </a:cubicBezTo>
                  <a:cubicBezTo>
                    <a:pt x="1590" y="13479"/>
                    <a:pt x="1926" y="14219"/>
                    <a:pt x="2588" y="14470"/>
                  </a:cubicBezTo>
                  <a:cubicBezTo>
                    <a:pt x="2736" y="14526"/>
                    <a:pt x="2888" y="14552"/>
                    <a:pt x="3038" y="14552"/>
                  </a:cubicBezTo>
                  <a:cubicBezTo>
                    <a:pt x="3339" y="14552"/>
                    <a:pt x="3630" y="14445"/>
                    <a:pt x="3859" y="14256"/>
                  </a:cubicBezTo>
                  <a:lnTo>
                    <a:pt x="5976" y="16216"/>
                  </a:lnTo>
                  <a:cubicBezTo>
                    <a:pt x="5850" y="17238"/>
                    <a:pt x="5677" y="18297"/>
                    <a:pt x="5448" y="19390"/>
                  </a:cubicBezTo>
                  <a:lnTo>
                    <a:pt x="3488" y="17575"/>
                  </a:lnTo>
                  <a:cubicBezTo>
                    <a:pt x="3506" y="17537"/>
                    <a:pt x="3524" y="17497"/>
                    <a:pt x="3538" y="17457"/>
                  </a:cubicBezTo>
                  <a:cubicBezTo>
                    <a:pt x="3786" y="16791"/>
                    <a:pt x="3456" y="16054"/>
                    <a:pt x="2793" y="15801"/>
                  </a:cubicBezTo>
                  <a:cubicBezTo>
                    <a:pt x="2644" y="15745"/>
                    <a:pt x="2491" y="15719"/>
                    <a:pt x="2341" y="15719"/>
                  </a:cubicBezTo>
                  <a:cubicBezTo>
                    <a:pt x="1820" y="15719"/>
                    <a:pt x="1332" y="16035"/>
                    <a:pt x="1136" y="16547"/>
                  </a:cubicBezTo>
                  <a:cubicBezTo>
                    <a:pt x="890" y="17214"/>
                    <a:pt x="1220" y="17953"/>
                    <a:pt x="1884" y="18200"/>
                  </a:cubicBezTo>
                  <a:cubicBezTo>
                    <a:pt x="2033" y="18257"/>
                    <a:pt x="2186" y="18284"/>
                    <a:pt x="2337" y="18284"/>
                  </a:cubicBezTo>
                  <a:cubicBezTo>
                    <a:pt x="2637" y="18284"/>
                    <a:pt x="2927" y="18178"/>
                    <a:pt x="3156" y="17989"/>
                  </a:cubicBezTo>
                  <a:lnTo>
                    <a:pt x="5318" y="19987"/>
                  </a:lnTo>
                  <a:cubicBezTo>
                    <a:pt x="5089" y="20999"/>
                    <a:pt x="4813" y="22039"/>
                    <a:pt x="4482" y="23101"/>
                  </a:cubicBezTo>
                  <a:lnTo>
                    <a:pt x="2598" y="21359"/>
                  </a:lnTo>
                  <a:cubicBezTo>
                    <a:pt x="2617" y="21321"/>
                    <a:pt x="2634" y="21281"/>
                    <a:pt x="2649" y="21241"/>
                  </a:cubicBezTo>
                  <a:cubicBezTo>
                    <a:pt x="2900" y="20576"/>
                    <a:pt x="2567" y="19841"/>
                    <a:pt x="1906" y="19588"/>
                  </a:cubicBezTo>
                  <a:cubicBezTo>
                    <a:pt x="1757" y="19532"/>
                    <a:pt x="1604" y="19505"/>
                    <a:pt x="1453" y="19505"/>
                  </a:cubicBezTo>
                  <a:cubicBezTo>
                    <a:pt x="934" y="19505"/>
                    <a:pt x="445" y="19823"/>
                    <a:pt x="251" y="20336"/>
                  </a:cubicBezTo>
                  <a:cubicBezTo>
                    <a:pt x="1" y="20999"/>
                    <a:pt x="335" y="21737"/>
                    <a:pt x="998" y="21989"/>
                  </a:cubicBezTo>
                  <a:cubicBezTo>
                    <a:pt x="1146" y="22045"/>
                    <a:pt x="1298" y="22071"/>
                    <a:pt x="1448" y="22071"/>
                  </a:cubicBezTo>
                  <a:cubicBezTo>
                    <a:pt x="1749" y="22071"/>
                    <a:pt x="2041" y="21964"/>
                    <a:pt x="2270" y="21773"/>
                  </a:cubicBezTo>
                  <a:lnTo>
                    <a:pt x="4305" y="23655"/>
                  </a:lnTo>
                  <a:cubicBezTo>
                    <a:pt x="4157" y="24102"/>
                    <a:pt x="4000" y="24554"/>
                    <a:pt x="3833" y="25010"/>
                  </a:cubicBezTo>
                  <a:lnTo>
                    <a:pt x="3795" y="25039"/>
                  </a:lnTo>
                  <a:lnTo>
                    <a:pt x="3813" y="25064"/>
                  </a:lnTo>
                  <a:cubicBezTo>
                    <a:pt x="3516" y="25870"/>
                    <a:pt x="3187" y="26686"/>
                    <a:pt x="2821" y="27513"/>
                  </a:cubicBezTo>
                  <a:lnTo>
                    <a:pt x="3307" y="27727"/>
                  </a:lnTo>
                  <a:cubicBezTo>
                    <a:pt x="3664" y="26920"/>
                    <a:pt x="3985" y="26120"/>
                    <a:pt x="4279" y="25332"/>
                  </a:cubicBezTo>
                  <a:lnTo>
                    <a:pt x="6607" y="23575"/>
                  </a:lnTo>
                  <a:cubicBezTo>
                    <a:pt x="6768" y="23786"/>
                    <a:pt x="6994" y="23949"/>
                    <a:pt x="7269" y="24027"/>
                  </a:cubicBezTo>
                  <a:cubicBezTo>
                    <a:pt x="7386" y="24060"/>
                    <a:pt x="7505" y="24076"/>
                    <a:pt x="7622" y="24076"/>
                  </a:cubicBezTo>
                  <a:cubicBezTo>
                    <a:pt x="8181" y="24076"/>
                    <a:pt x="8695" y="23710"/>
                    <a:pt x="8859" y="23146"/>
                  </a:cubicBezTo>
                  <a:cubicBezTo>
                    <a:pt x="9050" y="22466"/>
                    <a:pt x="8657" y="21757"/>
                    <a:pt x="7978" y="21561"/>
                  </a:cubicBezTo>
                  <a:cubicBezTo>
                    <a:pt x="7860" y="21528"/>
                    <a:pt x="7740" y="21511"/>
                    <a:pt x="7623" y="21511"/>
                  </a:cubicBezTo>
                  <a:cubicBezTo>
                    <a:pt x="7065" y="21511"/>
                    <a:pt x="6553" y="21877"/>
                    <a:pt x="6391" y="22441"/>
                  </a:cubicBezTo>
                  <a:cubicBezTo>
                    <a:pt x="6329" y="22657"/>
                    <a:pt x="6327" y="22878"/>
                    <a:pt x="6375" y="23085"/>
                  </a:cubicBezTo>
                  <a:lnTo>
                    <a:pt x="4607" y="24424"/>
                  </a:lnTo>
                  <a:cubicBezTo>
                    <a:pt x="5048" y="23148"/>
                    <a:pt x="5406" y="21903"/>
                    <a:pt x="5699" y="20693"/>
                  </a:cubicBezTo>
                  <a:lnTo>
                    <a:pt x="5707" y="20702"/>
                  </a:lnTo>
                  <a:lnTo>
                    <a:pt x="8021" y="18595"/>
                  </a:lnTo>
                  <a:cubicBezTo>
                    <a:pt x="8202" y="18791"/>
                    <a:pt x="8442" y="18933"/>
                    <a:pt x="8724" y="18987"/>
                  </a:cubicBezTo>
                  <a:cubicBezTo>
                    <a:pt x="8805" y="19003"/>
                    <a:pt x="8886" y="19010"/>
                    <a:pt x="8966" y="19010"/>
                  </a:cubicBezTo>
                  <a:cubicBezTo>
                    <a:pt x="9569" y="19010"/>
                    <a:pt x="10105" y="18579"/>
                    <a:pt x="10223" y="17965"/>
                  </a:cubicBezTo>
                  <a:cubicBezTo>
                    <a:pt x="10356" y="17270"/>
                    <a:pt x="9899" y="16599"/>
                    <a:pt x="9204" y="16468"/>
                  </a:cubicBezTo>
                  <a:cubicBezTo>
                    <a:pt x="9124" y="16453"/>
                    <a:pt x="9043" y="16446"/>
                    <a:pt x="8964" y="16446"/>
                  </a:cubicBezTo>
                  <a:cubicBezTo>
                    <a:pt x="8357" y="16446"/>
                    <a:pt x="7817" y="16874"/>
                    <a:pt x="7704" y="17489"/>
                  </a:cubicBezTo>
                  <a:cubicBezTo>
                    <a:pt x="7661" y="17712"/>
                    <a:pt x="7680" y="17932"/>
                    <a:pt x="7747" y="18132"/>
                  </a:cubicBezTo>
                  <a:lnTo>
                    <a:pt x="5901" y="19811"/>
                  </a:lnTo>
                  <a:cubicBezTo>
                    <a:pt x="6189" y="18493"/>
                    <a:pt x="6396" y="17222"/>
                    <a:pt x="6537" y="16005"/>
                  </a:cubicBezTo>
                  <a:lnTo>
                    <a:pt x="8700" y="13823"/>
                  </a:lnTo>
                  <a:cubicBezTo>
                    <a:pt x="8891" y="14008"/>
                    <a:pt x="9139" y="14138"/>
                    <a:pt x="9422" y="14178"/>
                  </a:cubicBezTo>
                  <a:cubicBezTo>
                    <a:pt x="9481" y="14186"/>
                    <a:pt x="9541" y="14190"/>
                    <a:pt x="9599" y="14190"/>
                  </a:cubicBezTo>
                  <a:cubicBezTo>
                    <a:pt x="10229" y="14190"/>
                    <a:pt x="10778" y="13726"/>
                    <a:pt x="10864" y="13083"/>
                  </a:cubicBezTo>
                  <a:cubicBezTo>
                    <a:pt x="10958" y="12386"/>
                    <a:pt x="10470" y="11738"/>
                    <a:pt x="9770" y="11644"/>
                  </a:cubicBezTo>
                  <a:cubicBezTo>
                    <a:pt x="9709" y="11636"/>
                    <a:pt x="9650" y="11631"/>
                    <a:pt x="9591" y="11631"/>
                  </a:cubicBezTo>
                  <a:cubicBezTo>
                    <a:pt x="8959" y="11631"/>
                    <a:pt x="8410" y="12098"/>
                    <a:pt x="8323" y="12741"/>
                  </a:cubicBezTo>
                  <a:cubicBezTo>
                    <a:pt x="8291" y="12964"/>
                    <a:pt x="8323" y="13182"/>
                    <a:pt x="8399" y="13378"/>
                  </a:cubicBezTo>
                  <a:lnTo>
                    <a:pt x="6623" y="15165"/>
                  </a:lnTo>
                  <a:cubicBezTo>
                    <a:pt x="6745" y="13875"/>
                    <a:pt x="6797" y="12651"/>
                    <a:pt x="6795" y="11506"/>
                  </a:cubicBezTo>
                  <a:lnTo>
                    <a:pt x="6795" y="11506"/>
                  </a:lnTo>
                  <a:lnTo>
                    <a:pt x="6832" y="11528"/>
                  </a:lnTo>
                  <a:lnTo>
                    <a:pt x="8392" y="8814"/>
                  </a:lnTo>
                  <a:cubicBezTo>
                    <a:pt x="8579" y="8919"/>
                    <a:pt x="8792" y="8980"/>
                    <a:pt x="9017" y="8980"/>
                  </a:cubicBezTo>
                  <a:cubicBezTo>
                    <a:pt x="9070" y="8980"/>
                    <a:pt x="9123" y="8977"/>
                    <a:pt x="9177" y="8970"/>
                  </a:cubicBezTo>
                  <a:cubicBezTo>
                    <a:pt x="9882" y="8884"/>
                    <a:pt x="10379" y="8244"/>
                    <a:pt x="10294" y="7541"/>
                  </a:cubicBezTo>
                  <a:cubicBezTo>
                    <a:pt x="10213" y="6892"/>
                    <a:pt x="9661" y="6417"/>
                    <a:pt x="9024" y="6417"/>
                  </a:cubicBezTo>
                  <a:cubicBezTo>
                    <a:pt x="8971" y="6417"/>
                    <a:pt x="8917" y="6420"/>
                    <a:pt x="8863" y="6427"/>
                  </a:cubicBezTo>
                  <a:cubicBezTo>
                    <a:pt x="8160" y="6513"/>
                    <a:pt x="7664" y="7153"/>
                    <a:pt x="7748" y="7855"/>
                  </a:cubicBezTo>
                  <a:cubicBezTo>
                    <a:pt x="7777" y="8080"/>
                    <a:pt x="7861" y="8285"/>
                    <a:pt x="7987" y="8456"/>
                  </a:cubicBezTo>
                  <a:lnTo>
                    <a:pt x="6783" y="10547"/>
                  </a:lnTo>
                  <a:cubicBezTo>
                    <a:pt x="6756" y="9504"/>
                    <a:pt x="6687" y="8535"/>
                    <a:pt x="6594" y="7651"/>
                  </a:cubicBezTo>
                  <a:lnTo>
                    <a:pt x="7592" y="4737"/>
                  </a:lnTo>
                  <a:cubicBezTo>
                    <a:pt x="7724" y="4780"/>
                    <a:pt x="7863" y="4804"/>
                    <a:pt x="8005" y="4804"/>
                  </a:cubicBezTo>
                  <a:cubicBezTo>
                    <a:pt x="8135" y="4804"/>
                    <a:pt x="8267" y="4784"/>
                    <a:pt x="8398" y="4742"/>
                  </a:cubicBezTo>
                  <a:cubicBezTo>
                    <a:pt x="9068" y="4522"/>
                    <a:pt x="9437" y="3798"/>
                    <a:pt x="9220" y="3128"/>
                  </a:cubicBezTo>
                  <a:cubicBezTo>
                    <a:pt x="9040" y="2586"/>
                    <a:pt x="8539" y="2241"/>
                    <a:pt x="7999" y="2241"/>
                  </a:cubicBezTo>
                  <a:cubicBezTo>
                    <a:pt x="7868" y="2241"/>
                    <a:pt x="7734" y="2262"/>
                    <a:pt x="7602" y="2305"/>
                  </a:cubicBezTo>
                  <a:cubicBezTo>
                    <a:pt x="6932" y="2522"/>
                    <a:pt x="6562" y="3248"/>
                    <a:pt x="6780" y="3919"/>
                  </a:cubicBezTo>
                  <a:cubicBezTo>
                    <a:pt x="6850" y="4135"/>
                    <a:pt x="6973" y="4319"/>
                    <a:pt x="7129" y="4463"/>
                  </a:cubicBezTo>
                  <a:lnTo>
                    <a:pt x="6446" y="6450"/>
                  </a:lnTo>
                  <a:cubicBezTo>
                    <a:pt x="6191" y="4634"/>
                    <a:pt x="5851" y="3273"/>
                    <a:pt x="5623" y="2483"/>
                  </a:cubicBezTo>
                  <a:cubicBezTo>
                    <a:pt x="6068" y="2316"/>
                    <a:pt x="6405" y="1910"/>
                    <a:pt x="6453" y="1406"/>
                  </a:cubicBezTo>
                  <a:cubicBezTo>
                    <a:pt x="6520" y="701"/>
                    <a:pt x="6003" y="75"/>
                    <a:pt x="5300" y="6"/>
                  </a:cubicBezTo>
                  <a:cubicBezTo>
                    <a:pt x="5258" y="2"/>
                    <a:pt x="5216" y="0"/>
                    <a:pt x="51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7">
              <a:extLst>
                <a:ext uri="{FF2B5EF4-FFF2-40B4-BE49-F238E27FC236}">
                  <a16:creationId xmlns:a16="http://schemas.microsoft.com/office/drawing/2014/main" id="{5722736E-BCBD-4333-B39A-A79AF2E47059}"/>
                </a:ext>
              </a:extLst>
            </p:cNvPr>
            <p:cNvSpPr/>
            <p:nvPr/>
          </p:nvSpPr>
          <p:spPr>
            <a:xfrm>
              <a:off x="5386676" y="2151729"/>
              <a:ext cx="612592" cy="1178348"/>
            </a:xfrm>
            <a:custGeom>
              <a:avLst/>
              <a:gdLst/>
              <a:ahLst/>
              <a:cxnLst/>
              <a:rect l="l" t="t" r="r" b="b"/>
              <a:pathLst>
                <a:path w="13917" h="26770" extrusionOk="0">
                  <a:moveTo>
                    <a:pt x="3508" y="0"/>
                  </a:moveTo>
                  <a:cubicBezTo>
                    <a:pt x="2482" y="0"/>
                    <a:pt x="1705" y="1781"/>
                    <a:pt x="4323" y="4442"/>
                  </a:cubicBezTo>
                  <a:cubicBezTo>
                    <a:pt x="4288" y="4698"/>
                    <a:pt x="4237" y="5116"/>
                    <a:pt x="4197" y="5674"/>
                  </a:cubicBezTo>
                  <a:cubicBezTo>
                    <a:pt x="3676" y="4661"/>
                    <a:pt x="2764" y="3248"/>
                    <a:pt x="1731" y="3248"/>
                  </a:cubicBezTo>
                  <a:cubicBezTo>
                    <a:pt x="1441" y="3248"/>
                    <a:pt x="1141" y="3359"/>
                    <a:pt x="838" y="3622"/>
                  </a:cubicBezTo>
                  <a:cubicBezTo>
                    <a:pt x="31" y="4324"/>
                    <a:pt x="546" y="6496"/>
                    <a:pt x="4147" y="6665"/>
                  </a:cubicBezTo>
                  <a:cubicBezTo>
                    <a:pt x="4124" y="7370"/>
                    <a:pt x="4126" y="8204"/>
                    <a:pt x="4179" y="9137"/>
                  </a:cubicBezTo>
                  <a:cubicBezTo>
                    <a:pt x="3658" y="8126"/>
                    <a:pt x="2744" y="6710"/>
                    <a:pt x="1709" y="6710"/>
                  </a:cubicBezTo>
                  <a:cubicBezTo>
                    <a:pt x="1419" y="6710"/>
                    <a:pt x="1119" y="6822"/>
                    <a:pt x="816" y="7085"/>
                  </a:cubicBezTo>
                  <a:cubicBezTo>
                    <a:pt x="1" y="7796"/>
                    <a:pt x="534" y="10007"/>
                    <a:pt x="4251" y="10133"/>
                  </a:cubicBezTo>
                  <a:cubicBezTo>
                    <a:pt x="4313" y="10806"/>
                    <a:pt x="4401" y="11522"/>
                    <a:pt x="4524" y="12270"/>
                  </a:cubicBezTo>
                  <a:cubicBezTo>
                    <a:pt x="3984" y="11320"/>
                    <a:pt x="3169" y="10231"/>
                    <a:pt x="2262" y="10231"/>
                  </a:cubicBezTo>
                  <a:cubicBezTo>
                    <a:pt x="1972" y="10231"/>
                    <a:pt x="1672" y="10342"/>
                    <a:pt x="1369" y="10606"/>
                  </a:cubicBezTo>
                  <a:cubicBezTo>
                    <a:pt x="553" y="11314"/>
                    <a:pt x="1086" y="13519"/>
                    <a:pt x="4784" y="13653"/>
                  </a:cubicBezTo>
                  <a:cubicBezTo>
                    <a:pt x="4934" y="14353"/>
                    <a:pt x="5115" y="15077"/>
                    <a:pt x="5332" y="15815"/>
                  </a:cubicBezTo>
                  <a:cubicBezTo>
                    <a:pt x="4697" y="15082"/>
                    <a:pt x="3818" y="14280"/>
                    <a:pt x="3014" y="14280"/>
                  </a:cubicBezTo>
                  <a:cubicBezTo>
                    <a:pt x="2634" y="14280"/>
                    <a:pt x="2270" y="14460"/>
                    <a:pt x="1957" y="14913"/>
                  </a:cubicBezTo>
                  <a:cubicBezTo>
                    <a:pt x="1424" y="15680"/>
                    <a:pt x="2030" y="17272"/>
                    <a:pt x="4365" y="17272"/>
                  </a:cubicBezTo>
                  <a:cubicBezTo>
                    <a:pt x="4772" y="17272"/>
                    <a:pt x="5232" y="17223"/>
                    <a:pt x="5748" y="17114"/>
                  </a:cubicBezTo>
                  <a:cubicBezTo>
                    <a:pt x="6006" y="17857"/>
                    <a:pt x="6302" y="18614"/>
                    <a:pt x="6643" y="19380"/>
                  </a:cubicBezTo>
                  <a:cubicBezTo>
                    <a:pt x="6003" y="18790"/>
                    <a:pt x="5186" y="18203"/>
                    <a:pt x="4470" y="18203"/>
                  </a:cubicBezTo>
                  <a:cubicBezTo>
                    <a:pt x="4038" y="18203"/>
                    <a:pt x="3644" y="18416"/>
                    <a:pt x="3346" y="18970"/>
                  </a:cubicBezTo>
                  <a:cubicBezTo>
                    <a:pt x="2935" y="19737"/>
                    <a:pt x="3537" y="21093"/>
                    <a:pt x="5428" y="21093"/>
                  </a:cubicBezTo>
                  <a:cubicBezTo>
                    <a:pt x="5950" y="21093"/>
                    <a:pt x="6571" y="20990"/>
                    <a:pt x="7296" y="20742"/>
                  </a:cubicBezTo>
                  <a:cubicBezTo>
                    <a:pt x="7639" y="21413"/>
                    <a:pt x="8018" y="22088"/>
                    <a:pt x="8438" y="22765"/>
                  </a:cubicBezTo>
                  <a:cubicBezTo>
                    <a:pt x="7831" y="22354"/>
                    <a:pt x="7113" y="21985"/>
                    <a:pt x="6494" y="21985"/>
                  </a:cubicBezTo>
                  <a:cubicBezTo>
                    <a:pt x="5976" y="21985"/>
                    <a:pt x="5527" y="22243"/>
                    <a:pt x="5271" y="22952"/>
                  </a:cubicBezTo>
                  <a:cubicBezTo>
                    <a:pt x="5002" y="23701"/>
                    <a:pt x="5591" y="24795"/>
                    <a:pt x="7045" y="24795"/>
                  </a:cubicBezTo>
                  <a:cubicBezTo>
                    <a:pt x="7654" y="24795"/>
                    <a:pt x="8415" y="24603"/>
                    <a:pt x="9329" y="24112"/>
                  </a:cubicBezTo>
                  <a:cubicBezTo>
                    <a:pt x="9956" y="25005"/>
                    <a:pt x="10654" y="25893"/>
                    <a:pt x="11435" y="26769"/>
                  </a:cubicBezTo>
                  <a:lnTo>
                    <a:pt x="12069" y="26205"/>
                  </a:lnTo>
                  <a:cubicBezTo>
                    <a:pt x="11742" y="25840"/>
                    <a:pt x="11434" y="25475"/>
                    <a:pt x="11138" y="25107"/>
                  </a:cubicBezTo>
                  <a:cubicBezTo>
                    <a:pt x="13917" y="22751"/>
                    <a:pt x="12907" y="20716"/>
                    <a:pt x="11817" y="20661"/>
                  </a:cubicBezTo>
                  <a:cubicBezTo>
                    <a:pt x="11783" y="20659"/>
                    <a:pt x="11749" y="20658"/>
                    <a:pt x="11716" y="20658"/>
                  </a:cubicBezTo>
                  <a:cubicBezTo>
                    <a:pt x="9974" y="20658"/>
                    <a:pt x="10215" y="22931"/>
                    <a:pt x="10526" y="24320"/>
                  </a:cubicBezTo>
                  <a:cubicBezTo>
                    <a:pt x="9837" y="23401"/>
                    <a:pt x="9233" y="22475"/>
                    <a:pt x="8701" y="21553"/>
                  </a:cubicBezTo>
                  <a:cubicBezTo>
                    <a:pt x="11981" y="20196"/>
                    <a:pt x="11500" y="18008"/>
                    <a:pt x="10446" y="17630"/>
                  </a:cubicBezTo>
                  <a:cubicBezTo>
                    <a:pt x="10226" y="17551"/>
                    <a:pt x="10027" y="17515"/>
                    <a:pt x="9848" y="17515"/>
                  </a:cubicBezTo>
                  <a:cubicBezTo>
                    <a:pt x="8533" y="17515"/>
                    <a:pt x="8271" y="19473"/>
                    <a:pt x="8239" y="20718"/>
                  </a:cubicBezTo>
                  <a:cubicBezTo>
                    <a:pt x="7835" y="19959"/>
                    <a:pt x="7480" y="19203"/>
                    <a:pt x="7168" y="18458"/>
                  </a:cubicBezTo>
                  <a:cubicBezTo>
                    <a:pt x="10393" y="16993"/>
                    <a:pt x="9855" y="14819"/>
                    <a:pt x="8792" y="14475"/>
                  </a:cubicBezTo>
                  <a:cubicBezTo>
                    <a:pt x="8588" y="14408"/>
                    <a:pt x="8404" y="14378"/>
                    <a:pt x="8237" y="14378"/>
                  </a:cubicBezTo>
                  <a:cubicBezTo>
                    <a:pt x="7029" y="14378"/>
                    <a:pt x="6733" y="15983"/>
                    <a:pt x="6684" y="17226"/>
                  </a:cubicBezTo>
                  <a:cubicBezTo>
                    <a:pt x="6348" y="16301"/>
                    <a:pt x="6075" y="15396"/>
                    <a:pt x="5853" y="14522"/>
                  </a:cubicBezTo>
                  <a:cubicBezTo>
                    <a:pt x="9279" y="13729"/>
                    <a:pt x="9093" y="11537"/>
                    <a:pt x="8087" y="10997"/>
                  </a:cubicBezTo>
                  <a:cubicBezTo>
                    <a:pt x="7795" y="10840"/>
                    <a:pt x="7533" y="10770"/>
                    <a:pt x="7298" y="10770"/>
                  </a:cubicBezTo>
                  <a:cubicBezTo>
                    <a:pt x="6285" y="10770"/>
                    <a:pt x="5785" y="12069"/>
                    <a:pt x="5543" y="13160"/>
                  </a:cubicBezTo>
                  <a:cubicBezTo>
                    <a:pt x="5402" y="12456"/>
                    <a:pt x="5293" y="11779"/>
                    <a:pt x="5209" y="11133"/>
                  </a:cubicBezTo>
                  <a:cubicBezTo>
                    <a:pt x="8701" y="10341"/>
                    <a:pt x="8511" y="8123"/>
                    <a:pt x="7501" y="7581"/>
                  </a:cubicBezTo>
                  <a:cubicBezTo>
                    <a:pt x="7210" y="7426"/>
                    <a:pt x="6950" y="7357"/>
                    <a:pt x="6716" y="7357"/>
                  </a:cubicBezTo>
                  <a:cubicBezTo>
                    <a:pt x="5799" y="7357"/>
                    <a:pt x="5306" y="8419"/>
                    <a:pt x="5042" y="9430"/>
                  </a:cubicBezTo>
                  <a:cubicBezTo>
                    <a:pt x="4980" y="8494"/>
                    <a:pt x="4969" y="7657"/>
                    <a:pt x="4985" y="6944"/>
                  </a:cubicBezTo>
                  <a:cubicBezTo>
                    <a:pt x="8342" y="6300"/>
                    <a:pt x="8238" y="4149"/>
                    <a:pt x="7263" y="3570"/>
                  </a:cubicBezTo>
                  <a:cubicBezTo>
                    <a:pt x="6953" y="3384"/>
                    <a:pt x="6674" y="3303"/>
                    <a:pt x="6425" y="3303"/>
                  </a:cubicBezTo>
                  <a:cubicBezTo>
                    <a:pt x="5850" y="3303"/>
                    <a:pt x="5427" y="3731"/>
                    <a:pt x="5118" y="4297"/>
                  </a:cubicBezTo>
                  <a:lnTo>
                    <a:pt x="4967" y="4269"/>
                  </a:lnTo>
                  <a:cubicBezTo>
                    <a:pt x="5261" y="3001"/>
                    <a:pt x="5654" y="247"/>
                    <a:pt x="3613" y="7"/>
                  </a:cubicBezTo>
                  <a:cubicBezTo>
                    <a:pt x="3578" y="2"/>
                    <a:pt x="3542"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a:extLst>
                <a:ext uri="{FF2B5EF4-FFF2-40B4-BE49-F238E27FC236}">
                  <a16:creationId xmlns:a16="http://schemas.microsoft.com/office/drawing/2014/main" id="{8764D699-5200-9034-5828-B64959B1D22B}"/>
                </a:ext>
              </a:extLst>
            </p:cNvPr>
            <p:cNvSpPr/>
            <p:nvPr/>
          </p:nvSpPr>
          <p:spPr>
            <a:xfrm>
              <a:off x="5743883" y="1604540"/>
              <a:ext cx="537850" cy="1202558"/>
            </a:xfrm>
            <a:custGeom>
              <a:avLst/>
              <a:gdLst/>
              <a:ahLst/>
              <a:cxnLst/>
              <a:rect l="l" t="t" r="r" b="b"/>
              <a:pathLst>
                <a:path w="12219" h="27320" extrusionOk="0">
                  <a:moveTo>
                    <a:pt x="9582" y="1"/>
                  </a:moveTo>
                  <a:lnTo>
                    <a:pt x="9582" y="1"/>
                  </a:lnTo>
                  <a:cubicBezTo>
                    <a:pt x="6449" y="1763"/>
                    <a:pt x="6644" y="4471"/>
                    <a:pt x="6868" y="5535"/>
                  </a:cubicBezTo>
                  <a:cubicBezTo>
                    <a:pt x="6302" y="6429"/>
                    <a:pt x="5834" y="7367"/>
                    <a:pt x="5459" y="8341"/>
                  </a:cubicBezTo>
                  <a:cubicBezTo>
                    <a:pt x="5252" y="2901"/>
                    <a:pt x="2991" y="1998"/>
                    <a:pt x="2991" y="1998"/>
                  </a:cubicBezTo>
                  <a:lnTo>
                    <a:pt x="2991" y="1998"/>
                  </a:lnTo>
                  <a:cubicBezTo>
                    <a:pt x="1168" y="6483"/>
                    <a:pt x="4145" y="8626"/>
                    <a:pt x="5157" y="9205"/>
                  </a:cubicBezTo>
                  <a:cubicBezTo>
                    <a:pt x="4806" y="10301"/>
                    <a:pt x="4569" y="11440"/>
                    <a:pt x="4451" y="12614"/>
                  </a:cubicBezTo>
                  <a:cubicBezTo>
                    <a:pt x="3617" y="7638"/>
                    <a:pt x="1389" y="7016"/>
                    <a:pt x="1389" y="7016"/>
                  </a:cubicBezTo>
                  <a:lnTo>
                    <a:pt x="1389" y="7016"/>
                  </a:lnTo>
                  <a:cubicBezTo>
                    <a:pt x="0" y="11737"/>
                    <a:pt x="3369" y="13529"/>
                    <a:pt x="4369" y="13948"/>
                  </a:cubicBezTo>
                  <a:cubicBezTo>
                    <a:pt x="4340" y="15034"/>
                    <a:pt x="4409" y="16146"/>
                    <a:pt x="4571" y="17282"/>
                  </a:cubicBezTo>
                  <a:cubicBezTo>
                    <a:pt x="2922" y="13229"/>
                    <a:pt x="824" y="13029"/>
                    <a:pt x="824" y="13029"/>
                  </a:cubicBezTo>
                  <a:lnTo>
                    <a:pt x="824" y="13029"/>
                  </a:lnTo>
                  <a:cubicBezTo>
                    <a:pt x="258" y="17831"/>
                    <a:pt x="3855" y="19025"/>
                    <a:pt x="4952" y="19276"/>
                  </a:cubicBezTo>
                  <a:cubicBezTo>
                    <a:pt x="5018" y="19556"/>
                    <a:pt x="5090" y="19836"/>
                    <a:pt x="5167" y="20118"/>
                  </a:cubicBezTo>
                  <a:cubicBezTo>
                    <a:pt x="5372" y="20866"/>
                    <a:pt x="5605" y="21572"/>
                    <a:pt x="5847" y="22229"/>
                  </a:cubicBezTo>
                  <a:cubicBezTo>
                    <a:pt x="3533" y="19127"/>
                    <a:pt x="1605" y="18869"/>
                    <a:pt x="1027" y="18869"/>
                  </a:cubicBezTo>
                  <a:cubicBezTo>
                    <a:pt x="912" y="18869"/>
                    <a:pt x="851" y="18879"/>
                    <a:pt x="851" y="18879"/>
                  </a:cubicBezTo>
                  <a:cubicBezTo>
                    <a:pt x="1508" y="23296"/>
                    <a:pt x="4911" y="23750"/>
                    <a:pt x="6278" y="23750"/>
                  </a:cubicBezTo>
                  <a:cubicBezTo>
                    <a:pt x="6343" y="23750"/>
                    <a:pt x="6403" y="23749"/>
                    <a:pt x="6457" y="23747"/>
                  </a:cubicBezTo>
                  <a:cubicBezTo>
                    <a:pt x="7393" y="25894"/>
                    <a:pt x="8296" y="27237"/>
                    <a:pt x="8352" y="27319"/>
                  </a:cubicBezTo>
                  <a:lnTo>
                    <a:pt x="8903" y="26931"/>
                  </a:lnTo>
                  <a:cubicBezTo>
                    <a:pt x="8878" y="26890"/>
                    <a:pt x="8016" y="25598"/>
                    <a:pt x="7114" y="23534"/>
                  </a:cubicBezTo>
                  <a:cubicBezTo>
                    <a:pt x="8306" y="22987"/>
                    <a:pt x="11483" y="21086"/>
                    <a:pt x="10566" y="16604"/>
                  </a:cubicBezTo>
                  <a:lnTo>
                    <a:pt x="10566" y="16604"/>
                  </a:lnTo>
                  <a:cubicBezTo>
                    <a:pt x="10565" y="16604"/>
                    <a:pt x="8085" y="17330"/>
                    <a:pt x="6845" y="22898"/>
                  </a:cubicBezTo>
                  <a:cubicBezTo>
                    <a:pt x="6405" y="21820"/>
                    <a:pt x="5973" y="20570"/>
                    <a:pt x="5640" y="19204"/>
                  </a:cubicBezTo>
                  <a:cubicBezTo>
                    <a:pt x="6977" y="18951"/>
                    <a:pt x="10362" y="17864"/>
                    <a:pt x="10657" y="13325"/>
                  </a:cubicBezTo>
                  <a:lnTo>
                    <a:pt x="10657" y="13325"/>
                  </a:lnTo>
                  <a:cubicBezTo>
                    <a:pt x="10657" y="13325"/>
                    <a:pt x="8115" y="13392"/>
                    <a:pt x="5481" y="18505"/>
                  </a:cubicBezTo>
                  <a:cubicBezTo>
                    <a:pt x="5183" y="17090"/>
                    <a:pt x="5002" y="15565"/>
                    <a:pt x="5033" y="13988"/>
                  </a:cubicBezTo>
                  <a:cubicBezTo>
                    <a:pt x="6383" y="13965"/>
                    <a:pt x="9866" y="13459"/>
                    <a:pt x="10928" y="8996"/>
                  </a:cubicBezTo>
                  <a:cubicBezTo>
                    <a:pt x="10928" y="8996"/>
                    <a:pt x="10882" y="8989"/>
                    <a:pt x="10792" y="8989"/>
                  </a:cubicBezTo>
                  <a:cubicBezTo>
                    <a:pt x="10234" y="8989"/>
                    <a:pt x="8006" y="9258"/>
                    <a:pt x="5069" y="13168"/>
                  </a:cubicBezTo>
                  <a:cubicBezTo>
                    <a:pt x="5151" y="11909"/>
                    <a:pt x="5377" y="10624"/>
                    <a:pt x="5790" y="9341"/>
                  </a:cubicBezTo>
                  <a:cubicBezTo>
                    <a:pt x="5962" y="9359"/>
                    <a:pt x="6178" y="9373"/>
                    <a:pt x="6425" y="9373"/>
                  </a:cubicBezTo>
                  <a:cubicBezTo>
                    <a:pt x="8002" y="9373"/>
                    <a:pt x="10882" y="8807"/>
                    <a:pt x="12218" y="4964"/>
                  </a:cubicBezTo>
                  <a:cubicBezTo>
                    <a:pt x="12218" y="4964"/>
                    <a:pt x="12094" y="4932"/>
                    <a:pt x="11858" y="4932"/>
                  </a:cubicBezTo>
                  <a:cubicBezTo>
                    <a:pt x="11069" y="4932"/>
                    <a:pt x="9025" y="5288"/>
                    <a:pt x="6137" y="8375"/>
                  </a:cubicBezTo>
                  <a:cubicBezTo>
                    <a:pt x="6519" y="7416"/>
                    <a:pt x="7011" y="6464"/>
                    <a:pt x="7634" y="5527"/>
                  </a:cubicBezTo>
                  <a:lnTo>
                    <a:pt x="7629" y="5524"/>
                  </a:lnTo>
                  <a:cubicBezTo>
                    <a:pt x="10124" y="3432"/>
                    <a:pt x="9582" y="1"/>
                    <a:pt x="95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7">
              <a:extLst>
                <a:ext uri="{FF2B5EF4-FFF2-40B4-BE49-F238E27FC236}">
                  <a16:creationId xmlns:a16="http://schemas.microsoft.com/office/drawing/2014/main" id="{8D94822F-7702-5B59-172A-8C6A91BF6EC2}"/>
                </a:ext>
              </a:extLst>
            </p:cNvPr>
            <p:cNvSpPr/>
            <p:nvPr/>
          </p:nvSpPr>
          <p:spPr>
            <a:xfrm>
              <a:off x="7040128" y="1869881"/>
              <a:ext cx="1271093" cy="1719236"/>
            </a:xfrm>
            <a:custGeom>
              <a:avLst/>
              <a:gdLst/>
              <a:ahLst/>
              <a:cxnLst/>
              <a:rect l="l" t="t" r="r" b="b"/>
              <a:pathLst>
                <a:path w="28877" h="39058" extrusionOk="0">
                  <a:moveTo>
                    <a:pt x="6053" y="1"/>
                  </a:moveTo>
                  <a:cubicBezTo>
                    <a:pt x="3878" y="1"/>
                    <a:pt x="2764" y="1613"/>
                    <a:pt x="2764" y="1613"/>
                  </a:cubicBezTo>
                  <a:cubicBezTo>
                    <a:pt x="1" y="4724"/>
                    <a:pt x="362" y="16367"/>
                    <a:pt x="546" y="25814"/>
                  </a:cubicBezTo>
                  <a:cubicBezTo>
                    <a:pt x="730" y="35260"/>
                    <a:pt x="9184" y="35833"/>
                    <a:pt x="13885" y="36523"/>
                  </a:cubicBezTo>
                  <a:cubicBezTo>
                    <a:pt x="18585" y="37215"/>
                    <a:pt x="18513" y="39057"/>
                    <a:pt x="21967" y="39057"/>
                  </a:cubicBezTo>
                  <a:cubicBezTo>
                    <a:pt x="25421" y="39057"/>
                    <a:pt x="25653" y="37329"/>
                    <a:pt x="25653" y="37329"/>
                  </a:cubicBezTo>
                  <a:cubicBezTo>
                    <a:pt x="28877" y="19248"/>
                    <a:pt x="14160" y="4654"/>
                    <a:pt x="10106" y="1613"/>
                  </a:cubicBezTo>
                  <a:cubicBezTo>
                    <a:pt x="8494" y="404"/>
                    <a:pt x="7141" y="1"/>
                    <a:pt x="6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7">
              <a:extLst>
                <a:ext uri="{FF2B5EF4-FFF2-40B4-BE49-F238E27FC236}">
                  <a16:creationId xmlns:a16="http://schemas.microsoft.com/office/drawing/2014/main" id="{98CBDF28-6FD1-56FF-C383-6B3C52E33DC2}"/>
                </a:ext>
              </a:extLst>
            </p:cNvPr>
            <p:cNvSpPr/>
            <p:nvPr/>
          </p:nvSpPr>
          <p:spPr>
            <a:xfrm>
              <a:off x="7062270" y="2936132"/>
              <a:ext cx="1018389" cy="653000"/>
            </a:xfrm>
            <a:custGeom>
              <a:avLst/>
              <a:gdLst/>
              <a:ahLst/>
              <a:cxnLst/>
              <a:rect l="l" t="t" r="r" b="b"/>
              <a:pathLst>
                <a:path w="23136" h="14835" extrusionOk="0">
                  <a:moveTo>
                    <a:pt x="814" y="1"/>
                  </a:moveTo>
                  <a:cubicBezTo>
                    <a:pt x="534" y="1"/>
                    <a:pt x="262" y="10"/>
                    <a:pt x="1" y="25"/>
                  </a:cubicBezTo>
                  <a:cubicBezTo>
                    <a:pt x="17" y="552"/>
                    <a:pt x="32" y="1075"/>
                    <a:pt x="42" y="1591"/>
                  </a:cubicBezTo>
                  <a:cubicBezTo>
                    <a:pt x="227" y="11037"/>
                    <a:pt x="8679" y="11610"/>
                    <a:pt x="13382" y="12300"/>
                  </a:cubicBezTo>
                  <a:cubicBezTo>
                    <a:pt x="18082" y="12992"/>
                    <a:pt x="18010" y="14834"/>
                    <a:pt x="21464" y="14834"/>
                  </a:cubicBezTo>
                  <a:cubicBezTo>
                    <a:pt x="22137" y="14834"/>
                    <a:pt x="22684" y="14767"/>
                    <a:pt x="23135" y="14662"/>
                  </a:cubicBezTo>
                  <a:cubicBezTo>
                    <a:pt x="10340" y="11851"/>
                    <a:pt x="10343" y="6351"/>
                    <a:pt x="7185" y="2528"/>
                  </a:cubicBezTo>
                  <a:cubicBezTo>
                    <a:pt x="5510" y="498"/>
                    <a:pt x="2934" y="1"/>
                    <a:pt x="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7">
              <a:extLst>
                <a:ext uri="{FF2B5EF4-FFF2-40B4-BE49-F238E27FC236}">
                  <a16:creationId xmlns:a16="http://schemas.microsoft.com/office/drawing/2014/main" id="{2DFC779D-CC07-6FD5-142E-959ECD7A1207}"/>
                </a:ext>
              </a:extLst>
            </p:cNvPr>
            <p:cNvSpPr/>
            <p:nvPr/>
          </p:nvSpPr>
          <p:spPr>
            <a:xfrm>
              <a:off x="5550908" y="1863675"/>
              <a:ext cx="1271137" cy="1719236"/>
            </a:xfrm>
            <a:custGeom>
              <a:avLst/>
              <a:gdLst/>
              <a:ahLst/>
              <a:cxnLst/>
              <a:rect l="l" t="t" r="r" b="b"/>
              <a:pathLst>
                <a:path w="28878" h="39058" extrusionOk="0">
                  <a:moveTo>
                    <a:pt x="22824" y="1"/>
                  </a:moveTo>
                  <a:cubicBezTo>
                    <a:pt x="21737" y="1"/>
                    <a:pt x="20384" y="404"/>
                    <a:pt x="18772" y="1613"/>
                  </a:cubicBezTo>
                  <a:cubicBezTo>
                    <a:pt x="14718" y="4654"/>
                    <a:pt x="0" y="19248"/>
                    <a:pt x="3225" y="37330"/>
                  </a:cubicBezTo>
                  <a:cubicBezTo>
                    <a:pt x="3225" y="37330"/>
                    <a:pt x="3456" y="39057"/>
                    <a:pt x="6910" y="39057"/>
                  </a:cubicBezTo>
                  <a:cubicBezTo>
                    <a:pt x="10366" y="39057"/>
                    <a:pt x="10292" y="37215"/>
                    <a:pt x="14993" y="36523"/>
                  </a:cubicBezTo>
                  <a:cubicBezTo>
                    <a:pt x="19693" y="35833"/>
                    <a:pt x="28147" y="35260"/>
                    <a:pt x="28332" y="25814"/>
                  </a:cubicBezTo>
                  <a:cubicBezTo>
                    <a:pt x="28516" y="16367"/>
                    <a:pt x="28877" y="4724"/>
                    <a:pt x="26114" y="1613"/>
                  </a:cubicBezTo>
                  <a:cubicBezTo>
                    <a:pt x="26114" y="1613"/>
                    <a:pt x="25000" y="1"/>
                    <a:pt x="228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7">
              <a:extLst>
                <a:ext uri="{FF2B5EF4-FFF2-40B4-BE49-F238E27FC236}">
                  <a16:creationId xmlns:a16="http://schemas.microsoft.com/office/drawing/2014/main" id="{68DC305E-B250-014B-2854-04359574E05A}"/>
                </a:ext>
              </a:extLst>
            </p:cNvPr>
            <p:cNvSpPr/>
            <p:nvPr/>
          </p:nvSpPr>
          <p:spPr>
            <a:xfrm>
              <a:off x="5781474" y="2929881"/>
              <a:ext cx="1018345" cy="653044"/>
            </a:xfrm>
            <a:custGeom>
              <a:avLst/>
              <a:gdLst/>
              <a:ahLst/>
              <a:cxnLst/>
              <a:rect l="l" t="t" r="r" b="b"/>
              <a:pathLst>
                <a:path w="23135" h="14836" extrusionOk="0">
                  <a:moveTo>
                    <a:pt x="22327" y="0"/>
                  </a:moveTo>
                  <a:cubicBezTo>
                    <a:pt x="20206" y="0"/>
                    <a:pt x="17628" y="496"/>
                    <a:pt x="15952" y="2526"/>
                  </a:cubicBezTo>
                  <a:cubicBezTo>
                    <a:pt x="12793" y="6352"/>
                    <a:pt x="12796" y="11852"/>
                    <a:pt x="1" y="14663"/>
                  </a:cubicBezTo>
                  <a:cubicBezTo>
                    <a:pt x="452" y="14768"/>
                    <a:pt x="999" y="14835"/>
                    <a:pt x="1672" y="14835"/>
                  </a:cubicBezTo>
                  <a:cubicBezTo>
                    <a:pt x="5126" y="14835"/>
                    <a:pt x="5053" y="12993"/>
                    <a:pt x="9755" y="12301"/>
                  </a:cubicBezTo>
                  <a:cubicBezTo>
                    <a:pt x="14456" y="11611"/>
                    <a:pt x="22909" y="11038"/>
                    <a:pt x="23095" y="1590"/>
                  </a:cubicBezTo>
                  <a:cubicBezTo>
                    <a:pt x="23104" y="1075"/>
                    <a:pt x="23119" y="551"/>
                    <a:pt x="23134" y="23"/>
                  </a:cubicBezTo>
                  <a:cubicBezTo>
                    <a:pt x="22875" y="9"/>
                    <a:pt x="22605" y="0"/>
                    <a:pt x="223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7">
              <a:extLst>
                <a:ext uri="{FF2B5EF4-FFF2-40B4-BE49-F238E27FC236}">
                  <a16:creationId xmlns:a16="http://schemas.microsoft.com/office/drawing/2014/main" id="{57A73FA0-82CD-5A0E-0505-4D1A80E2FDB5}"/>
                </a:ext>
              </a:extLst>
            </p:cNvPr>
            <p:cNvSpPr/>
            <p:nvPr/>
          </p:nvSpPr>
          <p:spPr>
            <a:xfrm>
              <a:off x="5856848" y="1489213"/>
              <a:ext cx="2152060" cy="1954993"/>
            </a:xfrm>
            <a:custGeom>
              <a:avLst/>
              <a:gdLst/>
              <a:ahLst/>
              <a:cxnLst/>
              <a:rect l="l" t="t" r="r" b="b"/>
              <a:pathLst>
                <a:path w="48891" h="44414" extrusionOk="0">
                  <a:moveTo>
                    <a:pt x="22227" y="0"/>
                  </a:moveTo>
                  <a:lnTo>
                    <a:pt x="22227" y="141"/>
                  </a:lnTo>
                  <a:lnTo>
                    <a:pt x="21821" y="141"/>
                  </a:lnTo>
                  <a:lnTo>
                    <a:pt x="22227" y="3556"/>
                  </a:lnTo>
                  <a:lnTo>
                    <a:pt x="22227" y="16699"/>
                  </a:lnTo>
                  <a:cubicBezTo>
                    <a:pt x="22227" y="16699"/>
                    <a:pt x="21997" y="20962"/>
                    <a:pt x="18080" y="22228"/>
                  </a:cubicBezTo>
                  <a:cubicBezTo>
                    <a:pt x="17401" y="22447"/>
                    <a:pt x="16664" y="22630"/>
                    <a:pt x="15903" y="22814"/>
                  </a:cubicBezTo>
                  <a:cubicBezTo>
                    <a:pt x="16775" y="22002"/>
                    <a:pt x="17428" y="20863"/>
                    <a:pt x="16732" y="19480"/>
                  </a:cubicBezTo>
                  <a:cubicBezTo>
                    <a:pt x="16370" y="18761"/>
                    <a:pt x="16101" y="18055"/>
                    <a:pt x="15902" y="17380"/>
                  </a:cubicBezTo>
                  <a:cubicBezTo>
                    <a:pt x="17140" y="16454"/>
                    <a:pt x="17383" y="14824"/>
                    <a:pt x="17104" y="14077"/>
                  </a:cubicBezTo>
                  <a:cubicBezTo>
                    <a:pt x="16707" y="13018"/>
                    <a:pt x="16114" y="11758"/>
                    <a:pt x="16114" y="11758"/>
                  </a:cubicBezTo>
                  <a:lnTo>
                    <a:pt x="16114" y="11758"/>
                  </a:lnTo>
                  <a:cubicBezTo>
                    <a:pt x="16114" y="11758"/>
                    <a:pt x="16325" y="12508"/>
                    <a:pt x="16826" y="13900"/>
                  </a:cubicBezTo>
                  <a:cubicBezTo>
                    <a:pt x="17207" y="14963"/>
                    <a:pt x="16193" y="16078"/>
                    <a:pt x="15688" y="16548"/>
                  </a:cubicBezTo>
                  <a:cubicBezTo>
                    <a:pt x="15039" y="13615"/>
                    <a:pt x="15660" y="11417"/>
                    <a:pt x="15660" y="11417"/>
                  </a:cubicBezTo>
                  <a:lnTo>
                    <a:pt x="15660" y="11417"/>
                  </a:lnTo>
                  <a:cubicBezTo>
                    <a:pt x="15659" y="11418"/>
                    <a:pt x="14293" y="15584"/>
                    <a:pt x="15387" y="18002"/>
                  </a:cubicBezTo>
                  <a:cubicBezTo>
                    <a:pt x="15480" y="18206"/>
                    <a:pt x="15570" y="18400"/>
                    <a:pt x="15656" y="18588"/>
                  </a:cubicBezTo>
                  <a:cubicBezTo>
                    <a:pt x="15063" y="18417"/>
                    <a:pt x="13616" y="17880"/>
                    <a:pt x="13550" y="16707"/>
                  </a:cubicBezTo>
                  <a:cubicBezTo>
                    <a:pt x="13464" y="15229"/>
                    <a:pt x="13299" y="14304"/>
                    <a:pt x="13299" y="14304"/>
                  </a:cubicBezTo>
                  <a:cubicBezTo>
                    <a:pt x="13299" y="14304"/>
                    <a:pt x="13248" y="15695"/>
                    <a:pt x="13299" y="16825"/>
                  </a:cubicBezTo>
                  <a:cubicBezTo>
                    <a:pt x="13338" y="17676"/>
                    <a:pt x="14325" y="19224"/>
                    <a:pt x="16026" y="19452"/>
                  </a:cubicBezTo>
                  <a:cubicBezTo>
                    <a:pt x="16591" y="20975"/>
                    <a:pt x="16309" y="22032"/>
                    <a:pt x="12742" y="23679"/>
                  </a:cubicBezTo>
                  <a:cubicBezTo>
                    <a:pt x="11710" y="24034"/>
                    <a:pt x="10703" y="24491"/>
                    <a:pt x="9790" y="25145"/>
                  </a:cubicBezTo>
                  <a:cubicBezTo>
                    <a:pt x="9507" y="24922"/>
                    <a:pt x="8675" y="24341"/>
                    <a:pt x="7602" y="24213"/>
                  </a:cubicBezTo>
                  <a:cubicBezTo>
                    <a:pt x="7695" y="23766"/>
                    <a:pt x="7791" y="22778"/>
                    <a:pt x="6909" y="22471"/>
                  </a:cubicBezTo>
                  <a:cubicBezTo>
                    <a:pt x="6758" y="22417"/>
                    <a:pt x="6611" y="22371"/>
                    <a:pt x="6469" y="22325"/>
                  </a:cubicBezTo>
                  <a:cubicBezTo>
                    <a:pt x="6765" y="21549"/>
                    <a:pt x="6448" y="20729"/>
                    <a:pt x="6117" y="20446"/>
                  </a:cubicBezTo>
                  <a:cubicBezTo>
                    <a:pt x="5628" y="20030"/>
                    <a:pt x="4987" y="19570"/>
                    <a:pt x="4987" y="19570"/>
                  </a:cubicBezTo>
                  <a:lnTo>
                    <a:pt x="4987" y="19570"/>
                  </a:lnTo>
                  <a:cubicBezTo>
                    <a:pt x="4987" y="19570"/>
                    <a:pt x="5298" y="19884"/>
                    <a:pt x="5930" y="20435"/>
                  </a:cubicBezTo>
                  <a:cubicBezTo>
                    <a:pt x="6474" y="20912"/>
                    <a:pt x="6155" y="21911"/>
                    <a:pt x="6055" y="22182"/>
                  </a:cubicBezTo>
                  <a:cubicBezTo>
                    <a:pt x="5312" y="21905"/>
                    <a:pt x="4674" y="21494"/>
                    <a:pt x="3915" y="20053"/>
                  </a:cubicBezTo>
                  <a:lnTo>
                    <a:pt x="3915" y="20053"/>
                  </a:lnTo>
                  <a:cubicBezTo>
                    <a:pt x="3915" y="20053"/>
                    <a:pt x="4550" y="22069"/>
                    <a:pt x="5788" y="22761"/>
                  </a:cubicBezTo>
                  <a:cubicBezTo>
                    <a:pt x="7022" y="23450"/>
                    <a:pt x="7029" y="23341"/>
                    <a:pt x="6972" y="24196"/>
                  </a:cubicBezTo>
                  <a:cubicBezTo>
                    <a:pt x="6460" y="24228"/>
                    <a:pt x="5912" y="24378"/>
                    <a:pt x="5355" y="24718"/>
                  </a:cubicBezTo>
                  <a:cubicBezTo>
                    <a:pt x="2994" y="26157"/>
                    <a:pt x="2825" y="29430"/>
                    <a:pt x="1" y="29782"/>
                  </a:cubicBezTo>
                  <a:cubicBezTo>
                    <a:pt x="1" y="29782"/>
                    <a:pt x="108" y="29796"/>
                    <a:pt x="291" y="29796"/>
                  </a:cubicBezTo>
                  <a:cubicBezTo>
                    <a:pt x="878" y="29796"/>
                    <a:pt x="2241" y="29649"/>
                    <a:pt x="3339" y="28413"/>
                  </a:cubicBezTo>
                  <a:cubicBezTo>
                    <a:pt x="3610" y="28108"/>
                    <a:pt x="3863" y="27747"/>
                    <a:pt x="4119" y="27377"/>
                  </a:cubicBezTo>
                  <a:lnTo>
                    <a:pt x="4119" y="27377"/>
                  </a:lnTo>
                  <a:cubicBezTo>
                    <a:pt x="4384" y="27788"/>
                    <a:pt x="4287" y="27825"/>
                    <a:pt x="3723" y="28754"/>
                  </a:cubicBezTo>
                  <a:cubicBezTo>
                    <a:pt x="3093" y="29791"/>
                    <a:pt x="3441" y="31484"/>
                    <a:pt x="3441" y="31484"/>
                  </a:cubicBezTo>
                  <a:cubicBezTo>
                    <a:pt x="3416" y="30135"/>
                    <a:pt x="3718" y="29562"/>
                    <a:pt x="4152" y="29036"/>
                  </a:cubicBezTo>
                  <a:cubicBezTo>
                    <a:pt x="4332" y="29180"/>
                    <a:pt x="4972" y="29739"/>
                    <a:pt x="4763" y="30316"/>
                  </a:cubicBezTo>
                  <a:cubicBezTo>
                    <a:pt x="4523" y="30985"/>
                    <a:pt x="4420" y="31343"/>
                    <a:pt x="4420" y="31343"/>
                  </a:cubicBezTo>
                  <a:cubicBezTo>
                    <a:pt x="4420" y="31343"/>
                    <a:pt x="4706" y="30733"/>
                    <a:pt x="4896" y="30226"/>
                  </a:cubicBezTo>
                  <a:cubicBezTo>
                    <a:pt x="5025" y="29880"/>
                    <a:pt x="4927" y="29164"/>
                    <a:pt x="4399" y="28752"/>
                  </a:cubicBezTo>
                  <a:cubicBezTo>
                    <a:pt x="4483" y="28657"/>
                    <a:pt x="4572" y="28558"/>
                    <a:pt x="4663" y="28452"/>
                  </a:cubicBezTo>
                  <a:cubicBezTo>
                    <a:pt x="5199" y="27826"/>
                    <a:pt x="4691" y="27158"/>
                    <a:pt x="4448" y="26902"/>
                  </a:cubicBezTo>
                  <a:cubicBezTo>
                    <a:pt x="5132" y="25938"/>
                    <a:pt x="5896" y="25045"/>
                    <a:pt x="7117" y="25045"/>
                  </a:cubicBezTo>
                  <a:cubicBezTo>
                    <a:pt x="7676" y="25045"/>
                    <a:pt x="8330" y="25232"/>
                    <a:pt x="9115" y="25683"/>
                  </a:cubicBezTo>
                  <a:cubicBezTo>
                    <a:pt x="7984" y="26685"/>
                    <a:pt x="7043" y="28070"/>
                    <a:pt x="6451" y="30057"/>
                  </a:cubicBezTo>
                  <a:cubicBezTo>
                    <a:pt x="4492" y="36621"/>
                    <a:pt x="1960" y="40882"/>
                    <a:pt x="1" y="41689"/>
                  </a:cubicBezTo>
                  <a:cubicBezTo>
                    <a:pt x="1" y="41689"/>
                    <a:pt x="3856" y="40379"/>
                    <a:pt x="6900" y="32527"/>
                  </a:cubicBezTo>
                  <a:cubicBezTo>
                    <a:pt x="8685" y="34285"/>
                    <a:pt x="8607" y="35270"/>
                    <a:pt x="7905" y="36490"/>
                  </a:cubicBezTo>
                  <a:cubicBezTo>
                    <a:pt x="7858" y="36487"/>
                    <a:pt x="7811" y="36486"/>
                    <a:pt x="7765" y="36486"/>
                  </a:cubicBezTo>
                  <a:cubicBezTo>
                    <a:pt x="6361" y="36486"/>
                    <a:pt x="5271" y="37760"/>
                    <a:pt x="5064" y="38557"/>
                  </a:cubicBezTo>
                  <a:cubicBezTo>
                    <a:pt x="4781" y="39651"/>
                    <a:pt x="4528" y="41019"/>
                    <a:pt x="4528" y="41019"/>
                  </a:cubicBezTo>
                  <a:cubicBezTo>
                    <a:pt x="4528" y="41019"/>
                    <a:pt x="4863" y="40147"/>
                    <a:pt x="5250" y="38720"/>
                  </a:cubicBezTo>
                  <a:cubicBezTo>
                    <a:pt x="5558" y="37587"/>
                    <a:pt x="6880" y="37326"/>
                    <a:pt x="7413" y="37266"/>
                  </a:cubicBezTo>
                  <a:lnTo>
                    <a:pt x="7413" y="37266"/>
                  </a:lnTo>
                  <a:cubicBezTo>
                    <a:pt x="7301" y="37433"/>
                    <a:pt x="7184" y="37607"/>
                    <a:pt x="7063" y="37790"/>
                  </a:cubicBezTo>
                  <a:cubicBezTo>
                    <a:pt x="5631" y="39953"/>
                    <a:pt x="5887" y="44274"/>
                    <a:pt x="5887" y="44274"/>
                  </a:cubicBezTo>
                  <a:cubicBezTo>
                    <a:pt x="5887" y="44274"/>
                    <a:pt x="5836" y="42012"/>
                    <a:pt x="7004" y="39267"/>
                  </a:cubicBezTo>
                  <a:cubicBezTo>
                    <a:pt x="7325" y="39818"/>
                    <a:pt x="7936" y="41093"/>
                    <a:pt x="7392" y="42061"/>
                  </a:cubicBezTo>
                  <a:cubicBezTo>
                    <a:pt x="6677" y="43331"/>
                    <a:pt x="6339" y="44023"/>
                    <a:pt x="6339" y="44023"/>
                  </a:cubicBezTo>
                  <a:cubicBezTo>
                    <a:pt x="6339" y="44023"/>
                    <a:pt x="7103" y="42902"/>
                    <a:pt x="7662" y="41939"/>
                  </a:cubicBezTo>
                  <a:cubicBezTo>
                    <a:pt x="8054" y="41262"/>
                    <a:pt x="8198" y="39624"/>
                    <a:pt x="7359" y="38494"/>
                  </a:cubicBezTo>
                  <a:cubicBezTo>
                    <a:pt x="7669" y="37869"/>
                    <a:pt x="8045" y="37230"/>
                    <a:pt x="8502" y="36594"/>
                  </a:cubicBezTo>
                  <a:cubicBezTo>
                    <a:pt x="10038" y="34449"/>
                    <a:pt x="7953" y="32278"/>
                    <a:pt x="7232" y="31629"/>
                  </a:cubicBezTo>
                  <a:cubicBezTo>
                    <a:pt x="7478" y="30945"/>
                    <a:pt x="7716" y="30216"/>
                    <a:pt x="7943" y="29438"/>
                  </a:cubicBezTo>
                  <a:cubicBezTo>
                    <a:pt x="8341" y="28082"/>
                    <a:pt x="9280" y="26599"/>
                    <a:pt x="11414" y="25827"/>
                  </a:cubicBezTo>
                  <a:lnTo>
                    <a:pt x="11414" y="25827"/>
                  </a:lnTo>
                  <a:cubicBezTo>
                    <a:pt x="11091" y="26230"/>
                    <a:pt x="10785" y="26689"/>
                    <a:pt x="10633" y="27123"/>
                  </a:cubicBezTo>
                  <a:cubicBezTo>
                    <a:pt x="9451" y="28146"/>
                    <a:pt x="9340" y="29810"/>
                    <a:pt x="9680" y="30537"/>
                  </a:cubicBezTo>
                  <a:cubicBezTo>
                    <a:pt x="10163" y="31561"/>
                    <a:pt x="10858" y="32766"/>
                    <a:pt x="10858" y="32766"/>
                  </a:cubicBezTo>
                  <a:cubicBezTo>
                    <a:pt x="10858" y="32766"/>
                    <a:pt x="10587" y="32035"/>
                    <a:pt x="9972" y="30690"/>
                  </a:cubicBezTo>
                  <a:cubicBezTo>
                    <a:pt x="9563" y="29791"/>
                    <a:pt x="10219" y="28763"/>
                    <a:pt x="10699" y="28178"/>
                  </a:cubicBezTo>
                  <a:cubicBezTo>
                    <a:pt x="10808" y="28327"/>
                    <a:pt x="10977" y="28455"/>
                    <a:pt x="11216" y="28556"/>
                  </a:cubicBezTo>
                  <a:cubicBezTo>
                    <a:pt x="14315" y="29850"/>
                    <a:pt x="14434" y="32384"/>
                    <a:pt x="14434" y="32384"/>
                  </a:cubicBezTo>
                  <a:cubicBezTo>
                    <a:pt x="14434" y="32384"/>
                    <a:pt x="14472" y="29514"/>
                    <a:pt x="12823" y="28723"/>
                  </a:cubicBezTo>
                  <a:cubicBezTo>
                    <a:pt x="11495" y="28086"/>
                    <a:pt x="10537" y="27823"/>
                    <a:pt x="12038" y="26027"/>
                  </a:cubicBezTo>
                  <a:lnTo>
                    <a:pt x="12038" y="26027"/>
                  </a:lnTo>
                  <a:cubicBezTo>
                    <a:pt x="12209" y="26050"/>
                    <a:pt x="14337" y="26364"/>
                    <a:pt x="14536" y="27770"/>
                  </a:cubicBezTo>
                  <a:cubicBezTo>
                    <a:pt x="14745" y="29235"/>
                    <a:pt x="14984" y="30143"/>
                    <a:pt x="14984" y="30143"/>
                  </a:cubicBezTo>
                  <a:cubicBezTo>
                    <a:pt x="14984" y="30143"/>
                    <a:pt x="14920" y="28752"/>
                    <a:pt x="14777" y="27630"/>
                  </a:cubicBezTo>
                  <a:cubicBezTo>
                    <a:pt x="14691" y="26964"/>
                    <a:pt x="13980" y="25912"/>
                    <a:pt x="12841" y="25455"/>
                  </a:cubicBezTo>
                  <a:cubicBezTo>
                    <a:pt x="13460" y="25348"/>
                    <a:pt x="14152" y="25289"/>
                    <a:pt x="14926" y="25289"/>
                  </a:cubicBezTo>
                  <a:cubicBezTo>
                    <a:pt x="15855" y="25289"/>
                    <a:pt x="16903" y="25374"/>
                    <a:pt x="18083" y="25563"/>
                  </a:cubicBezTo>
                  <a:cubicBezTo>
                    <a:pt x="18567" y="25641"/>
                    <a:pt x="19121" y="25720"/>
                    <a:pt x="19702" y="25720"/>
                  </a:cubicBezTo>
                  <a:cubicBezTo>
                    <a:pt x="21453" y="25720"/>
                    <a:pt x="23440" y="24998"/>
                    <a:pt x="24426" y="21334"/>
                  </a:cubicBezTo>
                  <a:cubicBezTo>
                    <a:pt x="25400" y="25121"/>
                    <a:pt x="27414" y="25861"/>
                    <a:pt x="29188" y="25861"/>
                  </a:cubicBezTo>
                  <a:cubicBezTo>
                    <a:pt x="29769" y="25861"/>
                    <a:pt x="30324" y="25782"/>
                    <a:pt x="30808" y="25704"/>
                  </a:cubicBezTo>
                  <a:cubicBezTo>
                    <a:pt x="31989" y="25515"/>
                    <a:pt x="33036" y="25429"/>
                    <a:pt x="33966" y="25429"/>
                  </a:cubicBezTo>
                  <a:cubicBezTo>
                    <a:pt x="34739" y="25429"/>
                    <a:pt x="35430" y="25488"/>
                    <a:pt x="36048" y="25595"/>
                  </a:cubicBezTo>
                  <a:cubicBezTo>
                    <a:pt x="34910" y="26052"/>
                    <a:pt x="34200" y="27104"/>
                    <a:pt x="34114" y="27770"/>
                  </a:cubicBezTo>
                  <a:cubicBezTo>
                    <a:pt x="33969" y="28892"/>
                    <a:pt x="33908" y="30283"/>
                    <a:pt x="33908" y="30283"/>
                  </a:cubicBezTo>
                  <a:cubicBezTo>
                    <a:pt x="33908" y="30283"/>
                    <a:pt x="34147" y="29375"/>
                    <a:pt x="34355" y="27910"/>
                  </a:cubicBezTo>
                  <a:cubicBezTo>
                    <a:pt x="34554" y="26502"/>
                    <a:pt x="36682" y="26188"/>
                    <a:pt x="36852" y="26167"/>
                  </a:cubicBezTo>
                  <a:lnTo>
                    <a:pt x="36852" y="26167"/>
                  </a:lnTo>
                  <a:cubicBezTo>
                    <a:pt x="38352" y="27960"/>
                    <a:pt x="37397" y="28226"/>
                    <a:pt x="36068" y="28863"/>
                  </a:cubicBezTo>
                  <a:cubicBezTo>
                    <a:pt x="34416" y="29654"/>
                    <a:pt x="34457" y="32524"/>
                    <a:pt x="34457" y="32524"/>
                  </a:cubicBezTo>
                  <a:cubicBezTo>
                    <a:pt x="34457" y="32524"/>
                    <a:pt x="34575" y="29990"/>
                    <a:pt x="37674" y="28697"/>
                  </a:cubicBezTo>
                  <a:cubicBezTo>
                    <a:pt x="37915" y="28596"/>
                    <a:pt x="38082" y="28469"/>
                    <a:pt x="38191" y="28319"/>
                  </a:cubicBezTo>
                  <a:cubicBezTo>
                    <a:pt x="38672" y="28905"/>
                    <a:pt x="39325" y="29931"/>
                    <a:pt x="38916" y="30830"/>
                  </a:cubicBezTo>
                  <a:cubicBezTo>
                    <a:pt x="38303" y="32177"/>
                    <a:pt x="38031" y="32907"/>
                    <a:pt x="38031" y="32907"/>
                  </a:cubicBezTo>
                  <a:cubicBezTo>
                    <a:pt x="38031" y="32907"/>
                    <a:pt x="38726" y="31702"/>
                    <a:pt x="39208" y="30678"/>
                  </a:cubicBezTo>
                  <a:cubicBezTo>
                    <a:pt x="39550" y="29952"/>
                    <a:pt x="39437" y="28289"/>
                    <a:pt x="38257" y="27266"/>
                  </a:cubicBezTo>
                  <a:cubicBezTo>
                    <a:pt x="38104" y="26832"/>
                    <a:pt x="37800" y="26375"/>
                    <a:pt x="37477" y="25969"/>
                  </a:cubicBezTo>
                  <a:lnTo>
                    <a:pt x="37477" y="25969"/>
                  </a:lnTo>
                  <a:cubicBezTo>
                    <a:pt x="39611" y="26742"/>
                    <a:pt x="40548" y="28223"/>
                    <a:pt x="40947" y="29579"/>
                  </a:cubicBezTo>
                  <a:cubicBezTo>
                    <a:pt x="41176" y="30356"/>
                    <a:pt x="41414" y="31086"/>
                    <a:pt x="41657" y="31769"/>
                  </a:cubicBezTo>
                  <a:cubicBezTo>
                    <a:pt x="40939" y="32418"/>
                    <a:pt x="38852" y="34589"/>
                    <a:pt x="40389" y="36734"/>
                  </a:cubicBezTo>
                  <a:cubicBezTo>
                    <a:pt x="40844" y="37370"/>
                    <a:pt x="41220" y="38009"/>
                    <a:pt x="41531" y="38634"/>
                  </a:cubicBezTo>
                  <a:cubicBezTo>
                    <a:pt x="40693" y="39764"/>
                    <a:pt x="40837" y="41402"/>
                    <a:pt x="41229" y="42080"/>
                  </a:cubicBezTo>
                  <a:cubicBezTo>
                    <a:pt x="41785" y="43042"/>
                    <a:pt x="42551" y="44165"/>
                    <a:pt x="42551" y="44165"/>
                  </a:cubicBezTo>
                  <a:cubicBezTo>
                    <a:pt x="42551" y="44165"/>
                    <a:pt x="42215" y="43471"/>
                    <a:pt x="41499" y="42202"/>
                  </a:cubicBezTo>
                  <a:cubicBezTo>
                    <a:pt x="40954" y="41233"/>
                    <a:pt x="41565" y="39958"/>
                    <a:pt x="41886" y="39407"/>
                  </a:cubicBezTo>
                  <a:cubicBezTo>
                    <a:pt x="43055" y="42152"/>
                    <a:pt x="43005" y="44414"/>
                    <a:pt x="43005" y="44414"/>
                  </a:cubicBezTo>
                  <a:cubicBezTo>
                    <a:pt x="43005" y="44414"/>
                    <a:pt x="43259" y="40091"/>
                    <a:pt x="41828" y="37929"/>
                  </a:cubicBezTo>
                  <a:cubicBezTo>
                    <a:pt x="41708" y="37747"/>
                    <a:pt x="41590" y="37572"/>
                    <a:pt x="41478" y="37405"/>
                  </a:cubicBezTo>
                  <a:lnTo>
                    <a:pt x="41478" y="37405"/>
                  </a:lnTo>
                  <a:cubicBezTo>
                    <a:pt x="42011" y="37465"/>
                    <a:pt x="43334" y="37725"/>
                    <a:pt x="43641" y="38859"/>
                  </a:cubicBezTo>
                  <a:cubicBezTo>
                    <a:pt x="44029" y="40286"/>
                    <a:pt x="44363" y="41158"/>
                    <a:pt x="44363" y="41158"/>
                  </a:cubicBezTo>
                  <a:cubicBezTo>
                    <a:pt x="44363" y="41158"/>
                    <a:pt x="44110" y="39790"/>
                    <a:pt x="43825" y="38696"/>
                  </a:cubicBezTo>
                  <a:cubicBezTo>
                    <a:pt x="43620" y="37899"/>
                    <a:pt x="42531" y="36625"/>
                    <a:pt x="41127" y="36625"/>
                  </a:cubicBezTo>
                  <a:cubicBezTo>
                    <a:pt x="41081" y="36625"/>
                    <a:pt x="41034" y="36626"/>
                    <a:pt x="40986" y="36629"/>
                  </a:cubicBezTo>
                  <a:cubicBezTo>
                    <a:pt x="40283" y="35410"/>
                    <a:pt x="40207" y="34424"/>
                    <a:pt x="41991" y="32665"/>
                  </a:cubicBezTo>
                  <a:cubicBezTo>
                    <a:pt x="45035" y="40517"/>
                    <a:pt x="48891" y="41827"/>
                    <a:pt x="48891" y="41827"/>
                  </a:cubicBezTo>
                  <a:cubicBezTo>
                    <a:pt x="46929" y="41025"/>
                    <a:pt x="44396" y="36765"/>
                    <a:pt x="42439" y="30200"/>
                  </a:cubicBezTo>
                  <a:cubicBezTo>
                    <a:pt x="41847" y="28213"/>
                    <a:pt x="40906" y="26829"/>
                    <a:pt x="39772" y="25828"/>
                  </a:cubicBezTo>
                  <a:cubicBezTo>
                    <a:pt x="40558" y="25376"/>
                    <a:pt x="41213" y="25189"/>
                    <a:pt x="41771" y="25189"/>
                  </a:cubicBezTo>
                  <a:cubicBezTo>
                    <a:pt x="42992" y="25189"/>
                    <a:pt x="43756" y="26081"/>
                    <a:pt x="44439" y="27045"/>
                  </a:cubicBezTo>
                  <a:cubicBezTo>
                    <a:pt x="44197" y="27303"/>
                    <a:pt x="43688" y="27970"/>
                    <a:pt x="44224" y="28596"/>
                  </a:cubicBezTo>
                  <a:cubicBezTo>
                    <a:pt x="44314" y="28701"/>
                    <a:pt x="44404" y="28800"/>
                    <a:pt x="44490" y="28896"/>
                  </a:cubicBezTo>
                  <a:cubicBezTo>
                    <a:pt x="43959" y="29306"/>
                    <a:pt x="43859" y="30022"/>
                    <a:pt x="43990" y="30369"/>
                  </a:cubicBezTo>
                  <a:cubicBezTo>
                    <a:pt x="44182" y="30876"/>
                    <a:pt x="44466" y="31486"/>
                    <a:pt x="44466" y="31486"/>
                  </a:cubicBezTo>
                  <a:cubicBezTo>
                    <a:pt x="44466" y="31486"/>
                    <a:pt x="44365" y="31128"/>
                    <a:pt x="44125" y="30458"/>
                  </a:cubicBezTo>
                  <a:cubicBezTo>
                    <a:pt x="43915" y="29881"/>
                    <a:pt x="44553" y="29322"/>
                    <a:pt x="44735" y="29179"/>
                  </a:cubicBezTo>
                  <a:cubicBezTo>
                    <a:pt x="45169" y="29703"/>
                    <a:pt x="45472" y="30277"/>
                    <a:pt x="45447" y="31626"/>
                  </a:cubicBezTo>
                  <a:cubicBezTo>
                    <a:pt x="45447" y="31626"/>
                    <a:pt x="45794" y="29933"/>
                    <a:pt x="45165" y="28895"/>
                  </a:cubicBezTo>
                  <a:cubicBezTo>
                    <a:pt x="44602" y="27966"/>
                    <a:pt x="44505" y="27930"/>
                    <a:pt x="44771" y="27518"/>
                  </a:cubicBezTo>
                  <a:lnTo>
                    <a:pt x="44771" y="27518"/>
                  </a:lnTo>
                  <a:cubicBezTo>
                    <a:pt x="45026" y="27888"/>
                    <a:pt x="45279" y="28249"/>
                    <a:pt x="45549" y="28555"/>
                  </a:cubicBezTo>
                  <a:cubicBezTo>
                    <a:pt x="46647" y="29791"/>
                    <a:pt x="48013" y="29937"/>
                    <a:pt x="48599" y="29937"/>
                  </a:cubicBezTo>
                  <a:cubicBezTo>
                    <a:pt x="48782" y="29937"/>
                    <a:pt x="48889" y="29923"/>
                    <a:pt x="48889" y="29923"/>
                  </a:cubicBezTo>
                  <a:cubicBezTo>
                    <a:pt x="46064" y="29573"/>
                    <a:pt x="45896" y="26300"/>
                    <a:pt x="43535" y="24860"/>
                  </a:cubicBezTo>
                  <a:cubicBezTo>
                    <a:pt x="42976" y="24520"/>
                    <a:pt x="42429" y="24369"/>
                    <a:pt x="41918" y="24338"/>
                  </a:cubicBezTo>
                  <a:cubicBezTo>
                    <a:pt x="41861" y="23484"/>
                    <a:pt x="41867" y="23593"/>
                    <a:pt x="43102" y="22904"/>
                  </a:cubicBezTo>
                  <a:cubicBezTo>
                    <a:pt x="44340" y="22212"/>
                    <a:pt x="44973" y="20197"/>
                    <a:pt x="44973" y="20196"/>
                  </a:cubicBezTo>
                  <a:lnTo>
                    <a:pt x="44973" y="20196"/>
                  </a:lnTo>
                  <a:cubicBezTo>
                    <a:pt x="44214" y="21639"/>
                    <a:pt x="43576" y="22049"/>
                    <a:pt x="42833" y="22327"/>
                  </a:cubicBezTo>
                  <a:cubicBezTo>
                    <a:pt x="42733" y="22055"/>
                    <a:pt x="42413" y="21056"/>
                    <a:pt x="42959" y="20580"/>
                  </a:cubicBezTo>
                  <a:cubicBezTo>
                    <a:pt x="43590" y="20028"/>
                    <a:pt x="43902" y="19714"/>
                    <a:pt x="43902" y="19714"/>
                  </a:cubicBezTo>
                  <a:lnTo>
                    <a:pt x="43902" y="19714"/>
                  </a:lnTo>
                  <a:cubicBezTo>
                    <a:pt x="43902" y="19714"/>
                    <a:pt x="43260" y="20175"/>
                    <a:pt x="42771" y="20590"/>
                  </a:cubicBezTo>
                  <a:cubicBezTo>
                    <a:pt x="42441" y="20873"/>
                    <a:pt x="42123" y="21694"/>
                    <a:pt x="42418" y="22469"/>
                  </a:cubicBezTo>
                  <a:cubicBezTo>
                    <a:pt x="42276" y="22515"/>
                    <a:pt x="42130" y="22564"/>
                    <a:pt x="41978" y="22615"/>
                  </a:cubicBezTo>
                  <a:cubicBezTo>
                    <a:pt x="41096" y="22924"/>
                    <a:pt x="41193" y="23911"/>
                    <a:pt x="41288" y="24358"/>
                  </a:cubicBezTo>
                  <a:cubicBezTo>
                    <a:pt x="40212" y="24486"/>
                    <a:pt x="39382" y="25069"/>
                    <a:pt x="39098" y="25291"/>
                  </a:cubicBezTo>
                  <a:cubicBezTo>
                    <a:pt x="38185" y="24637"/>
                    <a:pt x="37181" y="24179"/>
                    <a:pt x="36150" y="23825"/>
                  </a:cubicBezTo>
                  <a:cubicBezTo>
                    <a:pt x="32578" y="22177"/>
                    <a:pt x="32298" y="21119"/>
                    <a:pt x="32864" y="19595"/>
                  </a:cubicBezTo>
                  <a:cubicBezTo>
                    <a:pt x="34565" y="19368"/>
                    <a:pt x="35550" y="17821"/>
                    <a:pt x="35590" y="16969"/>
                  </a:cubicBezTo>
                  <a:cubicBezTo>
                    <a:pt x="35641" y="15838"/>
                    <a:pt x="35590" y="14448"/>
                    <a:pt x="35590" y="14448"/>
                  </a:cubicBezTo>
                  <a:cubicBezTo>
                    <a:pt x="35590" y="14448"/>
                    <a:pt x="35426" y="15372"/>
                    <a:pt x="35338" y="16850"/>
                  </a:cubicBezTo>
                  <a:cubicBezTo>
                    <a:pt x="35271" y="18024"/>
                    <a:pt x="33825" y="18560"/>
                    <a:pt x="33233" y="18731"/>
                  </a:cubicBezTo>
                  <a:cubicBezTo>
                    <a:pt x="33319" y="18544"/>
                    <a:pt x="33409" y="18349"/>
                    <a:pt x="33501" y="18145"/>
                  </a:cubicBezTo>
                  <a:cubicBezTo>
                    <a:pt x="34595" y="15728"/>
                    <a:pt x="33228" y="11560"/>
                    <a:pt x="33228" y="11559"/>
                  </a:cubicBezTo>
                  <a:lnTo>
                    <a:pt x="33228" y="11559"/>
                  </a:lnTo>
                  <a:cubicBezTo>
                    <a:pt x="33228" y="11560"/>
                    <a:pt x="33849" y="13759"/>
                    <a:pt x="33200" y="16689"/>
                  </a:cubicBezTo>
                  <a:cubicBezTo>
                    <a:pt x="32695" y="16218"/>
                    <a:pt x="31680" y="15104"/>
                    <a:pt x="32062" y="14041"/>
                  </a:cubicBezTo>
                  <a:cubicBezTo>
                    <a:pt x="32562" y="12649"/>
                    <a:pt x="32772" y="11900"/>
                    <a:pt x="32772" y="11900"/>
                  </a:cubicBezTo>
                  <a:lnTo>
                    <a:pt x="32772" y="11900"/>
                  </a:lnTo>
                  <a:cubicBezTo>
                    <a:pt x="32772" y="11900"/>
                    <a:pt x="32178" y="13160"/>
                    <a:pt x="31783" y="14218"/>
                  </a:cubicBezTo>
                  <a:cubicBezTo>
                    <a:pt x="31504" y="14965"/>
                    <a:pt x="31746" y="16595"/>
                    <a:pt x="32984" y="17521"/>
                  </a:cubicBezTo>
                  <a:cubicBezTo>
                    <a:pt x="32785" y="18198"/>
                    <a:pt x="32515" y="18903"/>
                    <a:pt x="32154" y="19621"/>
                  </a:cubicBezTo>
                  <a:cubicBezTo>
                    <a:pt x="31459" y="21005"/>
                    <a:pt x="32112" y="22144"/>
                    <a:pt x="32984" y="22956"/>
                  </a:cubicBezTo>
                  <a:cubicBezTo>
                    <a:pt x="32223" y="22771"/>
                    <a:pt x="31487" y="22590"/>
                    <a:pt x="30805" y="22370"/>
                  </a:cubicBezTo>
                  <a:cubicBezTo>
                    <a:pt x="26890" y="21103"/>
                    <a:pt x="26659" y="16843"/>
                    <a:pt x="26659" y="16843"/>
                  </a:cubicBezTo>
                  <a:lnTo>
                    <a:pt x="26659" y="3407"/>
                  </a:lnTo>
                  <a:lnTo>
                    <a:pt x="270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7">
              <a:extLst>
                <a:ext uri="{FF2B5EF4-FFF2-40B4-BE49-F238E27FC236}">
                  <a16:creationId xmlns:a16="http://schemas.microsoft.com/office/drawing/2014/main" id="{C5A44684-B5BC-2AD5-32BF-7E4C0C6333AA}"/>
                </a:ext>
              </a:extLst>
            </p:cNvPr>
            <p:cNvSpPr/>
            <p:nvPr/>
          </p:nvSpPr>
          <p:spPr>
            <a:xfrm>
              <a:off x="6803443" y="1572099"/>
              <a:ext cx="258867" cy="53305"/>
            </a:xfrm>
            <a:custGeom>
              <a:avLst/>
              <a:gdLst/>
              <a:ahLst/>
              <a:cxnLst/>
              <a:rect l="l" t="t" r="r" b="b"/>
              <a:pathLst>
                <a:path w="5881" h="1211" extrusionOk="0">
                  <a:moveTo>
                    <a:pt x="605" y="0"/>
                  </a:moveTo>
                  <a:cubicBezTo>
                    <a:pt x="272" y="0"/>
                    <a:pt x="0" y="271"/>
                    <a:pt x="0" y="605"/>
                  </a:cubicBezTo>
                  <a:cubicBezTo>
                    <a:pt x="0" y="939"/>
                    <a:pt x="272" y="1210"/>
                    <a:pt x="605" y="1210"/>
                  </a:cubicBezTo>
                  <a:lnTo>
                    <a:pt x="5277" y="1210"/>
                  </a:lnTo>
                  <a:cubicBezTo>
                    <a:pt x="5610" y="1210"/>
                    <a:pt x="5881" y="939"/>
                    <a:pt x="5881" y="605"/>
                  </a:cubicBezTo>
                  <a:cubicBezTo>
                    <a:pt x="5881" y="271"/>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7">
              <a:extLst>
                <a:ext uri="{FF2B5EF4-FFF2-40B4-BE49-F238E27FC236}">
                  <a16:creationId xmlns:a16="http://schemas.microsoft.com/office/drawing/2014/main" id="{02EF9FED-C45A-8472-9245-119CC621E761}"/>
                </a:ext>
              </a:extLst>
            </p:cNvPr>
            <p:cNvSpPr/>
            <p:nvPr/>
          </p:nvSpPr>
          <p:spPr>
            <a:xfrm>
              <a:off x="6803443" y="1715069"/>
              <a:ext cx="258867" cy="53261"/>
            </a:xfrm>
            <a:custGeom>
              <a:avLst/>
              <a:gdLst/>
              <a:ahLst/>
              <a:cxnLst/>
              <a:rect l="l" t="t" r="r" b="b"/>
              <a:pathLst>
                <a:path w="5881" h="1210" extrusionOk="0">
                  <a:moveTo>
                    <a:pt x="605" y="0"/>
                  </a:moveTo>
                  <a:cubicBezTo>
                    <a:pt x="272" y="0"/>
                    <a:pt x="0" y="270"/>
                    <a:pt x="0" y="605"/>
                  </a:cubicBezTo>
                  <a:cubicBezTo>
                    <a:pt x="0" y="939"/>
                    <a:pt x="272" y="1209"/>
                    <a:pt x="605" y="1209"/>
                  </a:cubicBezTo>
                  <a:lnTo>
                    <a:pt x="5277" y="1209"/>
                  </a:lnTo>
                  <a:cubicBezTo>
                    <a:pt x="5610" y="1209"/>
                    <a:pt x="5881" y="939"/>
                    <a:pt x="5881" y="605"/>
                  </a:cubicBezTo>
                  <a:cubicBezTo>
                    <a:pt x="5881" y="272"/>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7">
              <a:extLst>
                <a:ext uri="{FF2B5EF4-FFF2-40B4-BE49-F238E27FC236}">
                  <a16:creationId xmlns:a16="http://schemas.microsoft.com/office/drawing/2014/main" id="{5B2E3CAF-3CFC-4BD4-B90A-D0C0CD23196F}"/>
                </a:ext>
              </a:extLst>
            </p:cNvPr>
            <p:cNvSpPr/>
            <p:nvPr/>
          </p:nvSpPr>
          <p:spPr>
            <a:xfrm>
              <a:off x="6803443" y="1876176"/>
              <a:ext cx="258867" cy="53393"/>
            </a:xfrm>
            <a:custGeom>
              <a:avLst/>
              <a:gdLst/>
              <a:ahLst/>
              <a:cxnLst/>
              <a:rect l="l" t="t" r="r" b="b"/>
              <a:pathLst>
                <a:path w="5881" h="1213" extrusionOk="0">
                  <a:moveTo>
                    <a:pt x="605" y="1"/>
                  </a:moveTo>
                  <a:cubicBezTo>
                    <a:pt x="272" y="1"/>
                    <a:pt x="0" y="273"/>
                    <a:pt x="0" y="607"/>
                  </a:cubicBezTo>
                  <a:cubicBezTo>
                    <a:pt x="0" y="941"/>
                    <a:pt x="272" y="1212"/>
                    <a:pt x="605" y="1212"/>
                  </a:cubicBezTo>
                  <a:lnTo>
                    <a:pt x="5277" y="1212"/>
                  </a:lnTo>
                  <a:cubicBezTo>
                    <a:pt x="5610" y="1212"/>
                    <a:pt x="5881" y="941"/>
                    <a:pt x="5881" y="607"/>
                  </a:cubicBezTo>
                  <a:cubicBezTo>
                    <a:pt x="5881" y="273"/>
                    <a:pt x="5610" y="2"/>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7">
              <a:extLst>
                <a:ext uri="{FF2B5EF4-FFF2-40B4-BE49-F238E27FC236}">
                  <a16:creationId xmlns:a16="http://schemas.microsoft.com/office/drawing/2014/main" id="{A070788F-3D77-C6E1-8E88-090C1B7082C3}"/>
                </a:ext>
              </a:extLst>
            </p:cNvPr>
            <p:cNvSpPr/>
            <p:nvPr/>
          </p:nvSpPr>
          <p:spPr>
            <a:xfrm>
              <a:off x="6803443" y="2028390"/>
              <a:ext cx="258867" cy="53217"/>
            </a:xfrm>
            <a:custGeom>
              <a:avLst/>
              <a:gdLst/>
              <a:ahLst/>
              <a:cxnLst/>
              <a:rect l="l" t="t" r="r" b="b"/>
              <a:pathLst>
                <a:path w="5881" h="1209" extrusionOk="0">
                  <a:moveTo>
                    <a:pt x="605" y="1"/>
                  </a:moveTo>
                  <a:cubicBezTo>
                    <a:pt x="272" y="1"/>
                    <a:pt x="0" y="270"/>
                    <a:pt x="0" y="605"/>
                  </a:cubicBezTo>
                  <a:cubicBezTo>
                    <a:pt x="0" y="939"/>
                    <a:pt x="272" y="1209"/>
                    <a:pt x="605" y="1209"/>
                  </a:cubicBezTo>
                  <a:lnTo>
                    <a:pt x="5277" y="1209"/>
                  </a:lnTo>
                  <a:cubicBezTo>
                    <a:pt x="5610" y="1209"/>
                    <a:pt x="5881" y="939"/>
                    <a:pt x="5881" y="605"/>
                  </a:cubicBezTo>
                  <a:cubicBezTo>
                    <a:pt x="5881" y="270"/>
                    <a:pt x="5610" y="1"/>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7">
              <a:extLst>
                <a:ext uri="{FF2B5EF4-FFF2-40B4-BE49-F238E27FC236}">
                  <a16:creationId xmlns:a16="http://schemas.microsoft.com/office/drawing/2014/main" id="{F02C0F6B-1880-2A39-DF6D-82EB46D02C8E}"/>
                </a:ext>
              </a:extLst>
            </p:cNvPr>
            <p:cNvSpPr/>
            <p:nvPr/>
          </p:nvSpPr>
          <p:spPr>
            <a:xfrm>
              <a:off x="7386419" y="2521966"/>
              <a:ext cx="254465" cy="279819"/>
            </a:xfrm>
            <a:custGeom>
              <a:avLst/>
              <a:gdLst/>
              <a:ahLst/>
              <a:cxnLst/>
              <a:rect l="l" t="t" r="r" b="b"/>
              <a:pathLst>
                <a:path w="5781" h="6357" extrusionOk="0">
                  <a:moveTo>
                    <a:pt x="2780" y="0"/>
                  </a:moveTo>
                  <a:cubicBezTo>
                    <a:pt x="2532" y="0"/>
                    <a:pt x="2280" y="60"/>
                    <a:pt x="2093" y="178"/>
                  </a:cubicBezTo>
                  <a:cubicBezTo>
                    <a:pt x="1762" y="388"/>
                    <a:pt x="1496" y="453"/>
                    <a:pt x="1278" y="453"/>
                  </a:cubicBezTo>
                  <a:cubicBezTo>
                    <a:pt x="918" y="453"/>
                    <a:pt x="690" y="275"/>
                    <a:pt x="524" y="275"/>
                  </a:cubicBezTo>
                  <a:cubicBezTo>
                    <a:pt x="436" y="275"/>
                    <a:pt x="365" y="324"/>
                    <a:pt x="301" y="476"/>
                  </a:cubicBezTo>
                  <a:cubicBezTo>
                    <a:pt x="0" y="1183"/>
                    <a:pt x="796" y="1521"/>
                    <a:pt x="796" y="1521"/>
                  </a:cubicBezTo>
                  <a:cubicBezTo>
                    <a:pt x="796" y="1521"/>
                    <a:pt x="938" y="1465"/>
                    <a:pt x="1074" y="1465"/>
                  </a:cubicBezTo>
                  <a:cubicBezTo>
                    <a:pt x="1315" y="1465"/>
                    <a:pt x="1537" y="1641"/>
                    <a:pt x="910" y="2617"/>
                  </a:cubicBezTo>
                  <a:cubicBezTo>
                    <a:pt x="107" y="3861"/>
                    <a:pt x="1793" y="5030"/>
                    <a:pt x="2432" y="5801"/>
                  </a:cubicBezTo>
                  <a:cubicBezTo>
                    <a:pt x="2738" y="6170"/>
                    <a:pt x="3266" y="6357"/>
                    <a:pt x="3794" y="6357"/>
                  </a:cubicBezTo>
                  <a:cubicBezTo>
                    <a:pt x="4372" y="6357"/>
                    <a:pt x="4949" y="6133"/>
                    <a:pt x="5232" y="5677"/>
                  </a:cubicBezTo>
                  <a:cubicBezTo>
                    <a:pt x="5781" y="4793"/>
                    <a:pt x="5180" y="4094"/>
                    <a:pt x="4263" y="3861"/>
                  </a:cubicBezTo>
                  <a:cubicBezTo>
                    <a:pt x="3342" y="3626"/>
                    <a:pt x="4926" y="3219"/>
                    <a:pt x="4791" y="2440"/>
                  </a:cubicBezTo>
                  <a:cubicBezTo>
                    <a:pt x="4581" y="1231"/>
                    <a:pt x="2921" y="2111"/>
                    <a:pt x="3547" y="1062"/>
                  </a:cubicBezTo>
                  <a:cubicBezTo>
                    <a:pt x="3970" y="352"/>
                    <a:pt x="3385" y="0"/>
                    <a:pt x="2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a:extLst>
                <a:ext uri="{FF2B5EF4-FFF2-40B4-BE49-F238E27FC236}">
                  <a16:creationId xmlns:a16="http://schemas.microsoft.com/office/drawing/2014/main" id="{28AF2344-1444-C689-49B3-8434DD47A76B}"/>
                </a:ext>
              </a:extLst>
            </p:cNvPr>
            <p:cNvSpPr/>
            <p:nvPr/>
          </p:nvSpPr>
          <p:spPr>
            <a:xfrm>
              <a:off x="7164436" y="2698478"/>
              <a:ext cx="307462" cy="239411"/>
            </a:xfrm>
            <a:custGeom>
              <a:avLst/>
              <a:gdLst/>
              <a:ahLst/>
              <a:cxnLst/>
              <a:rect l="l" t="t" r="r" b="b"/>
              <a:pathLst>
                <a:path w="6985" h="5439" extrusionOk="0">
                  <a:moveTo>
                    <a:pt x="5731" y="0"/>
                  </a:moveTo>
                  <a:cubicBezTo>
                    <a:pt x="5568" y="0"/>
                    <a:pt x="5322" y="74"/>
                    <a:pt x="5070" y="422"/>
                  </a:cubicBezTo>
                  <a:cubicBezTo>
                    <a:pt x="4569" y="1123"/>
                    <a:pt x="4660" y="3201"/>
                    <a:pt x="3686" y="3926"/>
                  </a:cubicBezTo>
                  <a:cubicBezTo>
                    <a:pt x="3211" y="4279"/>
                    <a:pt x="2780" y="4385"/>
                    <a:pt x="2400" y="4385"/>
                  </a:cubicBezTo>
                  <a:cubicBezTo>
                    <a:pt x="2000" y="4385"/>
                    <a:pt x="1656" y="4268"/>
                    <a:pt x="1372" y="4195"/>
                  </a:cubicBezTo>
                  <a:cubicBezTo>
                    <a:pt x="820" y="4051"/>
                    <a:pt x="661" y="3748"/>
                    <a:pt x="330" y="3700"/>
                  </a:cubicBezTo>
                  <a:cubicBezTo>
                    <a:pt x="310" y="3697"/>
                    <a:pt x="291" y="3695"/>
                    <a:pt x="273" y="3695"/>
                  </a:cubicBezTo>
                  <a:cubicBezTo>
                    <a:pt x="1" y="3695"/>
                    <a:pt x="18" y="4052"/>
                    <a:pt x="801" y="4456"/>
                  </a:cubicBezTo>
                  <a:cubicBezTo>
                    <a:pt x="1118" y="4621"/>
                    <a:pt x="2355" y="5438"/>
                    <a:pt x="3518" y="5438"/>
                  </a:cubicBezTo>
                  <a:cubicBezTo>
                    <a:pt x="3818" y="5438"/>
                    <a:pt x="4113" y="5384"/>
                    <a:pt x="4386" y="5250"/>
                  </a:cubicBezTo>
                  <a:cubicBezTo>
                    <a:pt x="6130" y="4394"/>
                    <a:pt x="6985" y="474"/>
                    <a:pt x="5924" y="40"/>
                  </a:cubicBezTo>
                  <a:cubicBezTo>
                    <a:pt x="5924" y="40"/>
                    <a:pt x="5850" y="0"/>
                    <a:pt x="5731"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7">
              <a:extLst>
                <a:ext uri="{FF2B5EF4-FFF2-40B4-BE49-F238E27FC236}">
                  <a16:creationId xmlns:a16="http://schemas.microsoft.com/office/drawing/2014/main" id="{0D65EDF5-FD58-4FAE-7CC4-5146A6A7CA2E}"/>
                </a:ext>
              </a:extLst>
            </p:cNvPr>
            <p:cNvSpPr/>
            <p:nvPr/>
          </p:nvSpPr>
          <p:spPr>
            <a:xfrm>
              <a:off x="7294025" y="3091912"/>
              <a:ext cx="322648" cy="472616"/>
            </a:xfrm>
            <a:custGeom>
              <a:avLst/>
              <a:gdLst/>
              <a:ahLst/>
              <a:cxnLst/>
              <a:rect l="l" t="t" r="r" b="b"/>
              <a:pathLst>
                <a:path w="7330" h="10737" extrusionOk="0">
                  <a:moveTo>
                    <a:pt x="3001" y="92"/>
                  </a:moveTo>
                  <a:cubicBezTo>
                    <a:pt x="2956" y="357"/>
                    <a:pt x="2923" y="624"/>
                    <a:pt x="2899" y="888"/>
                  </a:cubicBezTo>
                  <a:lnTo>
                    <a:pt x="2899" y="888"/>
                  </a:lnTo>
                  <a:cubicBezTo>
                    <a:pt x="2951" y="923"/>
                    <a:pt x="3003" y="957"/>
                    <a:pt x="3056" y="993"/>
                  </a:cubicBezTo>
                  <a:lnTo>
                    <a:pt x="3056" y="993"/>
                  </a:lnTo>
                  <a:cubicBezTo>
                    <a:pt x="3034" y="677"/>
                    <a:pt x="3016" y="376"/>
                    <a:pt x="3001" y="92"/>
                  </a:cubicBezTo>
                  <a:close/>
                  <a:moveTo>
                    <a:pt x="768" y="0"/>
                  </a:moveTo>
                  <a:cubicBezTo>
                    <a:pt x="290" y="0"/>
                    <a:pt x="0" y="283"/>
                    <a:pt x="45" y="980"/>
                  </a:cubicBezTo>
                  <a:cubicBezTo>
                    <a:pt x="218" y="3627"/>
                    <a:pt x="1111" y="7742"/>
                    <a:pt x="1236" y="9969"/>
                  </a:cubicBezTo>
                  <a:cubicBezTo>
                    <a:pt x="1246" y="10123"/>
                    <a:pt x="1267" y="10152"/>
                    <a:pt x="753" y="10283"/>
                  </a:cubicBezTo>
                  <a:cubicBezTo>
                    <a:pt x="163" y="10431"/>
                    <a:pt x="605" y="10736"/>
                    <a:pt x="1512" y="10736"/>
                  </a:cubicBezTo>
                  <a:cubicBezTo>
                    <a:pt x="1523" y="10736"/>
                    <a:pt x="1534" y="10736"/>
                    <a:pt x="1545" y="10736"/>
                  </a:cubicBezTo>
                  <a:cubicBezTo>
                    <a:pt x="2420" y="10728"/>
                    <a:pt x="2810" y="6561"/>
                    <a:pt x="2895" y="4355"/>
                  </a:cubicBezTo>
                  <a:cubicBezTo>
                    <a:pt x="2918" y="3826"/>
                    <a:pt x="2762" y="2393"/>
                    <a:pt x="2899" y="888"/>
                  </a:cubicBezTo>
                  <a:lnTo>
                    <a:pt x="2899" y="888"/>
                  </a:lnTo>
                  <a:cubicBezTo>
                    <a:pt x="2089" y="360"/>
                    <a:pt x="1308" y="0"/>
                    <a:pt x="768" y="0"/>
                  </a:cubicBezTo>
                  <a:close/>
                  <a:moveTo>
                    <a:pt x="3056" y="993"/>
                  </a:moveTo>
                  <a:cubicBezTo>
                    <a:pt x="3085" y="1413"/>
                    <a:pt x="3120" y="1859"/>
                    <a:pt x="3163" y="2330"/>
                  </a:cubicBezTo>
                  <a:cubicBezTo>
                    <a:pt x="3386" y="4743"/>
                    <a:pt x="6012" y="7907"/>
                    <a:pt x="6210" y="9936"/>
                  </a:cubicBezTo>
                  <a:cubicBezTo>
                    <a:pt x="6225" y="10094"/>
                    <a:pt x="6206" y="10153"/>
                    <a:pt x="5744" y="10310"/>
                  </a:cubicBezTo>
                  <a:cubicBezTo>
                    <a:pt x="5301" y="10460"/>
                    <a:pt x="5700" y="10736"/>
                    <a:pt x="6443" y="10736"/>
                  </a:cubicBezTo>
                  <a:cubicBezTo>
                    <a:pt x="6471" y="10736"/>
                    <a:pt x="6500" y="10736"/>
                    <a:pt x="6530" y="10735"/>
                  </a:cubicBezTo>
                  <a:cubicBezTo>
                    <a:pt x="7330" y="10713"/>
                    <a:pt x="6841" y="6512"/>
                    <a:pt x="6425" y="4543"/>
                  </a:cubicBezTo>
                  <a:cubicBezTo>
                    <a:pt x="6244" y="3688"/>
                    <a:pt x="4621" y="2051"/>
                    <a:pt x="3056" y="993"/>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7">
              <a:extLst>
                <a:ext uri="{FF2B5EF4-FFF2-40B4-BE49-F238E27FC236}">
                  <a16:creationId xmlns:a16="http://schemas.microsoft.com/office/drawing/2014/main" id="{FE766915-FC8E-C1A5-CF7F-8AC16BEA39D6}"/>
                </a:ext>
              </a:extLst>
            </p:cNvPr>
            <p:cNvSpPr/>
            <p:nvPr/>
          </p:nvSpPr>
          <p:spPr>
            <a:xfrm>
              <a:off x="7279279" y="2919229"/>
              <a:ext cx="330395" cy="585785"/>
            </a:xfrm>
            <a:custGeom>
              <a:avLst/>
              <a:gdLst/>
              <a:ahLst/>
              <a:cxnLst/>
              <a:rect l="l" t="t" r="r" b="b"/>
              <a:pathLst>
                <a:path w="7506" h="13308" extrusionOk="0">
                  <a:moveTo>
                    <a:pt x="1233" y="1"/>
                  </a:moveTo>
                  <a:cubicBezTo>
                    <a:pt x="867" y="851"/>
                    <a:pt x="409" y="2665"/>
                    <a:pt x="207" y="4904"/>
                  </a:cubicBezTo>
                  <a:cubicBezTo>
                    <a:pt x="0" y="7232"/>
                    <a:pt x="1364" y="12828"/>
                    <a:pt x="1391" y="13064"/>
                  </a:cubicBezTo>
                  <a:cubicBezTo>
                    <a:pt x="1609" y="13243"/>
                    <a:pt x="1862" y="13307"/>
                    <a:pt x="2102" y="13307"/>
                  </a:cubicBezTo>
                  <a:cubicBezTo>
                    <a:pt x="2446" y="13307"/>
                    <a:pt x="2762" y="13175"/>
                    <a:pt x="2906" y="13064"/>
                  </a:cubicBezTo>
                  <a:cubicBezTo>
                    <a:pt x="3636" y="9393"/>
                    <a:pt x="3219" y="5649"/>
                    <a:pt x="3345" y="4886"/>
                  </a:cubicBezTo>
                  <a:lnTo>
                    <a:pt x="3345" y="4886"/>
                  </a:lnTo>
                  <a:cubicBezTo>
                    <a:pt x="3381" y="5547"/>
                    <a:pt x="2993" y="7803"/>
                    <a:pt x="6370" y="13064"/>
                  </a:cubicBezTo>
                  <a:cubicBezTo>
                    <a:pt x="6573" y="13064"/>
                    <a:pt x="6805" y="13004"/>
                    <a:pt x="7505" y="12724"/>
                  </a:cubicBezTo>
                  <a:cubicBezTo>
                    <a:pt x="7344" y="11546"/>
                    <a:pt x="5974" y="2971"/>
                    <a:pt x="5740" y="683"/>
                  </a:cubicBezTo>
                  <a:cubicBezTo>
                    <a:pt x="5350" y="774"/>
                    <a:pt x="4722" y="905"/>
                    <a:pt x="4005" y="905"/>
                  </a:cubicBezTo>
                  <a:cubicBezTo>
                    <a:pt x="3125" y="905"/>
                    <a:pt x="2110" y="708"/>
                    <a:pt x="12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7">
              <a:extLst>
                <a:ext uri="{FF2B5EF4-FFF2-40B4-BE49-F238E27FC236}">
                  <a16:creationId xmlns:a16="http://schemas.microsoft.com/office/drawing/2014/main" id="{0A33DCB6-3DAF-5784-894C-05D23AEC7080}"/>
                </a:ext>
              </a:extLst>
            </p:cNvPr>
            <p:cNvSpPr/>
            <p:nvPr/>
          </p:nvSpPr>
          <p:spPr>
            <a:xfrm>
              <a:off x="7299659" y="3542349"/>
              <a:ext cx="84734" cy="24738"/>
            </a:xfrm>
            <a:custGeom>
              <a:avLst/>
              <a:gdLst/>
              <a:ahLst/>
              <a:cxnLst/>
              <a:rect l="l" t="t" r="r" b="b"/>
              <a:pathLst>
                <a:path w="1925" h="562" extrusionOk="0">
                  <a:moveTo>
                    <a:pt x="785" y="1"/>
                  </a:moveTo>
                  <a:cubicBezTo>
                    <a:pt x="785" y="1"/>
                    <a:pt x="0" y="129"/>
                    <a:pt x="491" y="359"/>
                  </a:cubicBezTo>
                  <a:cubicBezTo>
                    <a:pt x="717" y="465"/>
                    <a:pt x="1039" y="562"/>
                    <a:pt x="1318" y="562"/>
                  </a:cubicBezTo>
                  <a:cubicBezTo>
                    <a:pt x="1651" y="562"/>
                    <a:pt x="1924" y="425"/>
                    <a:pt x="1909" y="1"/>
                  </a:cubicBezTo>
                  <a:lnTo>
                    <a:pt x="1909" y="1"/>
                  </a:lnTo>
                  <a:cubicBezTo>
                    <a:pt x="1909" y="1"/>
                    <a:pt x="1599" y="149"/>
                    <a:pt x="1266" y="149"/>
                  </a:cubicBezTo>
                  <a:cubicBezTo>
                    <a:pt x="1100" y="149"/>
                    <a:pt x="928" y="112"/>
                    <a:pt x="7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a:extLst>
                <a:ext uri="{FF2B5EF4-FFF2-40B4-BE49-F238E27FC236}">
                  <a16:creationId xmlns:a16="http://schemas.microsoft.com/office/drawing/2014/main" id="{B49401C6-3456-5627-EE28-F75AE6962944}"/>
                </a:ext>
              </a:extLst>
            </p:cNvPr>
            <p:cNvSpPr/>
            <p:nvPr/>
          </p:nvSpPr>
          <p:spPr>
            <a:xfrm>
              <a:off x="7512311" y="3545695"/>
              <a:ext cx="84778" cy="24738"/>
            </a:xfrm>
            <a:custGeom>
              <a:avLst/>
              <a:gdLst/>
              <a:ahLst/>
              <a:cxnLst/>
              <a:rect l="l" t="t" r="r" b="b"/>
              <a:pathLst>
                <a:path w="1926" h="562" extrusionOk="0">
                  <a:moveTo>
                    <a:pt x="784" y="1"/>
                  </a:moveTo>
                  <a:cubicBezTo>
                    <a:pt x="784" y="1"/>
                    <a:pt x="1" y="130"/>
                    <a:pt x="496" y="359"/>
                  </a:cubicBezTo>
                  <a:cubicBezTo>
                    <a:pt x="721" y="465"/>
                    <a:pt x="1041" y="562"/>
                    <a:pt x="1320" y="562"/>
                  </a:cubicBezTo>
                  <a:cubicBezTo>
                    <a:pt x="1652" y="562"/>
                    <a:pt x="1926" y="424"/>
                    <a:pt x="1910" y="1"/>
                  </a:cubicBezTo>
                  <a:lnTo>
                    <a:pt x="1910" y="1"/>
                  </a:lnTo>
                  <a:cubicBezTo>
                    <a:pt x="1910" y="1"/>
                    <a:pt x="1601" y="149"/>
                    <a:pt x="1267" y="149"/>
                  </a:cubicBezTo>
                  <a:cubicBezTo>
                    <a:pt x="1100" y="149"/>
                    <a:pt x="927" y="112"/>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7">
              <a:extLst>
                <a:ext uri="{FF2B5EF4-FFF2-40B4-BE49-F238E27FC236}">
                  <a16:creationId xmlns:a16="http://schemas.microsoft.com/office/drawing/2014/main" id="{A40A2BF9-92E8-9EBB-9AA7-89ACA26E7ECF}"/>
                </a:ext>
              </a:extLst>
            </p:cNvPr>
            <p:cNvSpPr/>
            <p:nvPr/>
          </p:nvSpPr>
          <p:spPr>
            <a:xfrm>
              <a:off x="7328315" y="2691919"/>
              <a:ext cx="195702" cy="252484"/>
            </a:xfrm>
            <a:custGeom>
              <a:avLst/>
              <a:gdLst/>
              <a:ahLst/>
              <a:cxnLst/>
              <a:rect l="l" t="t" r="r" b="b"/>
              <a:pathLst>
                <a:path w="4446" h="5736" extrusionOk="0">
                  <a:moveTo>
                    <a:pt x="2828" y="0"/>
                  </a:moveTo>
                  <a:cubicBezTo>
                    <a:pt x="2187" y="0"/>
                    <a:pt x="1340" y="439"/>
                    <a:pt x="791" y="1164"/>
                  </a:cubicBezTo>
                  <a:cubicBezTo>
                    <a:pt x="1" y="2209"/>
                    <a:pt x="362" y="2274"/>
                    <a:pt x="470" y="3232"/>
                  </a:cubicBezTo>
                  <a:cubicBezTo>
                    <a:pt x="695" y="5238"/>
                    <a:pt x="194" y="5449"/>
                    <a:pt x="194" y="5449"/>
                  </a:cubicBezTo>
                  <a:lnTo>
                    <a:pt x="4241" y="5735"/>
                  </a:lnTo>
                  <a:cubicBezTo>
                    <a:pt x="3521" y="4387"/>
                    <a:pt x="3976" y="3751"/>
                    <a:pt x="4026" y="3220"/>
                  </a:cubicBezTo>
                  <a:cubicBezTo>
                    <a:pt x="4109" y="2304"/>
                    <a:pt x="4446" y="1653"/>
                    <a:pt x="3563" y="336"/>
                  </a:cubicBezTo>
                  <a:cubicBezTo>
                    <a:pt x="3408" y="106"/>
                    <a:pt x="3142" y="0"/>
                    <a:pt x="28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7">
              <a:extLst>
                <a:ext uri="{FF2B5EF4-FFF2-40B4-BE49-F238E27FC236}">
                  <a16:creationId xmlns:a16="http://schemas.microsoft.com/office/drawing/2014/main" id="{685F577E-3260-F518-118C-BDE11D6B8804}"/>
                </a:ext>
              </a:extLst>
            </p:cNvPr>
            <p:cNvSpPr/>
            <p:nvPr/>
          </p:nvSpPr>
          <p:spPr>
            <a:xfrm>
              <a:off x="7307230" y="2701691"/>
              <a:ext cx="222773" cy="265337"/>
            </a:xfrm>
            <a:custGeom>
              <a:avLst/>
              <a:gdLst/>
              <a:ahLst/>
              <a:cxnLst/>
              <a:rect l="l" t="t" r="r" b="b"/>
              <a:pathLst>
                <a:path w="5061" h="6028" extrusionOk="0">
                  <a:moveTo>
                    <a:pt x="3723" y="1"/>
                  </a:moveTo>
                  <a:cubicBezTo>
                    <a:pt x="3723" y="1"/>
                    <a:pt x="3105" y="51"/>
                    <a:pt x="2552" y="833"/>
                  </a:cubicBezTo>
                  <a:cubicBezTo>
                    <a:pt x="2218" y="1305"/>
                    <a:pt x="1847" y="1426"/>
                    <a:pt x="1553" y="1426"/>
                  </a:cubicBezTo>
                  <a:cubicBezTo>
                    <a:pt x="1244" y="1426"/>
                    <a:pt x="1022" y="1292"/>
                    <a:pt x="1022" y="1292"/>
                  </a:cubicBezTo>
                  <a:cubicBezTo>
                    <a:pt x="1" y="2258"/>
                    <a:pt x="456" y="5292"/>
                    <a:pt x="456" y="5292"/>
                  </a:cubicBezTo>
                  <a:cubicBezTo>
                    <a:pt x="1246" y="5864"/>
                    <a:pt x="2208" y="6027"/>
                    <a:pt x="3048" y="6027"/>
                  </a:cubicBezTo>
                  <a:cubicBezTo>
                    <a:pt x="4161" y="6027"/>
                    <a:pt x="5060" y="5741"/>
                    <a:pt x="5060" y="5741"/>
                  </a:cubicBezTo>
                  <a:lnTo>
                    <a:pt x="4725" y="796"/>
                  </a:lnTo>
                  <a:cubicBezTo>
                    <a:pt x="4725" y="796"/>
                    <a:pt x="4614" y="460"/>
                    <a:pt x="4280" y="195"/>
                  </a:cubicBezTo>
                  <a:cubicBezTo>
                    <a:pt x="4081" y="34"/>
                    <a:pt x="3723" y="1"/>
                    <a:pt x="37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a:extLst>
                <a:ext uri="{FF2B5EF4-FFF2-40B4-BE49-F238E27FC236}">
                  <a16:creationId xmlns:a16="http://schemas.microsoft.com/office/drawing/2014/main" id="{58DD37DA-932A-24B9-968E-D371319B1BFB}"/>
                </a:ext>
              </a:extLst>
            </p:cNvPr>
            <p:cNvSpPr/>
            <p:nvPr/>
          </p:nvSpPr>
          <p:spPr>
            <a:xfrm>
              <a:off x="7362517" y="2717230"/>
              <a:ext cx="171580" cy="250636"/>
            </a:xfrm>
            <a:custGeom>
              <a:avLst/>
              <a:gdLst/>
              <a:ahLst/>
              <a:cxnLst/>
              <a:rect l="l" t="t" r="r" b="b"/>
              <a:pathLst>
                <a:path w="3898" h="5694" extrusionOk="0">
                  <a:moveTo>
                    <a:pt x="2532" y="0"/>
                  </a:moveTo>
                  <a:cubicBezTo>
                    <a:pt x="2532" y="0"/>
                    <a:pt x="1565" y="1260"/>
                    <a:pt x="1762" y="1938"/>
                  </a:cubicBezTo>
                  <a:cubicBezTo>
                    <a:pt x="1945" y="2570"/>
                    <a:pt x="1496" y="3205"/>
                    <a:pt x="829" y="3205"/>
                  </a:cubicBezTo>
                  <a:cubicBezTo>
                    <a:pt x="783" y="3205"/>
                    <a:pt x="736" y="3202"/>
                    <a:pt x="688" y="3195"/>
                  </a:cubicBezTo>
                  <a:cubicBezTo>
                    <a:pt x="629" y="3188"/>
                    <a:pt x="578" y="3185"/>
                    <a:pt x="533" y="3185"/>
                  </a:cubicBezTo>
                  <a:cubicBezTo>
                    <a:pt x="1" y="3185"/>
                    <a:pt x="351" y="3653"/>
                    <a:pt x="1071" y="3673"/>
                  </a:cubicBezTo>
                  <a:cubicBezTo>
                    <a:pt x="1852" y="3695"/>
                    <a:pt x="2433" y="4443"/>
                    <a:pt x="1763" y="4486"/>
                  </a:cubicBezTo>
                  <a:cubicBezTo>
                    <a:pt x="1178" y="4525"/>
                    <a:pt x="242" y="5399"/>
                    <a:pt x="730" y="5485"/>
                  </a:cubicBezTo>
                  <a:cubicBezTo>
                    <a:pt x="1586" y="5638"/>
                    <a:pt x="2208" y="5693"/>
                    <a:pt x="2659" y="5693"/>
                  </a:cubicBezTo>
                  <a:cubicBezTo>
                    <a:pt x="3898" y="5693"/>
                    <a:pt x="3849" y="5272"/>
                    <a:pt x="3849" y="5272"/>
                  </a:cubicBezTo>
                  <a:lnTo>
                    <a:pt x="3469" y="444"/>
                  </a:lnTo>
                  <a:cubicBezTo>
                    <a:pt x="3469" y="444"/>
                    <a:pt x="3463" y="431"/>
                    <a:pt x="3456" y="410"/>
                  </a:cubicBezTo>
                  <a:lnTo>
                    <a:pt x="2532" y="0"/>
                  </a:lnTo>
                  <a:close/>
                </a:path>
              </a:pathLst>
            </a:custGeom>
            <a:solidFill>
              <a:srgbClr val="787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7">
              <a:extLst>
                <a:ext uri="{FF2B5EF4-FFF2-40B4-BE49-F238E27FC236}">
                  <a16:creationId xmlns:a16="http://schemas.microsoft.com/office/drawing/2014/main" id="{E771AB18-64B4-947D-3110-725956A0D114}"/>
                </a:ext>
              </a:extLst>
            </p:cNvPr>
            <p:cNvSpPr/>
            <p:nvPr/>
          </p:nvSpPr>
          <p:spPr>
            <a:xfrm>
              <a:off x="7310400" y="2697818"/>
              <a:ext cx="289943" cy="629142"/>
            </a:xfrm>
            <a:custGeom>
              <a:avLst/>
              <a:gdLst/>
              <a:ahLst/>
              <a:cxnLst/>
              <a:rect l="l" t="t" r="r" b="b"/>
              <a:pathLst>
                <a:path w="6587" h="14293" extrusionOk="0">
                  <a:moveTo>
                    <a:pt x="3753" y="1"/>
                  </a:moveTo>
                  <a:cubicBezTo>
                    <a:pt x="3496" y="1"/>
                    <a:pt x="3142" y="158"/>
                    <a:pt x="2635" y="722"/>
                  </a:cubicBezTo>
                  <a:cubicBezTo>
                    <a:pt x="2412" y="972"/>
                    <a:pt x="2004" y="1513"/>
                    <a:pt x="1547" y="1513"/>
                  </a:cubicBezTo>
                  <a:cubicBezTo>
                    <a:pt x="1539" y="1513"/>
                    <a:pt x="1531" y="1513"/>
                    <a:pt x="1523" y="1512"/>
                  </a:cubicBezTo>
                  <a:cubicBezTo>
                    <a:pt x="1523" y="1512"/>
                    <a:pt x="1" y="10498"/>
                    <a:pt x="1458" y="14174"/>
                  </a:cubicBezTo>
                  <a:cubicBezTo>
                    <a:pt x="1458" y="14174"/>
                    <a:pt x="2268" y="14292"/>
                    <a:pt x="3277" y="14292"/>
                  </a:cubicBezTo>
                  <a:cubicBezTo>
                    <a:pt x="4420" y="14292"/>
                    <a:pt x="5819" y="14140"/>
                    <a:pt x="6586" y="13492"/>
                  </a:cubicBezTo>
                  <a:cubicBezTo>
                    <a:pt x="6586" y="13492"/>
                    <a:pt x="5742" y="1236"/>
                    <a:pt x="4213" y="179"/>
                  </a:cubicBezTo>
                  <a:cubicBezTo>
                    <a:pt x="4105" y="105"/>
                    <a:pt x="3961" y="1"/>
                    <a:pt x="3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7">
              <a:extLst>
                <a:ext uri="{FF2B5EF4-FFF2-40B4-BE49-F238E27FC236}">
                  <a16:creationId xmlns:a16="http://schemas.microsoft.com/office/drawing/2014/main" id="{D26ED55F-24A7-57CF-A540-0BE098EEA57F}"/>
                </a:ext>
              </a:extLst>
            </p:cNvPr>
            <p:cNvSpPr/>
            <p:nvPr/>
          </p:nvSpPr>
          <p:spPr>
            <a:xfrm>
              <a:off x="7279807" y="2696057"/>
              <a:ext cx="146534" cy="594676"/>
            </a:xfrm>
            <a:custGeom>
              <a:avLst/>
              <a:gdLst/>
              <a:ahLst/>
              <a:cxnLst/>
              <a:rect l="l" t="t" r="r" b="b"/>
              <a:pathLst>
                <a:path w="3329" h="13510" extrusionOk="0">
                  <a:moveTo>
                    <a:pt x="3242" y="0"/>
                  </a:moveTo>
                  <a:cubicBezTo>
                    <a:pt x="3085" y="0"/>
                    <a:pt x="2709" y="93"/>
                    <a:pt x="2050" y="770"/>
                  </a:cubicBezTo>
                  <a:cubicBezTo>
                    <a:pt x="1775" y="1052"/>
                    <a:pt x="1733" y="1150"/>
                    <a:pt x="1479" y="1509"/>
                  </a:cubicBezTo>
                  <a:cubicBezTo>
                    <a:pt x="176" y="3777"/>
                    <a:pt x="2" y="13192"/>
                    <a:pt x="0" y="13192"/>
                  </a:cubicBezTo>
                  <a:cubicBezTo>
                    <a:pt x="0" y="13192"/>
                    <a:pt x="0" y="13192"/>
                    <a:pt x="0" y="13192"/>
                  </a:cubicBezTo>
                  <a:lnTo>
                    <a:pt x="0" y="13192"/>
                  </a:lnTo>
                  <a:lnTo>
                    <a:pt x="810" y="13510"/>
                  </a:lnTo>
                  <a:cubicBezTo>
                    <a:pt x="810" y="13510"/>
                    <a:pt x="1158" y="4429"/>
                    <a:pt x="1978" y="1534"/>
                  </a:cubicBezTo>
                  <a:cubicBezTo>
                    <a:pt x="2102" y="1095"/>
                    <a:pt x="2606" y="506"/>
                    <a:pt x="3329" y="14"/>
                  </a:cubicBezTo>
                  <a:cubicBezTo>
                    <a:pt x="3329" y="14"/>
                    <a:pt x="3301" y="0"/>
                    <a:pt x="32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7">
              <a:extLst>
                <a:ext uri="{FF2B5EF4-FFF2-40B4-BE49-F238E27FC236}">
                  <a16:creationId xmlns:a16="http://schemas.microsoft.com/office/drawing/2014/main" id="{2D794B10-FBE9-522C-F8BA-45BBEC3D98AC}"/>
                </a:ext>
              </a:extLst>
            </p:cNvPr>
            <p:cNvSpPr/>
            <p:nvPr/>
          </p:nvSpPr>
          <p:spPr>
            <a:xfrm>
              <a:off x="7411025" y="2612247"/>
              <a:ext cx="74214" cy="105598"/>
            </a:xfrm>
            <a:custGeom>
              <a:avLst/>
              <a:gdLst/>
              <a:ahLst/>
              <a:cxnLst/>
              <a:rect l="l" t="t" r="r" b="b"/>
              <a:pathLst>
                <a:path w="1686" h="2399" extrusionOk="0">
                  <a:moveTo>
                    <a:pt x="1685" y="0"/>
                  </a:moveTo>
                  <a:lnTo>
                    <a:pt x="0" y="998"/>
                  </a:lnTo>
                  <a:cubicBezTo>
                    <a:pt x="294" y="1498"/>
                    <a:pt x="342" y="1744"/>
                    <a:pt x="37" y="2316"/>
                  </a:cubicBezTo>
                  <a:cubicBezTo>
                    <a:pt x="6" y="2374"/>
                    <a:pt x="30" y="2398"/>
                    <a:pt x="90" y="2398"/>
                  </a:cubicBezTo>
                  <a:cubicBezTo>
                    <a:pt x="349" y="2398"/>
                    <a:pt x="1272" y="1942"/>
                    <a:pt x="1214" y="1811"/>
                  </a:cubicBezTo>
                  <a:cubicBezTo>
                    <a:pt x="984" y="1306"/>
                    <a:pt x="1685" y="1"/>
                    <a:pt x="1685"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7">
              <a:extLst>
                <a:ext uri="{FF2B5EF4-FFF2-40B4-BE49-F238E27FC236}">
                  <a16:creationId xmlns:a16="http://schemas.microsoft.com/office/drawing/2014/main" id="{C4FD3489-62D9-E7A9-3612-63EF19975FA4}"/>
                </a:ext>
              </a:extLst>
            </p:cNvPr>
            <p:cNvSpPr/>
            <p:nvPr/>
          </p:nvSpPr>
          <p:spPr>
            <a:xfrm>
              <a:off x="7387035" y="2563871"/>
              <a:ext cx="114490" cy="130996"/>
            </a:xfrm>
            <a:custGeom>
              <a:avLst/>
              <a:gdLst/>
              <a:ahLst/>
              <a:cxnLst/>
              <a:rect l="l" t="t" r="r" b="b"/>
              <a:pathLst>
                <a:path w="2601" h="2976" extrusionOk="0">
                  <a:moveTo>
                    <a:pt x="1540" y="1"/>
                  </a:moveTo>
                  <a:cubicBezTo>
                    <a:pt x="1388" y="1"/>
                    <a:pt x="1225" y="54"/>
                    <a:pt x="1063" y="191"/>
                  </a:cubicBezTo>
                  <a:cubicBezTo>
                    <a:pt x="597" y="589"/>
                    <a:pt x="0" y="2413"/>
                    <a:pt x="440" y="2843"/>
                  </a:cubicBezTo>
                  <a:cubicBezTo>
                    <a:pt x="510" y="2912"/>
                    <a:pt x="668" y="2976"/>
                    <a:pt x="869" y="2976"/>
                  </a:cubicBezTo>
                  <a:cubicBezTo>
                    <a:pt x="1218" y="2976"/>
                    <a:pt x="1696" y="2783"/>
                    <a:pt x="2057" y="2090"/>
                  </a:cubicBezTo>
                  <a:cubicBezTo>
                    <a:pt x="2240" y="1735"/>
                    <a:pt x="2600" y="1155"/>
                    <a:pt x="2305" y="509"/>
                  </a:cubicBezTo>
                  <a:cubicBezTo>
                    <a:pt x="2210" y="303"/>
                    <a:pt x="1904" y="1"/>
                    <a:pt x="1540" y="1"/>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7">
              <a:extLst>
                <a:ext uri="{FF2B5EF4-FFF2-40B4-BE49-F238E27FC236}">
                  <a16:creationId xmlns:a16="http://schemas.microsoft.com/office/drawing/2014/main" id="{38D77548-D301-37E7-CE7C-814A03CB22B4}"/>
                </a:ext>
              </a:extLst>
            </p:cNvPr>
            <p:cNvSpPr/>
            <p:nvPr/>
          </p:nvSpPr>
          <p:spPr>
            <a:xfrm>
              <a:off x="7415603" y="2550401"/>
              <a:ext cx="100888" cy="104938"/>
            </a:xfrm>
            <a:custGeom>
              <a:avLst/>
              <a:gdLst/>
              <a:ahLst/>
              <a:cxnLst/>
              <a:rect l="l" t="t" r="r" b="b"/>
              <a:pathLst>
                <a:path w="2292" h="2384" extrusionOk="0">
                  <a:moveTo>
                    <a:pt x="916" y="1"/>
                  </a:moveTo>
                  <a:cubicBezTo>
                    <a:pt x="526" y="1"/>
                    <a:pt x="163" y="191"/>
                    <a:pt x="75" y="557"/>
                  </a:cubicBezTo>
                  <a:cubicBezTo>
                    <a:pt x="20" y="788"/>
                    <a:pt x="1" y="928"/>
                    <a:pt x="463" y="928"/>
                  </a:cubicBezTo>
                  <a:cubicBezTo>
                    <a:pt x="496" y="928"/>
                    <a:pt x="531" y="928"/>
                    <a:pt x="569" y="926"/>
                  </a:cubicBezTo>
                  <a:cubicBezTo>
                    <a:pt x="588" y="926"/>
                    <a:pt x="606" y="925"/>
                    <a:pt x="624" y="925"/>
                  </a:cubicBezTo>
                  <a:cubicBezTo>
                    <a:pt x="1262" y="925"/>
                    <a:pt x="1121" y="1385"/>
                    <a:pt x="1042" y="1545"/>
                  </a:cubicBezTo>
                  <a:cubicBezTo>
                    <a:pt x="805" y="2021"/>
                    <a:pt x="1660" y="1583"/>
                    <a:pt x="1370" y="2154"/>
                  </a:cubicBezTo>
                  <a:cubicBezTo>
                    <a:pt x="1284" y="2323"/>
                    <a:pt x="1295" y="2384"/>
                    <a:pt x="1355" y="2384"/>
                  </a:cubicBezTo>
                  <a:cubicBezTo>
                    <a:pt x="1497" y="2384"/>
                    <a:pt x="1915" y="2039"/>
                    <a:pt x="1963" y="1979"/>
                  </a:cubicBezTo>
                  <a:cubicBezTo>
                    <a:pt x="2036" y="1897"/>
                    <a:pt x="2292" y="1527"/>
                    <a:pt x="1950" y="660"/>
                  </a:cubicBezTo>
                  <a:cubicBezTo>
                    <a:pt x="1774" y="215"/>
                    <a:pt x="1330" y="1"/>
                    <a:pt x="916" y="1"/>
                  </a:cubicBezTo>
                  <a:close/>
                </a:path>
              </a:pathLst>
            </a:custGeom>
            <a:solidFill>
              <a:srgbClr val="353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a:extLst>
                <a:ext uri="{FF2B5EF4-FFF2-40B4-BE49-F238E27FC236}">
                  <a16:creationId xmlns:a16="http://schemas.microsoft.com/office/drawing/2014/main" id="{FC7FD903-D037-729B-9871-968131CD09AD}"/>
                </a:ext>
              </a:extLst>
            </p:cNvPr>
            <p:cNvSpPr/>
            <p:nvPr/>
          </p:nvSpPr>
          <p:spPr>
            <a:xfrm>
              <a:off x="6430786" y="2185887"/>
              <a:ext cx="1098501" cy="852619"/>
            </a:xfrm>
            <a:custGeom>
              <a:avLst/>
              <a:gdLst/>
              <a:ahLst/>
              <a:cxnLst/>
              <a:rect l="l" t="t" r="r" b="b"/>
              <a:pathLst>
                <a:path w="24956" h="19370" extrusionOk="0">
                  <a:moveTo>
                    <a:pt x="8758" y="1898"/>
                  </a:moveTo>
                  <a:cubicBezTo>
                    <a:pt x="9175" y="1898"/>
                    <a:pt x="9598" y="1941"/>
                    <a:pt x="10023" y="2030"/>
                  </a:cubicBezTo>
                  <a:cubicBezTo>
                    <a:pt x="13335" y="2724"/>
                    <a:pt x="15456" y="5974"/>
                    <a:pt x="14760" y="9285"/>
                  </a:cubicBezTo>
                  <a:cubicBezTo>
                    <a:pt x="14154" y="12172"/>
                    <a:pt x="11607" y="14154"/>
                    <a:pt x="8770" y="14154"/>
                  </a:cubicBezTo>
                  <a:cubicBezTo>
                    <a:pt x="8353" y="14154"/>
                    <a:pt x="7929" y="14111"/>
                    <a:pt x="7505" y="14022"/>
                  </a:cubicBezTo>
                  <a:cubicBezTo>
                    <a:pt x="4194" y="13326"/>
                    <a:pt x="2074" y="10077"/>
                    <a:pt x="2770" y="6766"/>
                  </a:cubicBezTo>
                  <a:cubicBezTo>
                    <a:pt x="3375" y="3879"/>
                    <a:pt x="5921" y="1898"/>
                    <a:pt x="8758" y="1898"/>
                  </a:cubicBezTo>
                  <a:close/>
                  <a:moveTo>
                    <a:pt x="8758" y="1"/>
                  </a:moveTo>
                  <a:cubicBezTo>
                    <a:pt x="5043" y="1"/>
                    <a:pt x="1706" y="2595"/>
                    <a:pt x="911" y="6376"/>
                  </a:cubicBezTo>
                  <a:cubicBezTo>
                    <a:pt x="0" y="10711"/>
                    <a:pt x="2778" y="14965"/>
                    <a:pt x="7112" y="15877"/>
                  </a:cubicBezTo>
                  <a:cubicBezTo>
                    <a:pt x="7668" y="15994"/>
                    <a:pt x="8223" y="16050"/>
                    <a:pt x="8770" y="16050"/>
                  </a:cubicBezTo>
                  <a:cubicBezTo>
                    <a:pt x="10918" y="16050"/>
                    <a:pt x="12938" y="15182"/>
                    <a:pt x="14414" y="13719"/>
                  </a:cubicBezTo>
                  <a:cubicBezTo>
                    <a:pt x="14451" y="13751"/>
                    <a:pt x="14489" y="13780"/>
                    <a:pt x="14529" y="13808"/>
                  </a:cubicBezTo>
                  <a:lnTo>
                    <a:pt x="16632" y="15264"/>
                  </a:lnTo>
                  <a:cubicBezTo>
                    <a:pt x="16899" y="15448"/>
                    <a:pt x="17204" y="15537"/>
                    <a:pt x="17506" y="15537"/>
                  </a:cubicBezTo>
                  <a:cubicBezTo>
                    <a:pt x="17647" y="15537"/>
                    <a:pt x="17788" y="15518"/>
                    <a:pt x="17923" y="15479"/>
                  </a:cubicBezTo>
                  <a:lnTo>
                    <a:pt x="23287" y="19195"/>
                  </a:lnTo>
                  <a:cubicBezTo>
                    <a:pt x="23456" y="19313"/>
                    <a:pt x="23650" y="19370"/>
                    <a:pt x="23843" y="19370"/>
                  </a:cubicBezTo>
                  <a:cubicBezTo>
                    <a:pt x="24152" y="19370"/>
                    <a:pt x="24456" y="19223"/>
                    <a:pt x="24646" y="18950"/>
                  </a:cubicBezTo>
                  <a:cubicBezTo>
                    <a:pt x="24955" y="18505"/>
                    <a:pt x="24846" y="17898"/>
                    <a:pt x="24402" y="17590"/>
                  </a:cubicBezTo>
                  <a:lnTo>
                    <a:pt x="19038" y="13874"/>
                  </a:lnTo>
                  <a:cubicBezTo>
                    <a:pt x="19001" y="13434"/>
                    <a:pt x="18775" y="13013"/>
                    <a:pt x="18383" y="12742"/>
                  </a:cubicBezTo>
                  <a:lnTo>
                    <a:pt x="16278" y="11286"/>
                  </a:lnTo>
                  <a:cubicBezTo>
                    <a:pt x="16231" y="11254"/>
                    <a:pt x="16184" y="11224"/>
                    <a:pt x="16134" y="11199"/>
                  </a:cubicBezTo>
                  <a:cubicBezTo>
                    <a:pt x="16342" y="10717"/>
                    <a:pt x="16503" y="10209"/>
                    <a:pt x="16615" y="9676"/>
                  </a:cubicBezTo>
                  <a:cubicBezTo>
                    <a:pt x="17526" y="5339"/>
                    <a:pt x="14748" y="1086"/>
                    <a:pt x="10411" y="173"/>
                  </a:cubicBezTo>
                  <a:cubicBezTo>
                    <a:pt x="9856" y="56"/>
                    <a:pt x="9303" y="1"/>
                    <a:pt x="87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7">
              <a:extLst>
                <a:ext uri="{FF2B5EF4-FFF2-40B4-BE49-F238E27FC236}">
                  <a16:creationId xmlns:a16="http://schemas.microsoft.com/office/drawing/2014/main" id="{3A77BD70-513E-E8F4-F91E-1CC98A98467A}"/>
                </a:ext>
              </a:extLst>
            </p:cNvPr>
            <p:cNvSpPr/>
            <p:nvPr/>
          </p:nvSpPr>
          <p:spPr>
            <a:xfrm>
              <a:off x="7257754" y="2709571"/>
              <a:ext cx="265866" cy="219471"/>
            </a:xfrm>
            <a:custGeom>
              <a:avLst/>
              <a:gdLst/>
              <a:ahLst/>
              <a:cxnLst/>
              <a:rect l="l" t="t" r="r" b="b"/>
              <a:pathLst>
                <a:path w="6040" h="4986" extrusionOk="0">
                  <a:moveTo>
                    <a:pt x="4928" y="0"/>
                  </a:moveTo>
                  <a:cubicBezTo>
                    <a:pt x="4784" y="0"/>
                    <a:pt x="4552" y="66"/>
                    <a:pt x="4334" y="416"/>
                  </a:cubicBezTo>
                  <a:cubicBezTo>
                    <a:pt x="3928" y="1071"/>
                    <a:pt x="4128" y="2919"/>
                    <a:pt x="3304" y="3621"/>
                  </a:cubicBezTo>
                  <a:cubicBezTo>
                    <a:pt x="2850" y="4007"/>
                    <a:pt x="2429" y="4111"/>
                    <a:pt x="2058" y="4111"/>
                  </a:cubicBezTo>
                  <a:cubicBezTo>
                    <a:pt x="1754" y="4111"/>
                    <a:pt x="1483" y="4040"/>
                    <a:pt x="1256" y="3998"/>
                  </a:cubicBezTo>
                  <a:cubicBezTo>
                    <a:pt x="754" y="3901"/>
                    <a:pt x="596" y="3640"/>
                    <a:pt x="298" y="3617"/>
                  </a:cubicBezTo>
                  <a:cubicBezTo>
                    <a:pt x="288" y="3616"/>
                    <a:pt x="278" y="3616"/>
                    <a:pt x="269" y="3616"/>
                  </a:cubicBezTo>
                  <a:cubicBezTo>
                    <a:pt x="1" y="3616"/>
                    <a:pt x="17" y="3941"/>
                    <a:pt x="760" y="4264"/>
                  </a:cubicBezTo>
                  <a:cubicBezTo>
                    <a:pt x="1040" y="4386"/>
                    <a:pt x="2094" y="4985"/>
                    <a:pt x="3088" y="4985"/>
                  </a:cubicBezTo>
                  <a:cubicBezTo>
                    <a:pt x="3409" y="4985"/>
                    <a:pt x="3723" y="4923"/>
                    <a:pt x="4003" y="4762"/>
                  </a:cubicBezTo>
                  <a:cubicBezTo>
                    <a:pt x="5507" y="3896"/>
                    <a:pt x="6039" y="352"/>
                    <a:pt x="5070" y="24"/>
                  </a:cubicBezTo>
                  <a:cubicBezTo>
                    <a:pt x="5070" y="24"/>
                    <a:pt x="5015" y="0"/>
                    <a:pt x="49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7">
              <a:extLst>
                <a:ext uri="{FF2B5EF4-FFF2-40B4-BE49-F238E27FC236}">
                  <a16:creationId xmlns:a16="http://schemas.microsoft.com/office/drawing/2014/main" id="{66702775-4A08-E913-7B44-B32BA8877FF4}"/>
                </a:ext>
              </a:extLst>
            </p:cNvPr>
            <p:cNvSpPr/>
            <p:nvPr/>
          </p:nvSpPr>
          <p:spPr>
            <a:xfrm>
              <a:off x="7426167" y="2707326"/>
              <a:ext cx="94241" cy="106654"/>
            </a:xfrm>
            <a:custGeom>
              <a:avLst/>
              <a:gdLst/>
              <a:ahLst/>
              <a:cxnLst/>
              <a:rect l="l" t="t" r="r" b="b"/>
              <a:pathLst>
                <a:path w="2141" h="2423" extrusionOk="0">
                  <a:moveTo>
                    <a:pt x="1087" y="0"/>
                  </a:moveTo>
                  <a:cubicBezTo>
                    <a:pt x="1" y="56"/>
                    <a:pt x="108" y="2277"/>
                    <a:pt x="108" y="2277"/>
                  </a:cubicBezTo>
                  <a:cubicBezTo>
                    <a:pt x="432" y="2392"/>
                    <a:pt x="789" y="2423"/>
                    <a:pt x="1079" y="2423"/>
                  </a:cubicBezTo>
                  <a:cubicBezTo>
                    <a:pt x="1415" y="2423"/>
                    <a:pt x="1660" y="2381"/>
                    <a:pt x="1660" y="2381"/>
                  </a:cubicBezTo>
                  <a:cubicBezTo>
                    <a:pt x="2141" y="38"/>
                    <a:pt x="1087" y="0"/>
                    <a:pt x="10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47761555"/>
      </p:ext>
    </p:extLst>
  </p:cSld>
  <p:clrMapOvr>
    <a:masterClrMapping/>
  </p:clrMapOvr>
</p:sld>
</file>

<file path=ppt/theme/theme1.xml><?xml version="1.0" encoding="utf-8"?>
<a:theme xmlns:a="http://schemas.openxmlformats.org/drawingml/2006/main" name="Pulmonology Techniques Breakthrough by Slidesgo">
  <a:themeElements>
    <a:clrScheme name="Simple Light">
      <a:dk1>
        <a:srgbClr val="3B406B"/>
      </a:dk1>
      <a:lt1>
        <a:srgbClr val="C9D6F2"/>
      </a:lt1>
      <a:dk2>
        <a:srgbClr val="ACBFE2"/>
      </a:dk2>
      <a:lt2>
        <a:srgbClr val="7585F8"/>
      </a:lt2>
      <a:accent1>
        <a:srgbClr val="E7809B"/>
      </a:accent1>
      <a:accent2>
        <a:srgbClr val="F5A4B7"/>
      </a:accent2>
      <a:accent3>
        <a:srgbClr val="FFE6E6"/>
      </a:accent3>
      <a:accent4>
        <a:srgbClr val="FFFFFF"/>
      </a:accent4>
      <a:accent5>
        <a:srgbClr val="FFFFFF"/>
      </a:accent5>
      <a:accent6>
        <a:srgbClr val="FFFFFF"/>
      </a:accent6>
      <a:hlink>
        <a:srgbClr val="3B406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1040</Words>
  <Application>Microsoft Office PowerPoint</Application>
  <PresentationFormat>On-screen Show (16:9)</PresentationFormat>
  <Paragraphs>78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Catamaran</vt:lpstr>
      <vt:lpstr>Raleway</vt:lpstr>
      <vt:lpstr>Lexend</vt:lpstr>
      <vt:lpstr>Lexend Light</vt:lpstr>
      <vt:lpstr>Arial</vt:lpstr>
      <vt:lpstr>Pulmonology Techniques Breakthrough by Slidesgo</vt:lpstr>
      <vt:lpstr>PHÁT HIỆN ẢNH Y KHOA BẤT THƯỜNG DỰA TRÊN ỨNG DỤNG MÔ HÌNH LENET CẢI TIẾN</vt:lpstr>
      <vt:lpstr>Mục lục</vt:lpstr>
      <vt:lpstr>Lý do chọn đề tài</vt:lpstr>
      <vt:lpstr>Các hướng tiếp cận</vt:lpstr>
      <vt:lpstr>Các hướng tiếp cận</vt:lpstr>
      <vt:lpstr>Dữ liệu</vt:lpstr>
      <vt:lpstr>So sánh và đánh giá</vt:lpstr>
      <vt:lpstr>So sánh và đánh giá</vt:lpstr>
      <vt:lpstr>So sánh và đánh giá</vt:lpstr>
      <vt:lpstr>Kết quả thử nghiệm</vt:lpstr>
      <vt:lpstr>Kết luận và hướng phát triển</vt:lpstr>
      <vt:lpstr>Kết luận và hướng phát triển</vt:lpstr>
      <vt:lpstr>CẢM ƠN THẦY CÔ ĐÃ XEM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Truong Nguyen To Nguyen</cp:lastModifiedBy>
  <cp:revision>3</cp:revision>
  <dcterms:modified xsi:type="dcterms:W3CDTF">2025-12-29T00:51:32Z</dcterms:modified>
</cp:coreProperties>
</file>